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1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cat>
            <c:strRef>
              <c:f>Feuil1!$A$2:$A$5</c:f>
              <c:strCache>
                <c:ptCount val="4"/>
                <c:pt idx="0">
                  <c:v>1er trim.</c:v>
                </c:pt>
                <c:pt idx="1">
                  <c:v>2e trim.</c:v>
                </c:pt>
                <c:pt idx="2">
                  <c:v>3e trim.</c:v>
                </c:pt>
                <c:pt idx="3">
                  <c:v>4e trim.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CE-42F5-ADEC-E24DF9182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775521" y="2195742"/>
            <a:ext cx="9696812" cy="1881331"/>
          </a:xfrm>
        </p:spPr>
        <p:txBody>
          <a:bodyPr anchor="b"/>
          <a:lstStyle>
            <a:lvl1pPr algn="r">
              <a:defRPr sz="3000" u="sng" baseline="0">
                <a:solidFill>
                  <a:schemeClr val="accent4"/>
                </a:solidFill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74855" y="4897624"/>
            <a:ext cx="9663115" cy="936104"/>
          </a:xfrm>
        </p:spPr>
        <p:txBody>
          <a:bodyPr/>
          <a:lstStyle>
            <a:lvl1pPr marL="0" indent="0" algn="r">
              <a:buNone/>
              <a:defRPr sz="1800" b="0" cap="none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524" y="512846"/>
            <a:ext cx="2296293" cy="97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747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r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5521" y="3428999"/>
            <a:ext cx="9696812" cy="1296145"/>
          </a:xfrm>
        </p:spPr>
        <p:txBody>
          <a:bodyPr anchor="b"/>
          <a:lstStyle>
            <a:lvl1pPr algn="r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chemeClr val="tx2"/>
                </a:solidFill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75521" y="4869160"/>
            <a:ext cx="9696812" cy="1368128"/>
          </a:xfrm>
        </p:spPr>
        <p:txBody>
          <a:bodyPr anchor="t"/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600" b="0" cap="none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 smtClean="0"/>
              <a:t>Modifiez les styles du texte du masque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1774686" y="2798506"/>
            <a:ext cx="9697649" cy="486478"/>
          </a:xfrm>
        </p:spPr>
        <p:txBody>
          <a:bodyPr anchor="b"/>
          <a:lstStyle>
            <a:lvl1pPr marL="0" algn="r">
              <a:lnSpc>
                <a:spcPct val="100000"/>
              </a:lnSpc>
              <a:spcBef>
                <a:spcPts val="0"/>
              </a:spcBef>
              <a:buFontTx/>
              <a:buNone/>
              <a:defRPr sz="3000" u="sng">
                <a:solidFill>
                  <a:schemeClr val="accent4"/>
                </a:solidFill>
              </a:defRPr>
            </a:lvl1pPr>
            <a:lvl2pPr marL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 smtClean="0"/>
              <a:t>Partie #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589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412777"/>
            <a:ext cx="10081120" cy="4824535"/>
          </a:xfrm>
        </p:spPr>
        <p:txBody>
          <a:bodyPr/>
          <a:lstStyle>
            <a:lvl2pPr>
              <a:defRPr>
                <a:solidFill>
                  <a:srgbClr val="373739"/>
                </a:solidFill>
              </a:defRPr>
            </a:lvl2pPr>
            <a:lvl3pPr>
              <a:defRPr>
                <a:solidFill>
                  <a:srgbClr val="373739"/>
                </a:solidFill>
              </a:defRPr>
            </a:lvl3pPr>
            <a:lvl5pPr>
              <a:defRPr>
                <a:solidFill>
                  <a:srgbClr val="373739"/>
                </a:solidFill>
              </a:defRPr>
            </a:lvl5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54621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llustr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defRPr/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2"/>
          </p:nvPr>
        </p:nvSpPr>
        <p:spPr>
          <a:xfrm>
            <a:off x="719403" y="1340768"/>
            <a:ext cx="9217024" cy="4824512"/>
          </a:xfrm>
        </p:spPr>
        <p:txBody>
          <a:bodyPr/>
          <a:lstStyle>
            <a:lvl1pPr>
              <a:defRPr b="1" u="none"/>
            </a:lvl1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7402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3437" y="2276873"/>
            <a:ext cx="10066867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48334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16780" y="404665"/>
            <a:ext cx="5298409" cy="5956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459" y="404665"/>
            <a:ext cx="1440157" cy="60956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12323829" y="6047016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1896262" y="599145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sz="1800" dirty="0"/>
          </a:p>
        </p:txBody>
      </p:sp>
      <p:sp>
        <p:nvSpPr>
          <p:cNvPr id="42" name="ZoneTexte 41"/>
          <p:cNvSpPr txBox="1"/>
          <p:nvPr userDrawn="1"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685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graphicFrame>
        <p:nvGraphicFramePr>
          <p:cNvPr id="4" name="Graphique 3"/>
          <p:cNvGraphicFramePr/>
          <p:nvPr userDrawn="1">
            <p:extLst/>
          </p:nvPr>
        </p:nvGraphicFramePr>
        <p:xfrm>
          <a:off x="2063552" y="1844824"/>
          <a:ext cx="8128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4295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8C114-E9C9-49D6-B64D-4749392C7621}" type="datetimeFigureOut">
              <a:rPr lang="fr-FR" smtClean="0"/>
              <a:t>07/10/2024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DC3D4-A349-433C-82F3-B2674113617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89236"/>
            <a:ext cx="11856640" cy="9355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9667" y="188640"/>
            <a:ext cx="9120749" cy="936104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 dirty="0" smtClean="0"/>
              <a:t>Titre de la </a:t>
            </a:r>
            <a:r>
              <a:rPr lang="fr-FR" dirty="0" err="1" smtClean="0"/>
              <a:t>Slide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9403" y="1340769"/>
            <a:ext cx="9889100" cy="4896543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11228373" y="6448546"/>
            <a:ext cx="244225" cy="115416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r"/>
            <a:fld id="{19A54D9F-65F7-4BCB-82BD-1E3BBE6FBFA8}" type="slidenum">
              <a:rPr lang="fr-FR" sz="750" b="1" smtClean="0">
                <a:solidFill>
                  <a:schemeClr val="tx1"/>
                </a:solidFill>
              </a:rPr>
              <a:pPr algn="r"/>
              <a:t>‹N°›</a:t>
            </a:fld>
            <a:endParaRPr lang="fr-FR" sz="750" b="1" dirty="0">
              <a:solidFill>
                <a:schemeClr val="tx1"/>
              </a:solidFill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39" y="404728"/>
            <a:ext cx="1360869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2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iming>
    <p:tnLst>
      <p:par>
        <p:cTn id="1" dur="indefinite" restart="never" nodeType="tmRoot"/>
      </p:par>
    </p:tnLst>
  </p:timing>
  <p:hf sldNum="0" hdr="0" dt="0"/>
  <p:txStyles>
    <p:titleStyle>
      <a:lvl1pPr marL="0" indent="0" algn="l" defTabSz="914400" rtl="0" eaLnBrk="1" latinLnBrk="0" hangingPunct="1">
        <a:spcBef>
          <a:spcPct val="0"/>
        </a:spcBef>
        <a:buNone/>
        <a:defRPr sz="20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Tx/>
        <a:buNone/>
        <a:defRPr sz="1800" b="1" kern="1200" cap="all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6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tx2"/>
        </a:buClr>
        <a:buFont typeface="Symbol" panose="05050102010706020507" pitchFamily="18" charset="2"/>
        <a:buChar char="·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" indent="-144000" algn="l" defTabSz="914400" rtl="0" eaLnBrk="1" latinLnBrk="0" hangingPunct="1">
        <a:lnSpc>
          <a:spcPct val="110000"/>
        </a:lnSpc>
        <a:spcBef>
          <a:spcPts val="0"/>
        </a:spcBef>
        <a:buFont typeface="Symbol" panose="05050102010706020507" pitchFamily="18" charset="2"/>
        <a:buChar char="·"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88000" indent="-144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5752"/>
          </a:xfrm>
        </p:spPr>
        <p:txBody>
          <a:bodyPr>
            <a:normAutofit/>
          </a:bodyPr>
          <a:lstStyle/>
          <a:p>
            <a:r>
              <a:rPr lang="fr-FR" sz="2400" dirty="0" smtClean="0"/>
              <a:t>POC Résistance aux ATB</a:t>
            </a:r>
            <a:endParaRPr lang="fr-FR" sz="24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73566" y="1338146"/>
            <a:ext cx="5486400" cy="4838817"/>
          </a:xfrm>
        </p:spPr>
        <p:txBody>
          <a:bodyPr/>
          <a:lstStyle/>
          <a:p>
            <a:r>
              <a:rPr lang="fr-FR" dirty="0" smtClean="0"/>
              <a:t>Consommation d’</a:t>
            </a:r>
            <a:r>
              <a:rPr lang="fr-FR" dirty="0"/>
              <a:t> antibiotiques</a:t>
            </a: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cap="none" dirty="0">
                <a:solidFill>
                  <a:schemeClr val="tx1"/>
                </a:solidFill>
              </a:rPr>
              <a:t>En </a:t>
            </a:r>
            <a:r>
              <a:rPr lang="fr-FR" sz="1600" cap="none" dirty="0" smtClean="0">
                <a:solidFill>
                  <a:schemeClr val="tx1"/>
                </a:solidFill>
              </a:rPr>
              <a:t>ville (SPF)</a:t>
            </a: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Production des indicateurs à partir des données du SNDS</a:t>
            </a: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fr-FR" sz="1400" dirty="0" smtClean="0">
                <a:solidFill>
                  <a:schemeClr val="tx2"/>
                </a:solidFill>
              </a:rPr>
              <a:t>Doses Définies Journalières (DDJ)/1000hab/jour</a:t>
            </a:r>
            <a:endParaRPr lang="fr-FR" sz="1400" dirty="0" smtClean="0">
              <a:solidFill>
                <a:schemeClr val="tx2"/>
              </a:solidFill>
            </a:endParaRPr>
          </a:p>
          <a:p>
            <a:pPr marL="541338" lvl="1" indent="-285750">
              <a:buFont typeface="Arial" panose="020B0604020202020204" pitchFamily="34" charset="0"/>
              <a:buChar char="•"/>
            </a:pPr>
            <a:r>
              <a:rPr lang="fr-FR" sz="1400" b="0" cap="none" dirty="0" smtClean="0">
                <a:solidFill>
                  <a:schemeClr val="tx2"/>
                </a:solidFill>
              </a:rPr>
              <a:t>Prescription/1000hab/an</a:t>
            </a:r>
            <a:r>
              <a:rPr lang="fr-FR" sz="1400" b="0" cap="none" dirty="0" smtClean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cap="none" dirty="0" smtClean="0">
                <a:solidFill>
                  <a:schemeClr val="tx1"/>
                </a:solidFill>
              </a:rPr>
              <a:t>En </a:t>
            </a:r>
            <a:r>
              <a:rPr lang="fr-FR" sz="1600" cap="none" dirty="0" smtClean="0">
                <a:solidFill>
                  <a:schemeClr val="tx1"/>
                </a:solidFill>
              </a:rPr>
              <a:t>établissement de santé (Mission nationale SPARES : Surveillance des consommations d’antibiotiques et des résistances bactériennes en ES)</a:t>
            </a: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fr-FR" sz="1400" b="0" cap="none" dirty="0" smtClean="0">
                <a:solidFill>
                  <a:schemeClr val="tx1"/>
                </a:solidFill>
              </a:rPr>
              <a:t>En 2023, recueil </a:t>
            </a:r>
            <a:r>
              <a:rPr lang="fr-FR" sz="1400" b="0" cap="none" dirty="0">
                <a:solidFill>
                  <a:schemeClr val="tx1"/>
                </a:solidFill>
              </a:rPr>
              <a:t>de données agrégées suite à l’envoi d’un fichier Excel rempli par les établissements volontaires (746 ES ~38% des JH au niveau national en 2023</a:t>
            </a:r>
            <a:r>
              <a:rPr lang="fr-FR" sz="1400" b="0" cap="none" dirty="0" smtClean="0">
                <a:solidFill>
                  <a:schemeClr val="tx1"/>
                </a:solidFill>
              </a:rPr>
              <a:t>) – outil Consores2 en construction</a:t>
            </a:r>
            <a:endParaRPr lang="fr-FR" sz="1400" b="0" cap="none" dirty="0">
              <a:solidFill>
                <a:schemeClr val="tx1"/>
              </a:solidFill>
            </a:endParaRPr>
          </a:p>
          <a:p>
            <a:pPr marL="541338" indent="-285750">
              <a:buFont typeface="Arial" panose="020B0604020202020204" pitchFamily="34" charset="0"/>
              <a:buChar char="•"/>
            </a:pPr>
            <a:r>
              <a:rPr lang="fr-FR" sz="1400" b="0" cap="none" dirty="0" smtClean="0"/>
              <a:t>DDJ/1000JH</a:t>
            </a:r>
            <a:endParaRPr lang="fr-FR" sz="1400" b="0" cap="none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cap="none" dirty="0" smtClean="0">
              <a:solidFill>
                <a:schemeClr val="tx1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fr-FR" sz="1400" b="0" cap="none" dirty="0" smtClean="0">
              <a:solidFill>
                <a:schemeClr val="tx1"/>
              </a:solidFill>
            </a:endParaRPr>
          </a:p>
          <a:p>
            <a:endParaRPr lang="fr-FR" sz="16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338146"/>
            <a:ext cx="5508702" cy="4838817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Résistance aux antibiotiques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cap="none" dirty="0">
                <a:solidFill>
                  <a:schemeClr val="tx1"/>
                </a:solidFill>
              </a:rPr>
              <a:t>En ville et </a:t>
            </a:r>
            <a:r>
              <a:rPr lang="fr-FR" sz="1600" cap="none" dirty="0" smtClean="0">
                <a:solidFill>
                  <a:schemeClr val="tx1"/>
                </a:solidFill>
              </a:rPr>
              <a:t>en </a:t>
            </a:r>
            <a:r>
              <a:rPr lang="fr-FR" sz="1600" cap="none" dirty="0" err="1" smtClean="0">
                <a:solidFill>
                  <a:schemeClr val="tx1"/>
                </a:solidFill>
              </a:rPr>
              <a:t>Ehpad</a:t>
            </a:r>
            <a:r>
              <a:rPr lang="fr-FR" sz="1600" cap="none" dirty="0" smtClean="0">
                <a:solidFill>
                  <a:schemeClr val="tx1"/>
                </a:solidFill>
              </a:rPr>
              <a:t> </a:t>
            </a:r>
            <a:r>
              <a:rPr lang="fr-FR" sz="1600" cap="none" dirty="0">
                <a:solidFill>
                  <a:schemeClr val="tx1"/>
                </a:solidFill>
              </a:rPr>
              <a:t>(Mission PRIMO)</a:t>
            </a:r>
          </a:p>
          <a:p>
            <a:pPr marL="719138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Bactéries concernées: </a:t>
            </a:r>
            <a:r>
              <a:rPr lang="fr-FR" sz="1400" i="1" dirty="0"/>
              <a:t>Escherichia coli, </a:t>
            </a:r>
            <a:r>
              <a:rPr lang="fr-FR" sz="1400" i="1" dirty="0" err="1"/>
              <a:t>Klebsiella</a:t>
            </a:r>
            <a:r>
              <a:rPr lang="fr-FR" sz="1400" i="1" dirty="0"/>
              <a:t> </a:t>
            </a:r>
            <a:r>
              <a:rPr lang="fr-FR" sz="1400" i="1" dirty="0" err="1"/>
              <a:t>pneumoniae</a:t>
            </a:r>
            <a:r>
              <a:rPr lang="fr-FR" sz="1400" i="1" dirty="0"/>
              <a:t>, </a:t>
            </a:r>
            <a:r>
              <a:rPr lang="fr-FR" sz="1400" i="1" dirty="0" err="1"/>
              <a:t>Enterobacter</a:t>
            </a:r>
            <a:r>
              <a:rPr lang="fr-FR" sz="1400" i="1" dirty="0"/>
              <a:t> </a:t>
            </a:r>
            <a:r>
              <a:rPr lang="fr-FR" sz="1400" i="1" dirty="0" err="1"/>
              <a:t>cloacae</a:t>
            </a:r>
            <a:r>
              <a:rPr lang="fr-FR" sz="1400" i="1" dirty="0"/>
              <a:t> </a:t>
            </a:r>
            <a:r>
              <a:rPr lang="fr-FR" sz="1400" i="1" dirty="0" err="1"/>
              <a:t>complex</a:t>
            </a:r>
            <a:r>
              <a:rPr lang="fr-FR" sz="1400" i="1" dirty="0"/>
              <a:t>, Staphylococcus aureus</a:t>
            </a:r>
          </a:p>
          <a:p>
            <a:pPr marL="719138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Antibiogrammes</a:t>
            </a:r>
          </a:p>
          <a:p>
            <a:pPr marL="719138" lvl="1" indent="-285750">
              <a:buFont typeface="Arial" panose="020B0604020202020204" pitchFamily="34" charset="0"/>
              <a:buChar char="•"/>
            </a:pPr>
            <a:r>
              <a:rPr lang="fr-FR" sz="1400" dirty="0"/>
              <a:t>2089 Laboratoires de biologie médicale volontaires (47,5% des LBM en France)</a:t>
            </a:r>
          </a:p>
          <a:p>
            <a:pPr marL="719138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2"/>
                </a:solidFill>
              </a:rPr>
              <a:t>Indicateur en pourcentage de </a:t>
            </a:r>
            <a:r>
              <a:rPr lang="fr-FR" sz="1400" dirty="0" smtClean="0">
                <a:solidFill>
                  <a:schemeClr val="tx2"/>
                </a:solidFill>
              </a:rPr>
              <a:t>résistance</a:t>
            </a:r>
            <a:endParaRPr lang="fr-FR" sz="1600" cap="none" dirty="0" smtClean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cap="none" dirty="0" smtClean="0">
                <a:solidFill>
                  <a:schemeClr val="tx1"/>
                </a:solidFill>
              </a:rPr>
              <a:t>En </a:t>
            </a:r>
            <a:r>
              <a:rPr lang="fr-FR" sz="1600" cap="none" dirty="0">
                <a:solidFill>
                  <a:schemeClr val="tx1"/>
                </a:solidFill>
              </a:rPr>
              <a:t>établissement de </a:t>
            </a:r>
            <a:r>
              <a:rPr lang="fr-FR" sz="1600" cap="none" dirty="0" smtClean="0">
                <a:solidFill>
                  <a:schemeClr val="tx1"/>
                </a:solidFill>
              </a:rPr>
              <a:t>santé (Mission SPARES)</a:t>
            </a:r>
          </a:p>
          <a:p>
            <a:pPr marL="623888" lvl="1" indent="-285750">
              <a:buFont typeface="Arial" panose="020B0604020202020204" pitchFamily="34" charset="0"/>
              <a:buChar char="•"/>
            </a:pPr>
            <a:r>
              <a:rPr lang="fr-FR" sz="1400" b="0" cap="none" dirty="0" smtClean="0">
                <a:solidFill>
                  <a:schemeClr val="tx1"/>
                </a:solidFill>
              </a:rPr>
              <a:t>Bactéries concernées: </a:t>
            </a:r>
            <a:r>
              <a:rPr lang="fr-FR" sz="1400" i="1" dirty="0"/>
              <a:t>Staphylococcus aureus</a:t>
            </a:r>
            <a:r>
              <a:rPr lang="fr-FR" sz="1400" dirty="0"/>
              <a:t>, </a:t>
            </a:r>
            <a:r>
              <a:rPr lang="fr-FR" sz="1400" i="1" dirty="0" err="1"/>
              <a:t>Enterobacterales</a:t>
            </a:r>
            <a:r>
              <a:rPr lang="fr-FR" sz="1400" i="1" dirty="0"/>
              <a:t>, Escherichia coli</a:t>
            </a:r>
            <a:r>
              <a:rPr lang="fr-FR" sz="1400" dirty="0"/>
              <a:t>, </a:t>
            </a:r>
            <a:r>
              <a:rPr lang="fr-FR" sz="1400" i="1" dirty="0" err="1"/>
              <a:t>Klebsiella</a:t>
            </a:r>
            <a:r>
              <a:rPr lang="fr-FR" sz="1400" i="1" dirty="0"/>
              <a:t> </a:t>
            </a:r>
            <a:r>
              <a:rPr lang="fr-FR" sz="1400" i="1" dirty="0" err="1"/>
              <a:t>pneumoniae</a:t>
            </a:r>
            <a:r>
              <a:rPr lang="fr-FR" sz="1400" dirty="0"/>
              <a:t>, </a:t>
            </a:r>
            <a:r>
              <a:rPr lang="fr-FR" sz="1400" i="1" dirty="0" err="1"/>
              <a:t>Enterococcus</a:t>
            </a:r>
            <a:r>
              <a:rPr lang="fr-FR" sz="1400" i="1" dirty="0"/>
              <a:t> </a:t>
            </a:r>
            <a:r>
              <a:rPr lang="fr-FR" sz="1400" i="1" dirty="0" err="1"/>
              <a:t>faecium</a:t>
            </a:r>
            <a:r>
              <a:rPr lang="fr-FR" sz="1400" dirty="0" smtClean="0"/>
              <a:t>.</a:t>
            </a:r>
          </a:p>
          <a:p>
            <a:pPr marL="623888" lvl="1" indent="-285750">
              <a:buFont typeface="Arial" panose="020B0604020202020204" pitchFamily="34" charset="0"/>
              <a:buChar char="•"/>
            </a:pPr>
            <a:r>
              <a:rPr lang="fr-FR" sz="1400" dirty="0" smtClean="0"/>
              <a:t>Hémocultures et antibiogrammes</a:t>
            </a:r>
          </a:p>
          <a:p>
            <a:pPr marL="623888" lvl="1" indent="-285750">
              <a:buFont typeface="Arial" panose="020B0604020202020204" pitchFamily="34" charset="0"/>
              <a:buChar char="•"/>
            </a:pPr>
            <a:r>
              <a:rPr lang="fr-FR" sz="1400" b="0" cap="none" dirty="0" smtClean="0">
                <a:solidFill>
                  <a:schemeClr val="tx1"/>
                </a:solidFill>
              </a:rPr>
              <a:t>551 ES volontaires (33% </a:t>
            </a:r>
            <a:r>
              <a:rPr lang="fr-FR" sz="1400" dirty="0"/>
              <a:t>des JH au niveau national en </a:t>
            </a:r>
            <a:r>
              <a:rPr lang="fr-FR" sz="1400" dirty="0" smtClean="0"/>
              <a:t>2023)</a:t>
            </a:r>
            <a:endParaRPr lang="fr-FR" sz="1400" b="0" cap="none" dirty="0" smtClean="0">
              <a:solidFill>
                <a:schemeClr val="tx1"/>
              </a:solidFill>
            </a:endParaRPr>
          </a:p>
          <a:p>
            <a:pPr marL="623888" lvl="1" indent="-285750">
              <a:buFont typeface="Arial" panose="020B0604020202020204" pitchFamily="34" charset="0"/>
              <a:buChar char="•"/>
            </a:pPr>
            <a:r>
              <a:rPr lang="fr-FR" sz="1400" b="0" cap="none" dirty="0" smtClean="0">
                <a:solidFill>
                  <a:schemeClr val="tx2"/>
                </a:solidFill>
              </a:rPr>
              <a:t>Indicateur en densité d’incidence (souches par 1000JH)</a:t>
            </a:r>
            <a:endParaRPr lang="fr-FR" sz="1400" b="0" cap="none" dirty="0">
              <a:solidFill>
                <a:schemeClr val="tx2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3378834" y="6290121"/>
            <a:ext cx="5435124" cy="492443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à"/>
            </a:pPr>
            <a:r>
              <a:rPr lang="fr-FR" sz="1600" b="1" u="sng" dirty="0" smtClean="0"/>
              <a:t>Production </a:t>
            </a:r>
            <a:r>
              <a:rPr lang="fr-FR" sz="1600" b="1" u="sng" dirty="0" smtClean="0"/>
              <a:t>l’année </a:t>
            </a:r>
            <a:r>
              <a:rPr lang="fr-FR" sz="1600" b="1" u="sng" dirty="0"/>
              <a:t>N des données </a:t>
            </a:r>
            <a:r>
              <a:rPr lang="fr-FR" sz="1600" b="1" u="sng" dirty="0" smtClean="0"/>
              <a:t>de l’année N-1</a:t>
            </a:r>
          </a:p>
          <a:p>
            <a:pPr algn="ctr"/>
            <a:r>
              <a:rPr lang="fr-FR" sz="1600" b="1" dirty="0" smtClean="0"/>
              <a:t> (</a:t>
            </a:r>
            <a:r>
              <a:rPr lang="fr-FR" sz="1600" b="1" dirty="0" err="1" smtClean="0"/>
              <a:t>datamanagées</a:t>
            </a:r>
            <a:r>
              <a:rPr lang="fr-FR" sz="1600" b="1" dirty="0" smtClean="0"/>
              <a:t>, analysées et interprétées)</a:t>
            </a:r>
            <a:endParaRPr lang="fr-FR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799136191"/>
      </p:ext>
    </p:extLst>
  </p:cSld>
  <p:clrMapOvr>
    <a:masterClrMapping/>
  </p:clrMapOvr>
</p:sld>
</file>

<file path=ppt/theme/theme1.xml><?xml version="1.0" encoding="utf-8"?>
<a:theme xmlns:a="http://schemas.openxmlformats.org/drawingml/2006/main" name="SPF_PPT_Test-v3">
  <a:themeElements>
    <a:clrScheme name="SPF PPT_Couleurs">
      <a:dk1>
        <a:srgbClr val="4D4D4F"/>
      </a:dk1>
      <a:lt1>
        <a:sysClr val="window" lastClr="FFFFFF"/>
      </a:lt1>
      <a:dk2>
        <a:srgbClr val="E30056"/>
      </a:dk2>
      <a:lt2>
        <a:srgbClr val="EEECE1"/>
      </a:lt2>
      <a:accent1>
        <a:srgbClr val="E30056"/>
      </a:accent1>
      <a:accent2>
        <a:srgbClr val="3C2782"/>
      </a:accent2>
      <a:accent3>
        <a:srgbClr val="00A5D5"/>
      </a:accent3>
      <a:accent4>
        <a:srgbClr val="004192"/>
      </a:accent4>
      <a:accent5>
        <a:srgbClr val="8D003A"/>
      </a:accent5>
      <a:accent6>
        <a:srgbClr val="4D4D4F"/>
      </a:accent6>
      <a:hlink>
        <a:srgbClr val="E30056"/>
      </a:hlink>
      <a:folHlink>
        <a:srgbClr val="E30056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0" rIns="36000" bIns="0" rtlCol="0">
        <a:spAutoFit/>
      </a:bodyPr>
      <a:lstStyle>
        <a:defPPr>
          <a:defRPr sz="1300" smtClean="0">
            <a:solidFill>
              <a:schemeClr val="accent6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202</Words>
  <Application>Microsoft Office PowerPoint</Application>
  <PresentationFormat>Grand écran</PresentationFormat>
  <Paragraphs>23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Symbol</vt:lpstr>
      <vt:lpstr>Wingdings</vt:lpstr>
      <vt:lpstr>SPF_PPT_Test-v3</vt:lpstr>
      <vt:lpstr>POC Résistance aux ATB</vt:lpstr>
    </vt:vector>
  </TitlesOfParts>
  <Company>ANSP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Résistance aux ATB</dc:title>
  <dc:creator>PAUMIER Adeline</dc:creator>
  <cp:lastModifiedBy>GAMBOTTI Laetitia</cp:lastModifiedBy>
  <cp:revision>10</cp:revision>
  <dcterms:created xsi:type="dcterms:W3CDTF">2024-10-07T12:52:27Z</dcterms:created>
  <dcterms:modified xsi:type="dcterms:W3CDTF">2024-10-07T15:53:08Z</dcterms:modified>
</cp:coreProperties>
</file>