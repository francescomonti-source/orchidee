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4" r:id="rId7"/>
    <p:sldId id="260" r:id="rId8"/>
    <p:sldId id="262" r:id="rId9"/>
    <p:sldId id="263" r:id="rId10"/>
    <p:sldId id="267" r:id="rId11"/>
    <p:sldId id="266" r:id="rId12"/>
    <p:sldId id="265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32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93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597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48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390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04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74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80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731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37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29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7FA6908-EB89-421E-A85A-F2A78CECC6F0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20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ORCHIDEE – GT RATB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Point </a:t>
            </a:r>
            <a:r>
              <a:rPr lang="fr-FR" dirty="0" err="1" smtClean="0"/>
              <a:t>SpF</a:t>
            </a:r>
            <a:r>
              <a:rPr lang="fr-FR" dirty="0" smtClean="0"/>
              <a:t>/CHU Rouen 13/05/2025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365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LIVRAISON EB </a:t>
            </a:r>
            <a:r>
              <a:rPr lang="fr-FR" dirty="0" err="1" smtClean="0"/>
              <a:t>SpF</a:t>
            </a:r>
            <a:r>
              <a:rPr lang="fr-FR" dirty="0" smtClean="0"/>
              <a:t>/SPARES 25/04/2025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6068" y="2250220"/>
            <a:ext cx="10753725" cy="3766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 smtClean="0"/>
              <a:t>OBJECTIFS A COURT TERME =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 algn="ctr">
              <a:buNone/>
            </a:pPr>
            <a:r>
              <a:rPr lang="fr-FR" dirty="0" smtClean="0"/>
              <a:t>REPRODUIRE </a:t>
            </a:r>
            <a:r>
              <a:rPr lang="fr-FR" dirty="0"/>
              <a:t>les indicateurs issus de la surveillance annuelle faite par SPARES de la consommation et la résistance aux </a:t>
            </a:r>
            <a:r>
              <a:rPr lang="fr-FR" dirty="0" smtClean="0"/>
              <a:t>antibiotiques</a:t>
            </a:r>
          </a:p>
          <a:p>
            <a:pPr marL="0" indent="0" algn="ctr">
              <a:buNone/>
            </a:pPr>
            <a:r>
              <a:rPr lang="fr-FR" dirty="0" smtClean="0"/>
              <a:t>+</a:t>
            </a:r>
          </a:p>
          <a:p>
            <a:pPr marL="0" indent="0" algn="ctr">
              <a:buNone/>
            </a:pPr>
            <a:r>
              <a:rPr lang="fr-FR" dirty="0" smtClean="0"/>
              <a:t>Indicateurs de la stratégie nationale de prévention des infections et de la RATB 2022-2025</a:t>
            </a:r>
          </a:p>
        </p:txBody>
      </p:sp>
    </p:spTree>
    <p:extLst>
      <p:ext uri="{BB962C8B-B14F-4D97-AF65-F5344CB8AC3E}">
        <p14:creationId xmlns:p14="http://schemas.microsoft.com/office/powerpoint/2010/main" val="290740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CONSOMMATION - DEFINITION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92558" y="2560321"/>
            <a:ext cx="10753725" cy="2472856"/>
          </a:xfrm>
        </p:spPr>
        <p:txBody>
          <a:bodyPr/>
          <a:lstStyle/>
          <a:p>
            <a:pPr algn="just"/>
            <a:r>
              <a:rPr lang="fr-FR" dirty="0" smtClean="0"/>
              <a:t>Consommation = consommation de tous les antibiotiques et les antifongiques (nouveauté 2025 ?) ainsi que sur les micro-organismes les plus fréquemment isolés en ES, dont les indicateurs de la stratégie nationale de prévention des infections et de la RATB 2022 – 2025</a:t>
            </a:r>
          </a:p>
          <a:p>
            <a:pPr algn="just"/>
            <a:r>
              <a:rPr lang="fr-FR" dirty="0" smtClean="0"/>
              <a:t>Objectif = suivre </a:t>
            </a:r>
            <a:r>
              <a:rPr lang="fr-FR" dirty="0"/>
              <a:t>la consommation globale annuelle et d'évaluer les quantités administrées en fonction de l'activité </a:t>
            </a:r>
            <a:r>
              <a:rPr lang="fr-FR" dirty="0" smtClean="0"/>
              <a:t>hospitalière</a:t>
            </a:r>
          </a:p>
        </p:txBody>
      </p:sp>
    </p:spTree>
    <p:extLst>
      <p:ext uri="{BB962C8B-B14F-4D97-AF65-F5344CB8AC3E}">
        <p14:creationId xmlns:p14="http://schemas.microsoft.com/office/powerpoint/2010/main" val="23855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CONSOMMATION – METHODO SPARES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3325" y="1749288"/>
            <a:ext cx="10518913" cy="4874149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La méthodologie </a:t>
            </a:r>
            <a:r>
              <a:rPr lang="fr-FR" dirty="0" smtClean="0"/>
              <a:t>sur les </a:t>
            </a:r>
            <a:r>
              <a:rPr lang="fr-FR" dirty="0" smtClean="0">
                <a:solidFill>
                  <a:srgbClr val="FF0066"/>
                </a:solidFill>
              </a:rPr>
              <a:t>données de délivrance</a:t>
            </a:r>
            <a:r>
              <a:rPr lang="fr-FR" dirty="0" smtClean="0"/>
              <a:t> utilisée </a:t>
            </a:r>
            <a:r>
              <a:rPr lang="fr-FR" dirty="0"/>
              <a:t>par SPARES devra être </a:t>
            </a:r>
            <a:r>
              <a:rPr lang="fr-FR" dirty="0" smtClean="0"/>
              <a:t>reproduite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pPr algn="just"/>
            <a:endParaRPr lang="fr-FR" dirty="0" smtClean="0"/>
          </a:p>
          <a:p>
            <a:pPr algn="just"/>
            <a:endParaRPr lang="fr-FR" dirty="0"/>
          </a:p>
          <a:p>
            <a:pPr algn="just"/>
            <a:endParaRPr lang="fr-FR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 smtClean="0"/>
              <a:t>En parallèle, le CHU de Rouen mène un travail comparatif vs une méthodologie de calcul basée sur les </a:t>
            </a:r>
            <a:r>
              <a:rPr lang="fr-FR" dirty="0" smtClean="0">
                <a:solidFill>
                  <a:srgbClr val="FF0066"/>
                </a:solidFill>
              </a:rPr>
              <a:t>données d’administration sur 2023 (déclaration manuelle) et 2024 (outil CONSORES)</a:t>
            </a:r>
            <a:endParaRPr lang="fr-FR" dirty="0">
              <a:solidFill>
                <a:srgbClr val="FF0066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953" y="2074503"/>
            <a:ext cx="5686997" cy="307530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524" y="5144494"/>
            <a:ext cx="5654865" cy="4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9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RESISTANCE - DEFINITION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834" y="1944895"/>
            <a:ext cx="10515600" cy="3024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</a:t>
            </a:r>
            <a:r>
              <a:rPr lang="fr-FR" dirty="0" smtClean="0"/>
              <a:t>ouples bactéries/résistance entraînant le plus de </a:t>
            </a:r>
            <a:r>
              <a:rPr lang="fr-FR" dirty="0" err="1" smtClean="0"/>
              <a:t>morbi</a:t>
            </a:r>
            <a:r>
              <a:rPr lang="fr-FR" dirty="0" smtClean="0"/>
              <a:t>-mortalité ou présentant une transmissibilité élevée des mécanismes de résistance 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/>
              <a:t>Staphylococcus aureus</a:t>
            </a:r>
            <a:endParaRPr lang="fr-FR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 err="1"/>
              <a:t>Entérobacterales</a:t>
            </a:r>
            <a:r>
              <a:rPr lang="fr-FR" dirty="0"/>
              <a:t> (</a:t>
            </a:r>
            <a:r>
              <a:rPr lang="fr-FR" i="1" dirty="0"/>
              <a:t>Escherichia coli</a:t>
            </a:r>
            <a:r>
              <a:rPr lang="fr-FR" dirty="0"/>
              <a:t>, </a:t>
            </a:r>
            <a:r>
              <a:rPr lang="fr-FR" i="1" dirty="0" err="1"/>
              <a:t>Klebsiella</a:t>
            </a:r>
            <a:r>
              <a:rPr lang="fr-FR" i="1" dirty="0"/>
              <a:t> </a:t>
            </a:r>
            <a:r>
              <a:rPr lang="fr-FR" i="1" dirty="0" err="1"/>
              <a:t>pneumoniae</a:t>
            </a:r>
            <a:r>
              <a:rPr lang="fr-FR" dirty="0"/>
              <a:t>, </a:t>
            </a:r>
            <a:r>
              <a:rPr lang="fr-FR" i="1" dirty="0" err="1"/>
              <a:t>Enterobacter</a:t>
            </a:r>
            <a:r>
              <a:rPr lang="fr-FR" i="1" dirty="0"/>
              <a:t> </a:t>
            </a:r>
            <a:r>
              <a:rPr lang="fr-FR" i="1" dirty="0" err="1"/>
              <a:t>cloacae</a:t>
            </a:r>
            <a:r>
              <a:rPr lang="fr-FR" i="1" dirty="0"/>
              <a:t>, Autres entérobactéries</a:t>
            </a:r>
            <a:r>
              <a:rPr lang="fr-FR" dirty="0"/>
              <a:t>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 err="1"/>
              <a:t>Enterococcus</a:t>
            </a:r>
            <a:r>
              <a:rPr lang="fr-FR" i="1" dirty="0"/>
              <a:t> </a:t>
            </a:r>
            <a:r>
              <a:rPr lang="fr-FR" i="1" dirty="0" err="1"/>
              <a:t>faecium</a:t>
            </a:r>
            <a:endParaRPr lang="fr-FR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 err="1"/>
              <a:t>Enterococcus</a:t>
            </a:r>
            <a:r>
              <a:rPr lang="fr-FR" i="1" dirty="0"/>
              <a:t> </a:t>
            </a:r>
            <a:r>
              <a:rPr lang="fr-FR" i="1" dirty="0" err="1"/>
              <a:t>faecalis</a:t>
            </a:r>
            <a:endParaRPr lang="fr-FR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 err="1"/>
              <a:t>Acinetobacter</a:t>
            </a:r>
            <a:r>
              <a:rPr lang="fr-FR" i="1" dirty="0"/>
              <a:t> </a:t>
            </a:r>
            <a:r>
              <a:rPr lang="fr-FR" i="1" dirty="0" err="1"/>
              <a:t>baumannii</a:t>
            </a:r>
            <a:r>
              <a:rPr lang="fr-FR" i="1" dirty="0"/>
              <a:t>.</a:t>
            </a:r>
            <a:endParaRPr lang="fr-FR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/>
              <a:t>Pseudomonas </a:t>
            </a:r>
            <a:r>
              <a:rPr lang="fr-FR" i="1" dirty="0" err="1"/>
              <a:t>aeruginosa</a:t>
            </a:r>
            <a:endParaRPr lang="fr-FR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797781" y="5164372"/>
            <a:ext cx="11394219" cy="1260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P</a:t>
            </a:r>
            <a:r>
              <a:rPr lang="fr-FR" sz="2400" dirty="0" smtClean="0"/>
              <a:t>rélèvements à visée diagnostique </a:t>
            </a:r>
          </a:p>
          <a:p>
            <a:pPr lvl="1"/>
            <a:r>
              <a:rPr lang="fr-FR" sz="2000" dirty="0" smtClean="0"/>
              <a:t>exclusion des dépistages</a:t>
            </a:r>
          </a:p>
          <a:p>
            <a:pPr lvl="1"/>
            <a:r>
              <a:rPr lang="fr-FR" sz="2000" dirty="0" smtClean="0"/>
              <a:t>exclusion des doublons (même patient, même espèce bactérienne, même </a:t>
            </a:r>
            <a:r>
              <a:rPr lang="fr-FR" sz="2000" dirty="0" err="1" smtClean="0"/>
              <a:t>antibiotype</a:t>
            </a:r>
            <a:r>
              <a:rPr lang="fr-FR" sz="20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411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659430"/>
              </p:ext>
            </p:extLst>
          </p:nvPr>
        </p:nvGraphicFramePr>
        <p:xfrm>
          <a:off x="326004" y="1226060"/>
          <a:ext cx="5003414" cy="51043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5741">
                  <a:extLst>
                    <a:ext uri="{9D8B030D-6E8A-4147-A177-3AD203B41FA5}">
                      <a16:colId xmlns:a16="http://schemas.microsoft.com/office/drawing/2014/main" val="3178445439"/>
                    </a:ext>
                  </a:extLst>
                </a:gridCol>
                <a:gridCol w="1666378">
                  <a:extLst>
                    <a:ext uri="{9D8B030D-6E8A-4147-A177-3AD203B41FA5}">
                      <a16:colId xmlns:a16="http://schemas.microsoft.com/office/drawing/2014/main" val="1996051374"/>
                    </a:ext>
                  </a:extLst>
                </a:gridCol>
                <a:gridCol w="907036">
                  <a:extLst>
                    <a:ext uri="{9D8B030D-6E8A-4147-A177-3AD203B41FA5}">
                      <a16:colId xmlns:a16="http://schemas.microsoft.com/office/drawing/2014/main" val="3159321712"/>
                    </a:ext>
                  </a:extLst>
                </a:gridCol>
                <a:gridCol w="834259">
                  <a:extLst>
                    <a:ext uri="{9D8B030D-6E8A-4147-A177-3AD203B41FA5}">
                      <a16:colId xmlns:a16="http://schemas.microsoft.com/office/drawing/2014/main" val="2551930028"/>
                    </a:ext>
                  </a:extLst>
                </a:gridCol>
              </a:tblGrid>
              <a:tr h="343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Résistance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Espèce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Nb total de souches testées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Nb de R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55114172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R oxacilline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Staphylococcus aureus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712207124"/>
                  </a:ext>
                </a:extLst>
              </a:tr>
              <a:tr h="5157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R C3G (tous mécanismes)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effectLst/>
                        </a:rPr>
                        <a:t>Résistance : ceftriaxone ou céfotaxime ou ceftazidime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Escherichia coli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err="1">
                          <a:effectLst/>
                        </a:rPr>
                        <a:t>Klebsiella</a:t>
                      </a:r>
                      <a:r>
                        <a:rPr lang="fr-FR" sz="1100" dirty="0">
                          <a:effectLst/>
                        </a:rPr>
                        <a:t> </a:t>
                      </a:r>
                      <a:r>
                        <a:rPr lang="fr-FR" sz="1100" dirty="0" err="1">
                          <a:effectLst/>
                        </a:rPr>
                        <a:t>pneumoniae</a:t>
                      </a:r>
                      <a:endParaRPr lang="fr-FR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err="1">
                          <a:effectLst/>
                        </a:rPr>
                        <a:t>Enterobacter</a:t>
                      </a:r>
                      <a:r>
                        <a:rPr lang="fr-FR" sz="1100" dirty="0">
                          <a:effectLst/>
                        </a:rPr>
                        <a:t> </a:t>
                      </a:r>
                      <a:r>
                        <a:rPr lang="fr-FR" sz="1100" dirty="0" err="1">
                          <a:effectLst/>
                        </a:rPr>
                        <a:t>cloacae</a:t>
                      </a:r>
                      <a:r>
                        <a:rPr lang="fr-FR" sz="1100" dirty="0">
                          <a:effectLst/>
                        </a:rPr>
                        <a:t> </a:t>
                      </a:r>
                      <a:r>
                        <a:rPr lang="fr-FR" sz="1100" dirty="0" err="1">
                          <a:effectLst/>
                        </a:rPr>
                        <a:t>complex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42509825"/>
                  </a:ext>
                </a:extLst>
              </a:tr>
              <a:tr h="8596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Entérobactéries BLSE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Escherichia coli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Klebsiella pneumoniae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Enterobacter cloacae complex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Autres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Hémocultures (optionnel)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615703941"/>
                  </a:ext>
                </a:extLst>
              </a:tr>
              <a:tr h="687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EPC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Total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Escherichia coli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Klebsiella pneumoniae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Enterobacter cloacae complex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563723404"/>
                  </a:ext>
                </a:extLst>
              </a:tr>
              <a:tr h="6407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R Fluoroquinolones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effectLst/>
                        </a:rPr>
                        <a:t>Résistance à au moins 1 FQN parmi : ciprofloxacine, lévofloxacine, ofloxacine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Escherichia coli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88906247"/>
                  </a:ext>
                </a:extLst>
              </a:tr>
              <a:tr h="328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Optionnel : R ceftazidime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effectLst/>
                        </a:rPr>
                        <a:t>Résistance : ceftazidime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Pseudomonas aeruginosa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167387270"/>
                  </a:ext>
                </a:extLst>
              </a:tr>
              <a:tr h="4845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Optionnel : R carbapénèmes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effectLst/>
                        </a:rPr>
                        <a:t>Résistance : imipénème ou méropénème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Acinetobacter baumanii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6106347"/>
                  </a:ext>
                </a:extLst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428647"/>
              </p:ext>
            </p:extLst>
          </p:nvPr>
        </p:nvGraphicFramePr>
        <p:xfrm>
          <a:off x="5462546" y="1227197"/>
          <a:ext cx="5408930" cy="1922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9598">
                  <a:extLst>
                    <a:ext uri="{9D8B030D-6E8A-4147-A177-3AD203B41FA5}">
                      <a16:colId xmlns:a16="http://schemas.microsoft.com/office/drawing/2014/main" val="4254808134"/>
                    </a:ext>
                  </a:extLst>
                </a:gridCol>
                <a:gridCol w="1795301">
                  <a:extLst>
                    <a:ext uri="{9D8B030D-6E8A-4147-A177-3AD203B41FA5}">
                      <a16:colId xmlns:a16="http://schemas.microsoft.com/office/drawing/2014/main" val="647288253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696149510"/>
                    </a:ext>
                  </a:extLst>
                </a:gridCol>
                <a:gridCol w="901007">
                  <a:extLst>
                    <a:ext uri="{9D8B030D-6E8A-4147-A177-3AD203B41FA5}">
                      <a16:colId xmlns:a16="http://schemas.microsoft.com/office/drawing/2014/main" val="663110766"/>
                    </a:ext>
                  </a:extLst>
                </a:gridCol>
              </a:tblGrid>
              <a:tr h="290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>
                          <a:effectLst/>
                        </a:rPr>
                        <a:t>Résistance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 dirty="0">
                          <a:effectLst/>
                        </a:rPr>
                        <a:t>Espèce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>
                          <a:effectLst/>
                        </a:rPr>
                        <a:t>Nb total de souches testées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 u="sng">
                          <a:effectLst/>
                        </a:rPr>
                        <a:t>Nb de 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277005729"/>
                  </a:ext>
                </a:extLst>
              </a:tr>
              <a:tr h="1149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 dirty="0">
                          <a:effectLst/>
                        </a:rPr>
                        <a:t>Pan-sensibilité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dirty="0">
                          <a:effectLst/>
                        </a:rPr>
                        <a:t>Sensibilité aux </a:t>
                      </a:r>
                      <a:r>
                        <a:rPr lang="fr-FR" sz="900" dirty="0" err="1">
                          <a:effectLst/>
                        </a:rPr>
                        <a:t>aminopénicillines</a:t>
                      </a:r>
                      <a:r>
                        <a:rPr lang="fr-FR" sz="900" dirty="0">
                          <a:effectLst/>
                        </a:rPr>
                        <a:t> (amoxicilline et/ou ampicilline) + C3G (</a:t>
                      </a:r>
                      <a:r>
                        <a:rPr lang="fr-FR" sz="900" dirty="0" err="1">
                          <a:effectLst/>
                        </a:rPr>
                        <a:t>cefotaxime</a:t>
                      </a:r>
                      <a:r>
                        <a:rPr lang="fr-FR" sz="900" dirty="0">
                          <a:effectLst/>
                        </a:rPr>
                        <a:t> et/ou </a:t>
                      </a:r>
                      <a:r>
                        <a:rPr lang="fr-FR" sz="900" dirty="0" err="1">
                          <a:effectLst/>
                        </a:rPr>
                        <a:t>ceftazidime</a:t>
                      </a:r>
                      <a:r>
                        <a:rPr lang="fr-FR" sz="900" dirty="0">
                          <a:effectLst/>
                        </a:rPr>
                        <a:t> et/ou </a:t>
                      </a:r>
                      <a:r>
                        <a:rPr lang="fr-FR" sz="900" dirty="0" err="1">
                          <a:effectLst/>
                        </a:rPr>
                        <a:t>ceftriaxone</a:t>
                      </a:r>
                      <a:r>
                        <a:rPr lang="fr-FR" sz="900" dirty="0">
                          <a:effectLst/>
                        </a:rPr>
                        <a:t>) + </a:t>
                      </a:r>
                      <a:r>
                        <a:rPr lang="fr-FR" sz="900" dirty="0" err="1">
                          <a:effectLst/>
                        </a:rPr>
                        <a:t>fluoroquinolones</a:t>
                      </a:r>
                      <a:r>
                        <a:rPr lang="fr-FR" sz="900" dirty="0">
                          <a:effectLst/>
                        </a:rPr>
                        <a:t> (S à tous les FQN testées) + aminosides (S à tous les aminosides testés) + </a:t>
                      </a:r>
                      <a:r>
                        <a:rPr lang="fr-FR" sz="900" dirty="0" err="1">
                          <a:effectLst/>
                        </a:rPr>
                        <a:t>co-trimoxazole</a:t>
                      </a:r>
                      <a:r>
                        <a:rPr lang="fr-FR" sz="900" dirty="0">
                          <a:effectLst/>
                        </a:rPr>
                        <a:t> (</a:t>
                      </a:r>
                      <a:r>
                        <a:rPr lang="fr-FR" sz="900" dirty="0" err="1">
                          <a:effectLst/>
                        </a:rPr>
                        <a:t>sulfamethoxazole</a:t>
                      </a:r>
                      <a:r>
                        <a:rPr lang="fr-FR" sz="900" dirty="0">
                          <a:effectLst/>
                        </a:rPr>
                        <a:t> et/ou </a:t>
                      </a:r>
                      <a:r>
                        <a:rPr lang="fr-FR" sz="900" dirty="0" err="1">
                          <a:effectLst/>
                        </a:rPr>
                        <a:t>trimethoprime</a:t>
                      </a:r>
                      <a:r>
                        <a:rPr lang="fr-FR" sz="900" dirty="0">
                          <a:effectLst/>
                        </a:rPr>
                        <a:t>)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>
                          <a:effectLst/>
                        </a:rPr>
                        <a:t>Escherichia coli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639905929"/>
                  </a:ext>
                </a:extLst>
              </a:tr>
            </a:tbl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157" y="3541292"/>
            <a:ext cx="5934600" cy="2719007"/>
          </a:xfrm>
          <a:prstGeom prst="rect">
            <a:avLst/>
          </a:prstGeom>
        </p:spPr>
      </p:pic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641322" y="149675"/>
            <a:ext cx="10772775" cy="1658198"/>
          </a:xfrm>
        </p:spPr>
        <p:txBody>
          <a:bodyPr/>
          <a:lstStyle/>
          <a:p>
            <a:r>
              <a:rPr lang="fr-FR" dirty="0" smtClean="0"/>
              <a:t>RESISTANCE – METHODO SPARES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604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RESISTANCE – INDICATEURS SPARES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1211911" y="3427012"/>
                <a:ext cx="10237968" cy="32918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/>
                  <a:t>Les indicateurs demandés sont, pour un micro-organisme et un type de résistance: </a:t>
                </a:r>
              </a:p>
              <a:p>
                <a:pPr lvl="0"/>
                <a:r>
                  <a:rPr lang="fr-FR" sz="2400" dirty="0"/>
                  <a:t>Proportion de résistance 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𝑛𝑜𝑚𝑏𝑟𝑒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𝑠𝑜𝑢𝑐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𝑚𝑖𝑐𝑟𝑜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𝑜𝑟𝑔𝑎𝑛𝑖𝑠𝑚𝑒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𝑠𝑖𝑠𝑡𝑎𝑛𝑡𝑒𝑠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à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𝑢𝑛𝑒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𝑐𝑙𝑎𝑠𝑠𝑒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𝐴𝑇𝐵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𝑛𝑜𝑚𝑏𝑟𝑒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𝑠𝑜𝑢𝑐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𝑡𝑒𝑠𝑡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𝑝𝑜𝑢𝑟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𝑐𝑒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𝑚𝑖𝑐𝑟𝑜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𝑜𝑟𝑔𝑎𝑛𝑖𝑠𝑚𝑒</m:t>
                        </m:r>
                      </m:den>
                    </m:f>
                  </m:oMath>
                </a14:m>
                <a:endParaRPr lang="fr-FR" sz="2400" dirty="0"/>
              </a:p>
              <a:p>
                <a:pPr marL="0" indent="0">
                  <a:buNone/>
                </a:pPr>
                <a:endParaRPr lang="fr-FR" sz="2400" dirty="0"/>
              </a:p>
              <a:p>
                <a:pPr lvl="0"/>
                <a:r>
                  <a:rPr lang="fr-FR" sz="2400" dirty="0"/>
                  <a:t>Densité d’incidence 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𝑛𝑜𝑚𝑏𝑟𝑒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𝑠𝑜𝑢𝑐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𝑚𝑖𝑐𝑟𝑜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𝑜𝑟𝑔𝑎𝑛𝑖𝑠𝑚𝑒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𝑠𝑖𝑠𝑡𝑎𝑛𝑡𝑒𝑠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à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𝑢𝑛𝑒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𝑐𝑙𝑎𝑠𝑠𝑒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𝐴𝑇𝐵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𝑛𝑜𝑚𝑏𝑟𝑒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𝑗𝑜𝑢𝑟𝑛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𝑜𝑠𝑝𝑖𝑡𝑎𝑙𝑖𝑠𝑎𝑡𝑖𝑜𝑛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fr-FR" sz="24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1000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1911" y="3427012"/>
                <a:ext cx="10237968" cy="3291839"/>
              </a:xfrm>
              <a:blipFill>
                <a:blip r:embed="rId2"/>
                <a:stretch>
                  <a:fillRect l="-953" t="-31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7" y="1701130"/>
            <a:ext cx="6854023" cy="1380909"/>
          </a:xfrm>
          <a:prstGeom prst="rect">
            <a:avLst/>
          </a:prstGeom>
        </p:spPr>
      </p:pic>
      <p:sp>
        <p:nvSpPr>
          <p:cNvPr id="5" name="Espace réservé du contenu 2"/>
          <p:cNvSpPr txBox="1">
            <a:spLocks/>
          </p:cNvSpPr>
          <p:nvPr/>
        </p:nvSpPr>
        <p:spPr>
          <a:xfrm>
            <a:off x="7486815" y="1645919"/>
            <a:ext cx="4607119" cy="15505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/>
              <a:t>Les activités exclues de la surveillance sont les activités ne correspondant pas à une hospitalisation complète ou de semaine en établissement de santé : </a:t>
            </a:r>
          </a:p>
          <a:p>
            <a:pPr lvl="1"/>
            <a:r>
              <a:rPr lang="fr-FR" sz="1000" dirty="0" smtClean="0"/>
              <a:t>La </a:t>
            </a:r>
            <a:r>
              <a:rPr lang="fr-FR" sz="1000" dirty="0"/>
              <a:t>rétrocession externe,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venues (hospitalisation de jour ou de nuit, anesthésie),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séances (traitements et cures ambulatoires : chimiothérapie, radiothérapie ...),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journées de prise en charge (hospitalisation à domicile…),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consultations,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passages (urgences),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unités de consultations et soins ambulatoires pour les personnes détenues (UCSA) 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389614" y="1606163"/>
            <a:ext cx="11720223" cy="149484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41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RESISTANCE – STRATEGIE NATIONALE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proportion de </a:t>
            </a:r>
            <a:r>
              <a:rPr lang="fr-FR" sz="2600" i="1" dirty="0"/>
              <a:t>S. aureus</a:t>
            </a:r>
            <a:r>
              <a:rPr lang="fr-FR" sz="2600" dirty="0"/>
              <a:t> résistants à la </a:t>
            </a:r>
            <a:r>
              <a:rPr lang="fr-FR" sz="2600" dirty="0" err="1"/>
              <a:t>méticilline</a:t>
            </a:r>
            <a:r>
              <a:rPr lang="fr-FR" sz="2600" dirty="0"/>
              <a:t> (SARM) parmi les </a:t>
            </a:r>
            <a:r>
              <a:rPr lang="fr-FR" sz="2600" i="1" dirty="0"/>
              <a:t>S. aureus</a:t>
            </a:r>
            <a:r>
              <a:rPr lang="fr-FR" sz="2600" dirty="0"/>
              <a:t> isolés d’hémocultures ; et la densité d’incidence des SARM / 1000 journées d’hospitalisation (JH), tout prélèvement à visée diagnostique confondus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proportion de souches résistantes à la vancomycine chez </a:t>
            </a:r>
            <a:r>
              <a:rPr lang="fr-FR" sz="2600" i="1" dirty="0"/>
              <a:t>E. </a:t>
            </a:r>
            <a:r>
              <a:rPr lang="fr-FR" sz="2600" i="1" dirty="0" err="1"/>
              <a:t>faecium</a:t>
            </a:r>
            <a:r>
              <a:rPr lang="fr-FR" sz="2600" dirty="0"/>
              <a:t> isolés d’hémocultures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densité d’incidence </a:t>
            </a:r>
            <a:r>
              <a:rPr lang="fr-FR" sz="2600" i="1" dirty="0"/>
              <a:t>K. </a:t>
            </a:r>
            <a:r>
              <a:rPr lang="fr-FR" sz="2600" i="1" dirty="0" err="1"/>
              <a:t>pneumoniae</a:t>
            </a:r>
            <a:r>
              <a:rPr lang="fr-FR" sz="2600" dirty="0"/>
              <a:t> résistants aux C3G (BLSE)/1 000 JH, tous prélèvements à visée diagnostique confondus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proportion de souches productrices de </a:t>
            </a:r>
            <a:r>
              <a:rPr lang="fr-FR" sz="2600" dirty="0" err="1"/>
              <a:t>carbapénémases</a:t>
            </a:r>
            <a:r>
              <a:rPr lang="fr-FR" sz="2600" dirty="0"/>
              <a:t> chez </a:t>
            </a:r>
            <a:r>
              <a:rPr lang="fr-FR" sz="2600" i="1" dirty="0"/>
              <a:t>K. </a:t>
            </a:r>
            <a:r>
              <a:rPr lang="fr-FR" sz="2600" i="1" dirty="0" err="1"/>
              <a:t>pneumoniae</a:t>
            </a:r>
            <a:r>
              <a:rPr lang="fr-FR" sz="2600" dirty="0"/>
              <a:t> isolés d’hémocultures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densité d’incidence toutes </a:t>
            </a:r>
            <a:r>
              <a:rPr lang="fr-FR" sz="2600" dirty="0" err="1"/>
              <a:t>Entérobacterales</a:t>
            </a:r>
            <a:r>
              <a:rPr lang="fr-FR" sz="2600" dirty="0"/>
              <a:t> productrices de </a:t>
            </a:r>
            <a:r>
              <a:rPr lang="fr-FR" sz="2600" dirty="0" err="1"/>
              <a:t>carbapénémases</a:t>
            </a:r>
            <a:r>
              <a:rPr lang="fr-FR" sz="2600" dirty="0"/>
              <a:t> / 1 000 JH, tous prélèvements à visée diagnostique confondus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densité d’incidence toutes </a:t>
            </a:r>
            <a:r>
              <a:rPr lang="fr-FR" sz="2600" dirty="0" err="1"/>
              <a:t>Entérobacterales</a:t>
            </a:r>
            <a:r>
              <a:rPr lang="fr-FR" sz="2600" dirty="0"/>
              <a:t> productrices de BLSE / 1 000 JH, tous prélèvements à visée diagnostique confondus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56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PROCHAINES ETAPES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Réunion Rouen/</a:t>
            </a:r>
            <a:r>
              <a:rPr lang="fr-FR" dirty="0" err="1" smtClean="0">
                <a:solidFill>
                  <a:schemeClr val="accent1">
                    <a:lumMod val="75000"/>
                  </a:schemeClr>
                </a:solidFill>
              </a:rPr>
              <a:t>SpF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02/06 10h30-11h30</a:t>
            </a:r>
            <a:r>
              <a:rPr lang="fr-FR" dirty="0" smtClean="0"/>
              <a:t> : point d’avancée et préparation des points à discuter / présenter en GT RATB du 16/06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GT RATB 16/06</a:t>
            </a:r>
          </a:p>
          <a:p>
            <a:pPr marL="560070" lvl="4" indent="-285750">
              <a:buFont typeface="Arial" panose="020B0604020202020204" pitchFamily="34" charset="0"/>
              <a:buChar char="•"/>
            </a:pPr>
            <a:r>
              <a:rPr lang="fr-FR" dirty="0" smtClean="0"/>
              <a:t>10h-11h consommation</a:t>
            </a:r>
          </a:p>
          <a:p>
            <a:pPr marL="560070" lvl="4" indent="-285750">
              <a:buFont typeface="Arial" panose="020B0604020202020204" pitchFamily="34" charset="0"/>
              <a:buChar char="•"/>
            </a:pPr>
            <a:r>
              <a:rPr lang="fr-FR" dirty="0" smtClean="0"/>
              <a:t>11h-12h résistance</a:t>
            </a:r>
          </a:p>
          <a:p>
            <a:pPr marL="4572" lvl="1" indent="0">
              <a:buNone/>
            </a:pPr>
            <a:r>
              <a:rPr lang="fr-FR" dirty="0" smtClean="0"/>
              <a:t>ODJ = présentation EB </a:t>
            </a:r>
            <a:r>
              <a:rPr lang="fr-FR" dirty="0" err="1" smtClean="0"/>
              <a:t>SpF</a:t>
            </a:r>
            <a:r>
              <a:rPr lang="fr-FR" dirty="0" smtClean="0"/>
              <a:t>/SPARES, travaux préliminaires consommation CHU Rouen, validation des indicateurs par le GT pour GO</a:t>
            </a:r>
          </a:p>
          <a:p>
            <a:pPr marL="0" indent="0">
              <a:buNone/>
            </a:pPr>
            <a:r>
              <a:rPr lang="fr-FR" dirty="0" smtClean="0"/>
              <a:t>Au 13/05/25, OK Katy Jeannot (CNR </a:t>
            </a:r>
            <a:r>
              <a:rPr lang="fr-FR" dirty="0" err="1" smtClean="0"/>
              <a:t>P.aeruginosa</a:t>
            </a:r>
            <a:r>
              <a:rPr lang="fr-FR" dirty="0" smtClean="0"/>
              <a:t> + </a:t>
            </a:r>
            <a:r>
              <a:rPr lang="fr-FR" dirty="0" err="1" smtClean="0"/>
              <a:t>acinetobacter</a:t>
            </a:r>
            <a:r>
              <a:rPr lang="fr-FR" dirty="0" smtClean="0"/>
              <a:t> Besançon), Laurent </a:t>
            </a:r>
            <a:r>
              <a:rPr lang="fr-FR" dirty="0" err="1" smtClean="0"/>
              <a:t>Dortet</a:t>
            </a:r>
            <a:r>
              <a:rPr lang="fr-FR" dirty="0" smtClean="0"/>
              <a:t> (CNR </a:t>
            </a:r>
            <a:r>
              <a:rPr lang="fr-FR" dirty="0" err="1" smtClean="0"/>
              <a:t>Enterobactéries</a:t>
            </a:r>
            <a:r>
              <a:rPr lang="fr-FR" dirty="0" smtClean="0"/>
              <a:t> Bicêtre), Gabriel Auger (CNR </a:t>
            </a:r>
            <a:r>
              <a:rPr lang="fr-FR" dirty="0" err="1" smtClean="0"/>
              <a:t>Enterocoques</a:t>
            </a:r>
            <a:r>
              <a:rPr lang="fr-FR" dirty="0" smtClean="0"/>
              <a:t> Rennes), Catherine Duclos </a:t>
            </a:r>
            <a:r>
              <a:rPr lang="fr-FR" dirty="0" err="1" smtClean="0"/>
              <a:t>Pharm</a:t>
            </a:r>
            <a:r>
              <a:rPr lang="fr-FR" dirty="0" smtClean="0"/>
              <a:t> APHP, Sandra Fournier EDS APHP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840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2" descr="image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7" y="1010562"/>
            <a:ext cx="12147793" cy="467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14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" y="1340269"/>
            <a:ext cx="11925301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816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 3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19" y="1376363"/>
            <a:ext cx="11820525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8146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https://medqualville.antibioresistance.fr/cartography</a:t>
            </a:r>
          </a:p>
        </p:txBody>
      </p:sp>
    </p:spTree>
    <p:extLst>
      <p:ext uri="{BB962C8B-B14F-4D97-AF65-F5344CB8AC3E}">
        <p14:creationId xmlns:p14="http://schemas.microsoft.com/office/powerpoint/2010/main" val="233971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Méthodologie</a:t>
            </a:r>
            <a:r>
              <a:rPr dirty="0"/>
              <a:t> de </a:t>
            </a:r>
            <a:r>
              <a:rPr dirty="0" err="1"/>
              <a:t>préparation</a:t>
            </a:r>
            <a:r>
              <a:rPr dirty="0"/>
              <a:t> des </a:t>
            </a:r>
            <a:r>
              <a:rPr dirty="0" err="1"/>
              <a:t>données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Consommations d'antibiotiques – Juin 2025</a:t>
            </a:r>
          </a:p>
        </p:txBody>
      </p:sp>
    </p:spTree>
    <p:extLst>
      <p:ext uri="{BB962C8B-B14F-4D97-AF65-F5344CB8AC3E}">
        <p14:creationId xmlns:p14="http://schemas.microsoft.com/office/powerpoint/2010/main" val="289730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Contexte</a:t>
            </a:r>
            <a:r>
              <a:rPr sz="4400" dirty="0"/>
              <a:t> &amp; </a:t>
            </a:r>
            <a:r>
              <a:rPr sz="4400" dirty="0" err="1"/>
              <a:t>objectif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1670858"/>
            <a:ext cx="10753725" cy="3766185"/>
          </a:xfrm>
        </p:spPr>
        <p:txBody>
          <a:bodyPr/>
          <a:lstStyle/>
          <a:p>
            <a:endParaRPr dirty="0"/>
          </a:p>
          <a:p>
            <a:r>
              <a:rPr sz="2000" dirty="0" err="1"/>
              <a:t>Garantir</a:t>
            </a:r>
            <a:r>
              <a:rPr sz="2000" dirty="0"/>
              <a:t> la </a:t>
            </a:r>
            <a:r>
              <a:rPr sz="2000" dirty="0" err="1"/>
              <a:t>fiabilité</a:t>
            </a:r>
            <a:r>
              <a:rPr sz="2000" dirty="0"/>
              <a:t> des </a:t>
            </a:r>
            <a:r>
              <a:rPr sz="2000" dirty="0" err="1"/>
              <a:t>indicateurs</a:t>
            </a:r>
            <a:r>
              <a:rPr sz="2000" dirty="0"/>
              <a:t> de </a:t>
            </a:r>
            <a:r>
              <a:rPr sz="2000" dirty="0" err="1"/>
              <a:t>consommation</a:t>
            </a:r>
            <a:endParaRPr sz="2000" dirty="0"/>
          </a:p>
          <a:p>
            <a:r>
              <a:rPr sz="2000" dirty="0" err="1"/>
              <a:t>Préparer</a:t>
            </a:r>
            <a:r>
              <a:rPr sz="2000" dirty="0"/>
              <a:t> le </a:t>
            </a:r>
            <a:r>
              <a:rPr sz="2000" dirty="0" err="1"/>
              <a:t>jeu</a:t>
            </a:r>
            <a:r>
              <a:rPr sz="2000" dirty="0"/>
              <a:t> de </a:t>
            </a:r>
            <a:r>
              <a:rPr sz="2000" dirty="0" err="1"/>
              <a:t>données</a:t>
            </a:r>
            <a:r>
              <a:rPr sz="2000" dirty="0"/>
              <a:t> </a:t>
            </a:r>
            <a:r>
              <a:rPr sz="2000" dirty="0" err="1"/>
              <a:t>annuel</a:t>
            </a:r>
            <a:r>
              <a:rPr sz="2000" dirty="0"/>
              <a:t> </a:t>
            </a:r>
            <a:endParaRPr lang="fr-FR" sz="2000" dirty="0"/>
          </a:p>
          <a:p>
            <a:r>
              <a:rPr lang="fr-FR" sz="2000" dirty="0"/>
              <a:t>Exclure les services hors du champ de l’étude :</a:t>
            </a:r>
            <a:endParaRPr sz="2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74" y="3424645"/>
            <a:ext cx="8538943" cy="269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4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Sources de </a:t>
            </a:r>
            <a:r>
              <a:rPr sz="4400" dirty="0" err="1"/>
              <a:t>données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/>
          </a:p>
          <a:p>
            <a:r>
              <a:rPr lang="fr-FR" sz="2000" dirty="0" smtClean="0"/>
              <a:t>Extraction </a:t>
            </a:r>
            <a:r>
              <a:rPr lang="fr-FR" sz="2000" dirty="0"/>
              <a:t>brute réalisée depuis CPAGE PUI (export Excel) </a:t>
            </a:r>
            <a:r>
              <a:rPr lang="fr-FR" sz="2000" dirty="0" smtClean="0"/>
              <a:t>permet </a:t>
            </a:r>
            <a:r>
              <a:rPr lang="fr-FR" sz="2000" dirty="0"/>
              <a:t>de suivre les commandes, la dispensation et les mouvements de médicaments</a:t>
            </a:r>
          </a:p>
          <a:p>
            <a:r>
              <a:rPr sz="2000" dirty="0" err="1" smtClean="0"/>
              <a:t>Fichier</a:t>
            </a:r>
            <a:r>
              <a:rPr sz="2000" dirty="0" smtClean="0"/>
              <a:t> </a:t>
            </a:r>
            <a:r>
              <a:rPr sz="2000" dirty="0"/>
              <a:t>« </a:t>
            </a:r>
            <a:r>
              <a:rPr sz="2000" dirty="0" err="1"/>
              <a:t>Activités</a:t>
            </a:r>
            <a:r>
              <a:rPr sz="2000" dirty="0"/>
              <a:t> </a:t>
            </a:r>
            <a:r>
              <a:rPr sz="2000" dirty="0" err="1"/>
              <a:t>administratives</a:t>
            </a:r>
            <a:r>
              <a:rPr sz="2000" dirty="0"/>
              <a:t> par UF » – </a:t>
            </a:r>
            <a:r>
              <a:rPr lang="fr-FR" sz="2000" dirty="0"/>
              <a:t>Par a</a:t>
            </a:r>
            <a:r>
              <a:rPr sz="2000" dirty="0" err="1"/>
              <a:t>nnée</a:t>
            </a:r>
            <a:r>
              <a:rPr sz="2000" dirty="0"/>
              <a:t> (</a:t>
            </a:r>
            <a:r>
              <a:rPr lang="fr-FR" sz="2000" dirty="0"/>
              <a:t>~206</a:t>
            </a:r>
            <a:r>
              <a:rPr sz="2000" dirty="0"/>
              <a:t> </a:t>
            </a:r>
            <a:r>
              <a:rPr sz="2000" dirty="0" err="1"/>
              <a:t>lignes</a:t>
            </a:r>
            <a:r>
              <a:rPr sz="2000" dirty="0"/>
              <a:t>)</a:t>
            </a:r>
          </a:p>
          <a:p>
            <a:r>
              <a:rPr sz="2000" dirty="0" err="1"/>
              <a:t>Fichier</a:t>
            </a:r>
            <a:r>
              <a:rPr sz="2000" dirty="0"/>
              <a:t> « </a:t>
            </a:r>
            <a:r>
              <a:rPr sz="2000" dirty="0" err="1"/>
              <a:t>Consommation</a:t>
            </a:r>
            <a:r>
              <a:rPr sz="2000" dirty="0"/>
              <a:t> </a:t>
            </a:r>
            <a:r>
              <a:rPr sz="2000" dirty="0" err="1"/>
              <a:t>d'antibiotiques</a:t>
            </a:r>
            <a:r>
              <a:rPr sz="2000" dirty="0"/>
              <a:t> » – </a:t>
            </a:r>
            <a:r>
              <a:rPr lang="fr-FR" sz="2000" dirty="0"/>
              <a:t>Par a</a:t>
            </a:r>
            <a:r>
              <a:rPr sz="2000" dirty="0" err="1"/>
              <a:t>nnée</a:t>
            </a:r>
            <a:r>
              <a:rPr sz="2000" dirty="0"/>
              <a:t> </a:t>
            </a:r>
            <a:r>
              <a:rPr lang="fr-FR" sz="2000" dirty="0"/>
              <a:t>(~11 024 lignes</a:t>
            </a:r>
            <a:r>
              <a:rPr lang="fr-FR" sz="2000" dirty="0" smtClean="0"/>
              <a:t>)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73005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Processus</a:t>
            </a:r>
            <a:r>
              <a:rPr sz="4400" dirty="0"/>
              <a:t> </a:t>
            </a:r>
            <a:r>
              <a:rPr sz="4400" dirty="0" err="1"/>
              <a:t>d'exclusion</a:t>
            </a:r>
            <a:endParaRPr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837" y="2983954"/>
            <a:ext cx="8692181" cy="36496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536" y="1566513"/>
            <a:ext cx="11184784" cy="2262982"/>
          </a:xfrm>
        </p:spPr>
        <p:txBody>
          <a:bodyPr/>
          <a:lstStyle/>
          <a:p>
            <a:endParaRPr dirty="0"/>
          </a:p>
          <a:p>
            <a:r>
              <a:rPr sz="2000" dirty="0"/>
              <a:t>Extraction </a:t>
            </a:r>
            <a:r>
              <a:rPr sz="2000" dirty="0" err="1"/>
              <a:t>initiale</a:t>
            </a:r>
            <a:r>
              <a:rPr sz="2000" dirty="0"/>
              <a:t> des 2 </a:t>
            </a:r>
            <a:r>
              <a:rPr sz="2000" dirty="0" err="1"/>
              <a:t>fichiers</a:t>
            </a:r>
            <a:r>
              <a:rPr sz="2000" dirty="0"/>
              <a:t> (</a:t>
            </a:r>
            <a:r>
              <a:rPr sz="2000" dirty="0" smtClean="0"/>
              <a:t>Excel)</a:t>
            </a:r>
            <a:r>
              <a:rPr lang="fr-FR" sz="2000" dirty="0" smtClean="0"/>
              <a:t> -&gt; </a:t>
            </a:r>
            <a:r>
              <a:rPr sz="2000" dirty="0" smtClean="0"/>
              <a:t>Application </a:t>
            </a:r>
            <a:r>
              <a:rPr sz="2000" dirty="0"/>
              <a:t>de </a:t>
            </a:r>
            <a:r>
              <a:rPr sz="2000" dirty="0" err="1"/>
              <a:t>filtres</a:t>
            </a:r>
            <a:r>
              <a:rPr sz="2000" dirty="0"/>
              <a:t> sur UF et </a:t>
            </a:r>
            <a:r>
              <a:rPr sz="2000" dirty="0" err="1"/>
              <a:t>libellés</a:t>
            </a:r>
            <a:endParaRPr sz="2000" dirty="0"/>
          </a:p>
          <a:p>
            <a:r>
              <a:rPr sz="2000" dirty="0" err="1"/>
              <a:t>Relecture</a:t>
            </a:r>
            <a:r>
              <a:rPr sz="2000" dirty="0"/>
              <a:t> </a:t>
            </a:r>
            <a:r>
              <a:rPr sz="2000" dirty="0" err="1"/>
              <a:t>manuelle</a:t>
            </a:r>
            <a:r>
              <a:rPr sz="2000" dirty="0"/>
              <a:t> de </a:t>
            </a:r>
            <a:r>
              <a:rPr sz="2000" dirty="0" err="1"/>
              <a:t>tous</a:t>
            </a:r>
            <a:r>
              <a:rPr sz="2000" dirty="0"/>
              <a:t> les </a:t>
            </a:r>
            <a:r>
              <a:rPr sz="2000" dirty="0" err="1"/>
              <a:t>intitulés</a:t>
            </a:r>
            <a:r>
              <a:rPr sz="2000" dirty="0"/>
              <a:t> de </a:t>
            </a:r>
            <a:r>
              <a:rPr sz="2000" dirty="0" smtClean="0"/>
              <a:t>service</a:t>
            </a:r>
            <a:r>
              <a:rPr lang="fr-FR" sz="2000" dirty="0" smtClean="0"/>
              <a:t> -&gt; </a:t>
            </a:r>
            <a:r>
              <a:rPr sz="2000" dirty="0" smtClean="0"/>
              <a:t>Validation </a:t>
            </a:r>
            <a:r>
              <a:rPr sz="2000" dirty="0"/>
              <a:t>finale de la </a:t>
            </a:r>
            <a:r>
              <a:rPr sz="2000" dirty="0" err="1"/>
              <a:t>liste</a:t>
            </a:r>
            <a:r>
              <a:rPr sz="2000" dirty="0"/>
              <a:t> des services </a:t>
            </a:r>
            <a:r>
              <a:rPr sz="2000" dirty="0" err="1"/>
              <a:t>inclus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24178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Tri des services &amp; </a:t>
            </a:r>
            <a:r>
              <a:rPr sz="4400" dirty="0" err="1"/>
              <a:t>calcul</a:t>
            </a:r>
            <a:r>
              <a:rPr sz="4400" dirty="0"/>
              <a:t> des </a:t>
            </a:r>
            <a:r>
              <a:rPr sz="4400" dirty="0" err="1"/>
              <a:t>journées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 smtClean="0"/>
              <a:t>Somme </a:t>
            </a:r>
            <a:r>
              <a:rPr sz="2000" dirty="0"/>
              <a:t>des </a:t>
            </a:r>
            <a:r>
              <a:rPr sz="2000" dirty="0" err="1"/>
              <a:t>journées</a:t>
            </a:r>
            <a:r>
              <a:rPr sz="2000" dirty="0"/>
              <a:t> </a:t>
            </a:r>
            <a:r>
              <a:rPr sz="2000" dirty="0" err="1"/>
              <a:t>d'hospitalisation</a:t>
            </a:r>
            <a:r>
              <a:rPr sz="2000" dirty="0"/>
              <a:t> </a:t>
            </a:r>
            <a:r>
              <a:rPr sz="2000" dirty="0" err="1"/>
              <a:t>calculée</a:t>
            </a:r>
            <a:r>
              <a:rPr sz="2000" dirty="0"/>
              <a:t> après tri</a:t>
            </a:r>
          </a:p>
          <a:p>
            <a:r>
              <a:rPr sz="2000" dirty="0" err="1"/>
              <a:t>Résultat</a:t>
            </a:r>
            <a:r>
              <a:rPr sz="2000" dirty="0"/>
              <a:t> :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289" y="3311590"/>
            <a:ext cx="4195156" cy="347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4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Sélection</a:t>
            </a:r>
            <a:r>
              <a:rPr sz="4400" dirty="0"/>
              <a:t> des UCD &amp; </a:t>
            </a:r>
            <a:r>
              <a:rPr sz="4400" dirty="0" err="1"/>
              <a:t>agrégation</a:t>
            </a:r>
            <a:r>
              <a:rPr lang="fr-FR" sz="4400" dirty="0"/>
              <a:t> (1)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2367261"/>
            <a:ext cx="4664456" cy="4000499"/>
          </a:xfrm>
        </p:spPr>
        <p:txBody>
          <a:bodyPr>
            <a:normAutofit/>
          </a:bodyPr>
          <a:lstStyle/>
          <a:p>
            <a:r>
              <a:rPr lang="fr-FR" sz="2000" dirty="0"/>
              <a:t>Après avoir appliqué le même processus sur le fichier « Consommation d'antibiotiques </a:t>
            </a:r>
            <a:r>
              <a:rPr lang="fr-FR" sz="2000" dirty="0" smtClean="0"/>
              <a:t>». (les UF a exclure ne sont pas strictement les même</a:t>
            </a:r>
            <a:r>
              <a:rPr lang="fr-FR" sz="2000" dirty="0" smtClean="0"/>
              <a:t>s)</a:t>
            </a:r>
            <a:endParaRPr lang="fr-FR" sz="2000" dirty="0" smtClean="0"/>
          </a:p>
          <a:p>
            <a:r>
              <a:rPr sz="2000" dirty="0" err="1" smtClean="0"/>
              <a:t>Filtre</a:t>
            </a:r>
            <a:r>
              <a:rPr sz="2000" dirty="0" smtClean="0"/>
              <a:t> </a:t>
            </a:r>
            <a:r>
              <a:rPr sz="2000" dirty="0"/>
              <a:t>sur les UCD </a:t>
            </a:r>
            <a:r>
              <a:rPr sz="2000" dirty="0" err="1" smtClean="0"/>
              <a:t>cibles</a:t>
            </a:r>
            <a:endParaRPr sz="2000" dirty="0"/>
          </a:p>
          <a:p>
            <a:r>
              <a:rPr sz="2000" dirty="0"/>
              <a:t>Somme des </a:t>
            </a:r>
            <a:r>
              <a:rPr sz="2000" dirty="0" err="1"/>
              <a:t>consommations</a:t>
            </a:r>
            <a:r>
              <a:rPr sz="2000" dirty="0"/>
              <a:t> par UCD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175" y="1899099"/>
            <a:ext cx="5066775" cy="44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9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698" y="275089"/>
            <a:ext cx="10772775" cy="1658198"/>
          </a:xfrm>
        </p:spPr>
        <p:txBody>
          <a:bodyPr>
            <a:normAutofit/>
          </a:bodyPr>
          <a:lstStyle/>
          <a:p>
            <a:r>
              <a:rPr lang="fr-FR" sz="4400" dirty="0"/>
              <a:t>Sélection des UCD &amp; agrégation (2)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2038" y="1620982"/>
            <a:ext cx="10753725" cy="3766185"/>
          </a:xfrm>
        </p:spPr>
        <p:txBody>
          <a:bodyPr/>
          <a:lstStyle/>
          <a:p>
            <a:r>
              <a:rPr lang="fr-FR" sz="1800" dirty="0"/>
              <a:t>Remplissage du tableau </a:t>
            </a:r>
            <a:r>
              <a:rPr lang="fr-FR" sz="1800" dirty="0" smtClean="0"/>
              <a:t>DDJ/1 </a:t>
            </a:r>
            <a:r>
              <a:rPr lang="fr-FR" sz="1800" dirty="0"/>
              <a:t>000 JH : sur les 200 UCD à traiter, 164 sont effectivement présentes au CHU ; pour chacune, nous devons additionner les consommations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308" y="2288834"/>
            <a:ext cx="6346986" cy="4569166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 flipH="1">
            <a:off x="693416" y="4573417"/>
            <a:ext cx="2831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DURÉE TOTAL ENVIRON 20H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22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54182" y="273806"/>
            <a:ext cx="659476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400" spc="-120" dirty="0" smtClean="0">
                <a:solidFill>
                  <a:srgbClr val="3494BA"/>
                </a:solidFill>
                <a:ea typeface="+mj-ea"/>
                <a:cs typeface="+mj-cs"/>
              </a:rPr>
              <a:t>Perspectives : Automatisation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717665" y="1043247"/>
            <a:ext cx="65310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Solution en cours de déploiement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Un </a:t>
            </a:r>
            <a:r>
              <a:rPr lang="fr-FR" b="1" dirty="0"/>
              <a:t>script Python</a:t>
            </a:r>
            <a:r>
              <a:rPr lang="fr-FR" dirty="0"/>
              <a:t> ­— </a:t>
            </a:r>
            <a:r>
              <a:rPr lang="fr-FR" b="1" dirty="0"/>
              <a:t>actuellement en phase de test</a:t>
            </a:r>
            <a:r>
              <a:rPr lang="fr-FR" dirty="0"/>
              <a:t> — automatise :</a:t>
            </a:r>
          </a:p>
          <a:p>
            <a:endParaRPr lang="fr-FR" dirty="0" smtClean="0"/>
          </a:p>
          <a:p>
            <a:r>
              <a:rPr lang="fr-FR" dirty="0" smtClean="0"/>
              <a:t>lecture </a:t>
            </a:r>
            <a:r>
              <a:rPr lang="fr-FR" dirty="0"/>
              <a:t>et normalisation des fichiers CPAGE ;</a:t>
            </a:r>
          </a:p>
          <a:p>
            <a:r>
              <a:rPr lang="fr-FR" dirty="0" smtClean="0"/>
              <a:t>exclusion </a:t>
            </a:r>
            <a:r>
              <a:rPr lang="fr-FR" dirty="0"/>
              <a:t>des UF non pertinentes ;</a:t>
            </a:r>
          </a:p>
          <a:p>
            <a:r>
              <a:rPr lang="fr-FR" dirty="0" smtClean="0"/>
              <a:t>agrégation </a:t>
            </a:r>
            <a:r>
              <a:rPr lang="fr-FR" dirty="0"/>
              <a:t>des consommations par </a:t>
            </a:r>
            <a:r>
              <a:rPr lang="fr-FR" dirty="0" smtClean="0"/>
              <a:t>antibiotique.</a:t>
            </a:r>
          </a:p>
          <a:p>
            <a:endParaRPr lang="fr-FR" dirty="0"/>
          </a:p>
          <a:p>
            <a:r>
              <a:rPr lang="fr-FR" strike="sngStrike" dirty="0"/>
              <a:t>génération immédiate des rapports annuels.</a:t>
            </a:r>
          </a:p>
          <a:p>
            <a:endParaRPr lang="fr-FR" b="1" dirty="0" smtClean="0"/>
          </a:p>
          <a:p>
            <a:r>
              <a:rPr lang="fr-FR" b="1" dirty="0" smtClean="0"/>
              <a:t>Premiers </a:t>
            </a:r>
            <a:r>
              <a:rPr lang="fr-FR" b="1" dirty="0"/>
              <a:t>résultats (tests internes)</a:t>
            </a:r>
            <a:endParaRPr lang="fr-FR" dirty="0"/>
          </a:p>
          <a:p>
            <a:endParaRPr lang="fr-FR" b="1" dirty="0" smtClean="0"/>
          </a:p>
          <a:p>
            <a:r>
              <a:rPr lang="fr-FR" b="1" dirty="0" smtClean="0"/>
              <a:t>Durée </a:t>
            </a:r>
            <a:r>
              <a:rPr lang="fr-FR" b="1" dirty="0"/>
              <a:t>d’exécution : 20 h → </a:t>
            </a:r>
            <a:r>
              <a:rPr lang="fr-FR" b="1" dirty="0" smtClean="0"/>
              <a:t>2 </a:t>
            </a:r>
            <a:r>
              <a:rPr lang="fr-FR" b="1" dirty="0"/>
              <a:t>min</a:t>
            </a:r>
            <a:r>
              <a:rPr lang="fr-FR" dirty="0"/>
              <a:t> (facteur × </a:t>
            </a:r>
            <a:r>
              <a:rPr lang="fr-FR" dirty="0" smtClean="0"/>
              <a:t>600</a:t>
            </a:r>
            <a:r>
              <a:rPr lang="fr-FR" dirty="0"/>
              <a:t>).</a:t>
            </a:r>
          </a:p>
          <a:p>
            <a:r>
              <a:rPr lang="fr-FR" dirty="0"/>
              <a:t>Élimination des erreurs de manipulation manuelle.</a:t>
            </a:r>
          </a:p>
          <a:p>
            <a:r>
              <a:rPr lang="fr-FR" dirty="0"/>
              <a:t>Processus entièrement traçable et </a:t>
            </a:r>
            <a:r>
              <a:rPr lang="fr-FR" dirty="0" err="1"/>
              <a:t>rejouable</a:t>
            </a:r>
            <a:r>
              <a:rPr lang="fr-FR" dirty="0"/>
              <a:t>.</a:t>
            </a:r>
          </a:p>
          <a:p>
            <a:endParaRPr lang="fr-FR" b="1" dirty="0" smtClean="0"/>
          </a:p>
          <a:p>
            <a:r>
              <a:rPr lang="fr-FR" b="1" dirty="0" smtClean="0"/>
              <a:t>Prochaines </a:t>
            </a:r>
            <a:r>
              <a:rPr lang="fr-FR" b="1" dirty="0"/>
              <a:t>étapes</a:t>
            </a:r>
            <a:endParaRPr lang="fr-FR" dirty="0"/>
          </a:p>
          <a:p>
            <a:r>
              <a:rPr lang="fr-FR" dirty="0"/>
              <a:t>Finalisation des tests </a:t>
            </a:r>
            <a:r>
              <a:rPr lang="fr-FR" dirty="0" smtClean="0"/>
              <a:t>et </a:t>
            </a:r>
            <a:r>
              <a:rPr lang="fr-FR" dirty="0"/>
              <a:t>validation fonctionnelle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497" y="985058"/>
            <a:ext cx="5217622" cy="571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0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étropolitain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Métropolitai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étropolitai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TM03457491[[fn=Métropolitain]]</Template>
  <TotalTime>13183</TotalTime>
  <Words>1131</Words>
  <Application>Microsoft Office PowerPoint</Application>
  <PresentationFormat>Grand écran</PresentationFormat>
  <Paragraphs>164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Times New Roman</vt:lpstr>
      <vt:lpstr>Métropolitain</vt:lpstr>
      <vt:lpstr>ORCHIDEE – GT RATB</vt:lpstr>
      <vt:lpstr>LIVRAISON EB SpF/SPARES 25/04/2025</vt:lpstr>
      <vt:lpstr>CONSOMMATION - DEFINITION</vt:lpstr>
      <vt:lpstr>CONSOMMATION – METHODO SPARES</vt:lpstr>
      <vt:lpstr>RESISTANCE - DEFINITION</vt:lpstr>
      <vt:lpstr>RESISTANCE – METHODO SPARES</vt:lpstr>
      <vt:lpstr>RESISTANCE – INDICATEURS SPARES</vt:lpstr>
      <vt:lpstr>RESISTANCE – STRATEGIE NATIONALE</vt:lpstr>
      <vt:lpstr>PROCHAINES ETAPES</vt:lpstr>
      <vt:lpstr>Présentation PowerPoint</vt:lpstr>
      <vt:lpstr>Présentation PowerPoint</vt:lpstr>
      <vt:lpstr>Présentation PowerPoint</vt:lpstr>
      <vt:lpstr>Présentation PowerPoint</vt:lpstr>
      <vt:lpstr>Méthodologie de préparation des données</vt:lpstr>
      <vt:lpstr>Contexte &amp; objectif</vt:lpstr>
      <vt:lpstr>Sources de données</vt:lpstr>
      <vt:lpstr>Processus d'exclusion</vt:lpstr>
      <vt:lpstr>Tri des services &amp; calcul des journées</vt:lpstr>
      <vt:lpstr>Sélection des UCD &amp; agrégation (1)</vt:lpstr>
      <vt:lpstr>Sélection des UCD &amp; agrégation (2)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ORCHIDEE – GT RATB</dc:title>
  <dc:creator>CATHERINE, Solenn</dc:creator>
  <cp:lastModifiedBy>DIAGOURAGA Djibril</cp:lastModifiedBy>
  <cp:revision>52</cp:revision>
  <dcterms:created xsi:type="dcterms:W3CDTF">2025-05-13T09:37:11Z</dcterms:created>
  <dcterms:modified xsi:type="dcterms:W3CDTF">2025-06-13T08:49:52Z</dcterms:modified>
</cp:coreProperties>
</file>