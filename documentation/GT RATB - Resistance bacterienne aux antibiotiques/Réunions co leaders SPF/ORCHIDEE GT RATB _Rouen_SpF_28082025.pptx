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1"/>
  </p:notesMasterIdLst>
  <p:sldIdLst>
    <p:sldId id="257" r:id="rId3"/>
    <p:sldId id="259" r:id="rId4"/>
    <p:sldId id="258" r:id="rId5"/>
    <p:sldId id="268" r:id="rId6"/>
    <p:sldId id="278" r:id="rId7"/>
    <p:sldId id="264" r:id="rId8"/>
    <p:sldId id="275" r:id="rId9"/>
    <p:sldId id="274" r:id="rId10"/>
    <p:sldId id="306" r:id="rId11"/>
    <p:sldId id="283" r:id="rId12"/>
    <p:sldId id="307" r:id="rId13"/>
    <p:sldId id="308" r:id="rId14"/>
    <p:sldId id="309" r:id="rId15"/>
    <p:sldId id="310" r:id="rId16"/>
    <p:sldId id="296" r:id="rId17"/>
    <p:sldId id="294" r:id="rId18"/>
    <p:sldId id="281" r:id="rId19"/>
    <p:sldId id="295" r:id="rId20"/>
    <p:sldId id="280" r:id="rId21"/>
    <p:sldId id="300" r:id="rId22"/>
    <p:sldId id="301" r:id="rId23"/>
    <p:sldId id="299" r:id="rId24"/>
    <p:sldId id="302" r:id="rId25"/>
    <p:sldId id="304" r:id="rId26"/>
    <p:sldId id="305" r:id="rId27"/>
    <p:sldId id="297" r:id="rId28"/>
    <p:sldId id="311" r:id="rId29"/>
    <p:sldId id="272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006093@adm.chu-rouen.lan" initials="P" lastIdx="1" clrIdx="0">
    <p:extLst>
      <p:ext uri="{19B8F6BF-5375-455C-9EA6-DF929625EA0E}">
        <p15:presenceInfo xmlns:p15="http://schemas.microsoft.com/office/powerpoint/2012/main" userId="S-1-5-21-1321665950-11692542-1221738049-519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373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1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0-49B8-A3E0-DE08BC7C4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F0C7F-DC96-4FFB-A968-514013D5FDB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474345C-BAE1-4E5A-AB0F-56BDEF280EC1}">
      <dgm:prSet phldrT="[Texte]"/>
      <dgm:spPr/>
      <dgm:t>
        <a:bodyPr/>
        <a:lstStyle/>
        <a:p>
          <a:r>
            <a:rPr lang="fr-FR" b="1" dirty="0" smtClean="0"/>
            <a:t>Expression de besoins </a:t>
          </a:r>
          <a:r>
            <a:rPr lang="fr-FR" b="1" dirty="0" err="1" smtClean="0"/>
            <a:t>SpF</a:t>
          </a:r>
          <a:r>
            <a:rPr lang="fr-FR" b="1" dirty="0" smtClean="0"/>
            <a:t> et élaboration d’une 1</a:t>
          </a:r>
          <a:r>
            <a:rPr lang="fr-FR" b="1" baseline="30000" dirty="0" smtClean="0"/>
            <a:t>ère</a:t>
          </a:r>
          <a:r>
            <a:rPr lang="fr-FR" b="1" dirty="0" smtClean="0"/>
            <a:t> série d’indicateurs (Rouen/</a:t>
          </a:r>
          <a:r>
            <a:rPr lang="fr-FR" b="1" dirty="0" err="1" smtClean="0"/>
            <a:t>SpF</a:t>
          </a:r>
          <a:r>
            <a:rPr lang="fr-FR" b="1" dirty="0" smtClean="0"/>
            <a:t>)</a:t>
          </a:r>
          <a:endParaRPr lang="fr-FR" b="1" dirty="0"/>
        </a:p>
      </dgm:t>
    </dgm:pt>
    <dgm:pt modelId="{0529C8A3-2C57-48C4-990E-7D0498687F37}" type="parTrans" cxnId="{41922808-66DD-499F-B904-22EE07F06C77}">
      <dgm:prSet/>
      <dgm:spPr/>
      <dgm:t>
        <a:bodyPr/>
        <a:lstStyle/>
        <a:p>
          <a:endParaRPr lang="fr-FR"/>
        </a:p>
      </dgm:t>
    </dgm:pt>
    <dgm:pt modelId="{127543F3-D7DD-47B9-973E-856E91D2BEB2}" type="sibTrans" cxnId="{41922808-66DD-499F-B904-22EE07F06C77}">
      <dgm:prSet/>
      <dgm:spPr/>
      <dgm:t>
        <a:bodyPr/>
        <a:lstStyle/>
        <a:p>
          <a:endParaRPr lang="fr-FR"/>
        </a:p>
      </dgm:t>
    </dgm:pt>
    <dgm:pt modelId="{64592C92-76DD-47FB-8C04-8205843BE1AD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Choix et priorisation des indicateurs en GT</a:t>
          </a:r>
          <a:endParaRPr lang="fr-FR" b="1" dirty="0">
            <a:solidFill>
              <a:schemeClr val="tx1"/>
            </a:solidFill>
          </a:endParaRPr>
        </a:p>
      </dgm:t>
    </dgm:pt>
    <dgm:pt modelId="{BDCB47D6-F7E4-4B16-832B-D748CE01969A}" type="parTrans" cxnId="{AD2C778B-56E4-4AE1-BCD4-CFBDD431BE4B}">
      <dgm:prSet/>
      <dgm:spPr/>
      <dgm:t>
        <a:bodyPr/>
        <a:lstStyle/>
        <a:p>
          <a:endParaRPr lang="fr-FR"/>
        </a:p>
      </dgm:t>
    </dgm:pt>
    <dgm:pt modelId="{9EF3ABF9-2E49-405F-9DD9-D85CBF653E1F}" type="sibTrans" cxnId="{AD2C778B-56E4-4AE1-BCD4-CFBDD431BE4B}">
      <dgm:prSet/>
      <dgm:spPr/>
      <dgm:t>
        <a:bodyPr/>
        <a:lstStyle/>
        <a:p>
          <a:endParaRPr lang="fr-FR"/>
        </a:p>
      </dgm:t>
    </dgm:pt>
    <dgm:pt modelId="{29EE08AF-E3A3-45F5-8A18-C454438F0F55}">
      <dgm:prSet phldrT="[Texte]"/>
      <dgm:spPr/>
      <dgm:t>
        <a:bodyPr/>
        <a:lstStyle/>
        <a:p>
          <a:r>
            <a:rPr lang="fr-FR" dirty="0" smtClean="0"/>
            <a:t>Deuxième vague d’indicateurs</a:t>
          </a:r>
          <a:endParaRPr lang="fr-FR" b="1" dirty="0"/>
        </a:p>
      </dgm:t>
    </dgm:pt>
    <dgm:pt modelId="{F48775B0-3072-499F-8820-0AAFEE2688AF}" type="parTrans" cxnId="{B3A32BD3-3B64-473B-AEA1-3F3BEC553797}">
      <dgm:prSet/>
      <dgm:spPr/>
      <dgm:t>
        <a:bodyPr/>
        <a:lstStyle/>
        <a:p>
          <a:endParaRPr lang="fr-FR"/>
        </a:p>
      </dgm:t>
    </dgm:pt>
    <dgm:pt modelId="{80993896-228D-4006-A509-3922575DCF0D}" type="sibTrans" cxnId="{B3A32BD3-3B64-473B-AEA1-3F3BEC553797}">
      <dgm:prSet/>
      <dgm:spPr/>
      <dgm:t>
        <a:bodyPr/>
        <a:lstStyle/>
        <a:p>
          <a:endParaRPr lang="fr-FR"/>
        </a:p>
      </dgm:t>
    </dgm:pt>
    <dgm:pt modelId="{773EBA70-9196-4B8B-80FA-E43CAAEC0932}">
      <dgm:prSet/>
      <dgm:spPr/>
      <dgm:t>
        <a:bodyPr/>
        <a:lstStyle/>
        <a:p>
          <a:endParaRPr lang="fr-FR"/>
        </a:p>
      </dgm:t>
    </dgm:pt>
    <dgm:pt modelId="{06BC2A55-08DA-433A-B511-96BF8A8C87DA}" type="parTrans" cxnId="{8A609271-79BB-46D4-8C57-595714EB2AE8}">
      <dgm:prSet/>
      <dgm:spPr/>
      <dgm:t>
        <a:bodyPr/>
        <a:lstStyle/>
        <a:p>
          <a:endParaRPr lang="fr-FR"/>
        </a:p>
      </dgm:t>
    </dgm:pt>
    <dgm:pt modelId="{D38BFD6B-B62C-4949-8EBA-5DCF45094F15}" type="sibTrans" cxnId="{8A609271-79BB-46D4-8C57-595714EB2AE8}">
      <dgm:prSet/>
      <dgm:spPr/>
      <dgm:t>
        <a:bodyPr/>
        <a:lstStyle/>
        <a:p>
          <a:endParaRPr lang="fr-FR"/>
        </a:p>
      </dgm:t>
    </dgm:pt>
    <dgm:pt modelId="{B69850AC-D5B8-443A-BEA8-994A4819D970}">
      <dgm:prSet custT="1"/>
      <dgm:spPr/>
      <dgm:t>
        <a:bodyPr/>
        <a:lstStyle/>
        <a:p>
          <a:r>
            <a:rPr lang="fr-FR" sz="800" b="1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dirty="0">
            <a:solidFill>
              <a:schemeClr val="tx1"/>
            </a:solidFill>
            <a:latin typeface="+mn-lt"/>
          </a:endParaRPr>
        </a:p>
      </dgm:t>
    </dgm:pt>
    <dgm:pt modelId="{6E9CDB3E-92E8-4F59-8D8C-279F69CF2D69}" type="parTrans" cxnId="{EFAE9AF4-406A-4A0C-978F-C0C89FF99192}">
      <dgm:prSet/>
      <dgm:spPr/>
      <dgm:t>
        <a:bodyPr/>
        <a:lstStyle/>
        <a:p>
          <a:endParaRPr lang="fr-FR"/>
        </a:p>
      </dgm:t>
    </dgm:pt>
    <dgm:pt modelId="{02E9E308-A1EF-484B-985E-BCDC5F70A5E3}" type="sibTrans" cxnId="{EFAE9AF4-406A-4A0C-978F-C0C89FF99192}">
      <dgm:prSet/>
      <dgm:spPr/>
      <dgm:t>
        <a:bodyPr/>
        <a:lstStyle/>
        <a:p>
          <a:endParaRPr lang="fr-FR"/>
        </a:p>
      </dgm:t>
    </dgm:pt>
    <dgm:pt modelId="{F844C7CC-5F2C-4E4F-A9E9-F0B1DCAA1405}" type="pres">
      <dgm:prSet presAssocID="{1A5F0C7F-DC96-4FFB-A968-514013D5FDB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93E8806C-0280-40A6-924A-4461C0B7B52F}" type="pres">
      <dgm:prSet presAssocID="{4474345C-BAE1-4E5A-AB0F-56BDEF280EC1}" presName="Accent1" presStyleCnt="0"/>
      <dgm:spPr/>
    </dgm:pt>
    <dgm:pt modelId="{0A208843-B964-4E76-9695-8D102F234F2A}" type="pres">
      <dgm:prSet presAssocID="{4474345C-BAE1-4E5A-AB0F-56BDEF280EC1}" presName="Accent" presStyleLbl="node1" presStyleIdx="0" presStyleCnt="4"/>
      <dgm:spPr>
        <a:solidFill>
          <a:srgbClr val="DC246A"/>
        </a:solidFill>
      </dgm:spPr>
    </dgm:pt>
    <dgm:pt modelId="{8AB6A3B8-E9F4-4473-A93D-2B74716CC5E6}" type="pres">
      <dgm:prSet presAssocID="{4474345C-BAE1-4E5A-AB0F-56BDEF280EC1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65BE5CA-4EFE-4302-9954-0B51A81472C5}" type="pres">
      <dgm:prSet presAssocID="{64592C92-76DD-47FB-8C04-8205843BE1AD}" presName="Accent2" presStyleCnt="0"/>
      <dgm:spPr/>
    </dgm:pt>
    <dgm:pt modelId="{36C801B7-4739-47D8-867A-BF955171B5EB}" type="pres">
      <dgm:prSet presAssocID="{64592C92-76DD-47FB-8C04-8205843BE1AD}" presName="Accent" presStyleLbl="node1" presStyleIdx="1" presStyleCnt="4"/>
      <dgm:spPr/>
    </dgm:pt>
    <dgm:pt modelId="{C6337679-CD93-465B-A3EE-AAA34106E068}" type="pres">
      <dgm:prSet presAssocID="{64592C92-76DD-47FB-8C04-8205843BE1AD}" presName="Child2" presStyleLbl="revTx" presStyleIdx="1" presStyleCnt="5" custLinFactY="37644" custLinFactNeighborX="-89908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31835-DC8F-4795-BDEC-345842B4FA16}" type="pres">
      <dgm:prSet presAssocID="{64592C92-76DD-47FB-8C04-8205843BE1AD}" presName="Parent2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83D75-E7D1-4571-B9CD-E9C8DB01742E}" type="pres">
      <dgm:prSet presAssocID="{773EBA70-9196-4B8B-80FA-E43CAAEC0932}" presName="Accent3" presStyleCnt="0"/>
      <dgm:spPr/>
    </dgm:pt>
    <dgm:pt modelId="{15B29E3C-7D35-4113-9990-0327221446AA}" type="pres">
      <dgm:prSet presAssocID="{773EBA70-9196-4B8B-80FA-E43CAAEC0932}" presName="Accent" presStyleLbl="node1" presStyleIdx="2" presStyleCnt="4"/>
      <dgm:spPr/>
    </dgm:pt>
    <dgm:pt modelId="{6807C035-87E4-4001-A917-D373A95B6B4D}" type="pres">
      <dgm:prSet presAssocID="{773EBA70-9196-4B8B-80FA-E43CAAEC0932}" presName="Parent3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730D6F-11DD-4C6D-9894-4A5EE3FF7ADB}" type="pres">
      <dgm:prSet presAssocID="{29EE08AF-E3A3-45F5-8A18-C454438F0F55}" presName="Accent4" presStyleCnt="0"/>
      <dgm:spPr/>
    </dgm:pt>
    <dgm:pt modelId="{61834052-4434-4B30-874A-3E70E5A183AA}" type="pres">
      <dgm:prSet presAssocID="{29EE08AF-E3A3-45F5-8A18-C454438F0F55}" presName="Accent" presStyleLbl="node1" presStyleIdx="3" presStyleCnt="4"/>
      <dgm:spPr>
        <a:solidFill>
          <a:srgbClr val="002060"/>
        </a:solidFill>
      </dgm:spPr>
    </dgm:pt>
    <dgm:pt modelId="{B5C38C14-858F-475B-A82C-DDE7F3821496}" type="pres">
      <dgm:prSet presAssocID="{29EE08AF-E3A3-45F5-8A18-C454438F0F55}" presName="Parent4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6CC9603-52B9-480B-8830-ADDA5875677A}" type="presOf" srcId="{773EBA70-9196-4B8B-80FA-E43CAAEC0932}" destId="{6807C035-87E4-4001-A917-D373A95B6B4D}" srcOrd="0" destOrd="0" presId="urn:microsoft.com/office/officeart/2009/layout/CircleArrowProcess"/>
    <dgm:cxn modelId="{EFAE9AF4-406A-4A0C-978F-C0C89FF99192}" srcId="{64592C92-76DD-47FB-8C04-8205843BE1AD}" destId="{B69850AC-D5B8-443A-BEA8-994A4819D970}" srcOrd="0" destOrd="0" parTransId="{6E9CDB3E-92E8-4F59-8D8C-279F69CF2D69}" sibTransId="{02E9E308-A1EF-484B-985E-BCDC5F70A5E3}"/>
    <dgm:cxn modelId="{AD2C778B-56E4-4AE1-BCD4-CFBDD431BE4B}" srcId="{1A5F0C7F-DC96-4FFB-A968-514013D5FDBE}" destId="{64592C92-76DD-47FB-8C04-8205843BE1AD}" srcOrd="1" destOrd="0" parTransId="{BDCB47D6-F7E4-4B16-832B-D748CE01969A}" sibTransId="{9EF3ABF9-2E49-405F-9DD9-D85CBF653E1F}"/>
    <dgm:cxn modelId="{E35EF7FB-1E01-4AC6-BDF7-7AFEA17D1C6C}" type="presOf" srcId="{4474345C-BAE1-4E5A-AB0F-56BDEF280EC1}" destId="{8AB6A3B8-E9F4-4473-A93D-2B74716CC5E6}" srcOrd="0" destOrd="0" presId="urn:microsoft.com/office/officeart/2009/layout/CircleArrowProcess"/>
    <dgm:cxn modelId="{41922808-66DD-499F-B904-22EE07F06C77}" srcId="{1A5F0C7F-DC96-4FFB-A968-514013D5FDBE}" destId="{4474345C-BAE1-4E5A-AB0F-56BDEF280EC1}" srcOrd="0" destOrd="0" parTransId="{0529C8A3-2C57-48C4-990E-7D0498687F37}" sibTransId="{127543F3-D7DD-47B9-973E-856E91D2BEB2}"/>
    <dgm:cxn modelId="{3D15C1E4-16C1-48D5-B12B-492343128CD1}" type="presOf" srcId="{1A5F0C7F-DC96-4FFB-A968-514013D5FDBE}" destId="{F844C7CC-5F2C-4E4F-A9E9-F0B1DCAA1405}" srcOrd="0" destOrd="0" presId="urn:microsoft.com/office/officeart/2009/layout/CircleArrowProcess"/>
    <dgm:cxn modelId="{C46AF541-4730-4EA0-A1BC-1E197277B025}" type="presOf" srcId="{B69850AC-D5B8-443A-BEA8-994A4819D970}" destId="{C6337679-CD93-465B-A3EE-AAA34106E068}" srcOrd="0" destOrd="0" presId="urn:microsoft.com/office/officeart/2009/layout/CircleArrowProcess"/>
    <dgm:cxn modelId="{B3A32BD3-3B64-473B-AEA1-3F3BEC553797}" srcId="{1A5F0C7F-DC96-4FFB-A968-514013D5FDBE}" destId="{29EE08AF-E3A3-45F5-8A18-C454438F0F55}" srcOrd="3" destOrd="0" parTransId="{F48775B0-3072-499F-8820-0AAFEE2688AF}" sibTransId="{80993896-228D-4006-A509-3922575DCF0D}"/>
    <dgm:cxn modelId="{21822C87-0D0F-4AC8-8414-E32A4E6E6440}" type="presOf" srcId="{64592C92-76DD-47FB-8C04-8205843BE1AD}" destId="{6A031835-DC8F-4795-BDEC-345842B4FA16}" srcOrd="0" destOrd="0" presId="urn:microsoft.com/office/officeart/2009/layout/CircleArrowProcess"/>
    <dgm:cxn modelId="{8EE95440-A279-4F59-96F6-C5A0475C84BD}" type="presOf" srcId="{29EE08AF-E3A3-45F5-8A18-C454438F0F55}" destId="{B5C38C14-858F-475B-A82C-DDE7F3821496}" srcOrd="0" destOrd="0" presId="urn:microsoft.com/office/officeart/2009/layout/CircleArrowProcess"/>
    <dgm:cxn modelId="{8A609271-79BB-46D4-8C57-595714EB2AE8}" srcId="{1A5F0C7F-DC96-4FFB-A968-514013D5FDBE}" destId="{773EBA70-9196-4B8B-80FA-E43CAAEC0932}" srcOrd="2" destOrd="0" parTransId="{06BC2A55-08DA-433A-B511-96BF8A8C87DA}" sibTransId="{D38BFD6B-B62C-4949-8EBA-5DCF45094F15}"/>
    <dgm:cxn modelId="{78C63CA4-1543-4D22-B2DC-404182CCF201}" type="presParOf" srcId="{F844C7CC-5F2C-4E4F-A9E9-F0B1DCAA1405}" destId="{93E8806C-0280-40A6-924A-4461C0B7B52F}" srcOrd="0" destOrd="0" presId="urn:microsoft.com/office/officeart/2009/layout/CircleArrowProcess"/>
    <dgm:cxn modelId="{FF77BE0B-81F5-4B53-B448-87F6F0FE8257}" type="presParOf" srcId="{93E8806C-0280-40A6-924A-4461C0B7B52F}" destId="{0A208843-B964-4E76-9695-8D102F234F2A}" srcOrd="0" destOrd="0" presId="urn:microsoft.com/office/officeart/2009/layout/CircleArrowProcess"/>
    <dgm:cxn modelId="{AC66EF94-7ED5-4822-82AB-CAF6C7C791BB}" type="presParOf" srcId="{F844C7CC-5F2C-4E4F-A9E9-F0B1DCAA1405}" destId="{8AB6A3B8-E9F4-4473-A93D-2B74716CC5E6}" srcOrd="1" destOrd="0" presId="urn:microsoft.com/office/officeart/2009/layout/CircleArrowProcess"/>
    <dgm:cxn modelId="{83946FEB-6680-4B09-97C5-FDB323BABDF2}" type="presParOf" srcId="{F844C7CC-5F2C-4E4F-A9E9-F0B1DCAA1405}" destId="{B65BE5CA-4EFE-4302-9954-0B51A81472C5}" srcOrd="2" destOrd="0" presId="urn:microsoft.com/office/officeart/2009/layout/CircleArrowProcess"/>
    <dgm:cxn modelId="{FCCD3015-2541-4285-82A2-7BFCD880E7B8}" type="presParOf" srcId="{B65BE5CA-4EFE-4302-9954-0B51A81472C5}" destId="{36C801B7-4739-47D8-867A-BF955171B5EB}" srcOrd="0" destOrd="0" presId="urn:microsoft.com/office/officeart/2009/layout/CircleArrowProcess"/>
    <dgm:cxn modelId="{72EC7D84-1368-431A-9ED6-64EB12429A23}" type="presParOf" srcId="{F844C7CC-5F2C-4E4F-A9E9-F0B1DCAA1405}" destId="{C6337679-CD93-465B-A3EE-AAA34106E068}" srcOrd="3" destOrd="0" presId="urn:microsoft.com/office/officeart/2009/layout/CircleArrowProcess"/>
    <dgm:cxn modelId="{11A41396-0E96-4C9D-B6C1-4B54C629DFBE}" type="presParOf" srcId="{F844C7CC-5F2C-4E4F-A9E9-F0B1DCAA1405}" destId="{6A031835-DC8F-4795-BDEC-345842B4FA16}" srcOrd="4" destOrd="0" presId="urn:microsoft.com/office/officeart/2009/layout/CircleArrowProcess"/>
    <dgm:cxn modelId="{05D18F57-F247-4837-982A-D388FBDFFC0C}" type="presParOf" srcId="{F844C7CC-5F2C-4E4F-A9E9-F0B1DCAA1405}" destId="{15783D75-E7D1-4571-B9CD-E9C8DB01742E}" srcOrd="5" destOrd="0" presId="urn:microsoft.com/office/officeart/2009/layout/CircleArrowProcess"/>
    <dgm:cxn modelId="{C8682CA5-5D7D-4083-BC13-88B58CC9C607}" type="presParOf" srcId="{15783D75-E7D1-4571-B9CD-E9C8DB01742E}" destId="{15B29E3C-7D35-4113-9990-0327221446AA}" srcOrd="0" destOrd="0" presId="urn:microsoft.com/office/officeart/2009/layout/CircleArrowProcess"/>
    <dgm:cxn modelId="{EF16EE19-33D5-4172-AE22-29BC153958DC}" type="presParOf" srcId="{F844C7CC-5F2C-4E4F-A9E9-F0B1DCAA1405}" destId="{6807C035-87E4-4001-A917-D373A95B6B4D}" srcOrd="6" destOrd="0" presId="urn:microsoft.com/office/officeart/2009/layout/CircleArrowProcess"/>
    <dgm:cxn modelId="{DEE2D71C-ED73-4A58-9524-CB5B57BCD8B2}" type="presParOf" srcId="{F844C7CC-5F2C-4E4F-A9E9-F0B1DCAA1405}" destId="{25730D6F-11DD-4C6D-9894-4A5EE3FF7ADB}" srcOrd="7" destOrd="0" presId="urn:microsoft.com/office/officeart/2009/layout/CircleArrowProcess"/>
    <dgm:cxn modelId="{CA79BE65-8D12-4ADB-A835-C4DABC8D401F}" type="presParOf" srcId="{25730D6F-11DD-4C6D-9894-4A5EE3FF7ADB}" destId="{61834052-4434-4B30-874A-3E70E5A183AA}" srcOrd="0" destOrd="0" presId="urn:microsoft.com/office/officeart/2009/layout/CircleArrowProcess"/>
    <dgm:cxn modelId="{A4F40B47-D96C-4D3B-A680-AA52159279C0}" type="presParOf" srcId="{F844C7CC-5F2C-4E4F-A9E9-F0B1DCAA1405}" destId="{B5C38C14-858F-475B-A82C-DDE7F3821496}" srcOrd="8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08843-B964-4E76-9695-8D102F234F2A}">
      <dsp:nvSpPr>
        <dsp:cNvPr id="0" name=""/>
        <dsp:cNvSpPr/>
      </dsp:nvSpPr>
      <dsp:spPr>
        <a:xfrm>
          <a:off x="996895" y="0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DC2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6A3B8-E9F4-4473-A93D-2B74716CC5E6}">
      <dsp:nvSpPr>
        <dsp:cNvPr id="0" name=""/>
        <dsp:cNvSpPr/>
      </dsp:nvSpPr>
      <dsp:spPr>
        <a:xfrm>
          <a:off x="1461727" y="76216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/>
            <a:t>Expression de besoins 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 et élaboration d’une 1</a:t>
          </a:r>
          <a:r>
            <a:rPr lang="fr-FR" sz="800" b="1" kern="1200" baseline="30000" dirty="0" smtClean="0"/>
            <a:t>ère</a:t>
          </a:r>
          <a:r>
            <a:rPr lang="fr-FR" sz="800" b="1" kern="1200" dirty="0" smtClean="0"/>
            <a:t> série d’indicateurs (Rouen/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)</a:t>
          </a:r>
          <a:endParaRPr lang="fr-FR" sz="800" b="1" kern="1200" dirty="0"/>
        </a:p>
      </dsp:txBody>
      <dsp:txXfrm>
        <a:off x="1461727" y="762164"/>
        <a:ext cx="1174916" cy="587397"/>
      </dsp:txXfrm>
    </dsp:sp>
    <dsp:sp modelId="{36C801B7-4739-47D8-867A-BF955171B5EB}">
      <dsp:nvSpPr>
        <dsp:cNvPr id="0" name=""/>
        <dsp:cNvSpPr/>
      </dsp:nvSpPr>
      <dsp:spPr>
        <a:xfrm>
          <a:off x="412004" y="1209971"/>
          <a:ext cx="2105370" cy="210558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37679-CD93-465B-A3EE-AAA34106E068}">
      <dsp:nvSpPr>
        <dsp:cNvPr id="0" name=""/>
        <dsp:cNvSpPr/>
      </dsp:nvSpPr>
      <dsp:spPr>
        <a:xfrm>
          <a:off x="1389274" y="3002125"/>
          <a:ext cx="1262195" cy="837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800" b="1" kern="1200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kern="1200" dirty="0">
            <a:solidFill>
              <a:schemeClr val="tx1"/>
            </a:solidFill>
            <a:latin typeface="+mn-lt"/>
          </a:endParaRPr>
        </a:p>
      </dsp:txBody>
      <dsp:txXfrm>
        <a:off x="1389274" y="3002125"/>
        <a:ext cx="1262195" cy="837543"/>
      </dsp:txXfrm>
    </dsp:sp>
    <dsp:sp modelId="{6A031835-DC8F-4795-BDEC-345842B4FA16}">
      <dsp:nvSpPr>
        <dsp:cNvPr id="0" name=""/>
        <dsp:cNvSpPr/>
      </dsp:nvSpPr>
      <dsp:spPr>
        <a:xfrm>
          <a:off x="874467" y="197436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>
              <a:solidFill>
                <a:schemeClr val="tx1"/>
              </a:solidFill>
            </a:rPr>
            <a:t>Choix et priorisation des indicateurs en GT</a:t>
          </a:r>
          <a:endParaRPr lang="fr-FR" sz="800" b="1" kern="1200" dirty="0">
            <a:solidFill>
              <a:schemeClr val="tx1"/>
            </a:solidFill>
          </a:endParaRPr>
        </a:p>
      </dsp:txBody>
      <dsp:txXfrm>
        <a:off x="874467" y="1974369"/>
        <a:ext cx="1174916" cy="587397"/>
      </dsp:txXfrm>
    </dsp:sp>
    <dsp:sp modelId="{15B29E3C-7D35-4113-9990-0327221446AA}">
      <dsp:nvSpPr>
        <dsp:cNvPr id="0" name=""/>
        <dsp:cNvSpPr/>
      </dsp:nvSpPr>
      <dsp:spPr>
        <a:xfrm>
          <a:off x="996895" y="2424409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7C035-87E4-4001-A917-D373A95B6B4D}">
      <dsp:nvSpPr>
        <dsp:cNvPr id="0" name=""/>
        <dsp:cNvSpPr/>
      </dsp:nvSpPr>
      <dsp:spPr>
        <a:xfrm>
          <a:off x="1461727" y="318657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800" kern="1200"/>
        </a:p>
      </dsp:txBody>
      <dsp:txXfrm>
        <a:off x="1461727" y="3186574"/>
        <a:ext cx="1174916" cy="587397"/>
      </dsp:txXfrm>
    </dsp:sp>
    <dsp:sp modelId="{61834052-4434-4B30-874A-3E70E5A183AA}">
      <dsp:nvSpPr>
        <dsp:cNvPr id="0" name=""/>
        <dsp:cNvSpPr/>
      </dsp:nvSpPr>
      <dsp:spPr>
        <a:xfrm>
          <a:off x="562077" y="3773972"/>
          <a:ext cx="1808778" cy="180965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38C14-858F-475B-A82C-DDE7F3821496}">
      <dsp:nvSpPr>
        <dsp:cNvPr id="0" name=""/>
        <dsp:cNvSpPr/>
      </dsp:nvSpPr>
      <dsp:spPr>
        <a:xfrm>
          <a:off x="874467" y="439877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kern="1200" dirty="0" smtClean="0"/>
            <a:t>Deuxième vague d’indicateurs</a:t>
          </a:r>
          <a:endParaRPr lang="fr-FR" sz="800" b="1" kern="1200" dirty="0"/>
        </a:p>
      </dsp:txBody>
      <dsp:txXfrm>
        <a:off x="874467" y="4398779"/>
        <a:ext cx="1174916" cy="5873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0FD45-1F7B-4E62-AE17-36041A3363A9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1D96-2BC8-41DA-B0AB-7704B73D61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95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93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76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5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2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65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48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14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36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2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71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4291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889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49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graphicFrame>
        <p:nvGraphicFramePr>
          <p:cNvPr id="4" name="Graphique 3"/>
          <p:cNvGraphicFramePr/>
          <p:nvPr userDrawn="1">
            <p:extLst/>
          </p:nvPr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28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EC69-96B3-4BFA-99CA-EAE663A7833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4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/>
              <a:t>Titre de la </a:t>
            </a:r>
            <a:r>
              <a:rPr lang="fr-FR" dirty="0" err="1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rgbClr val="4D4D4F"/>
                </a:solidFill>
              </a:rPr>
              <a:pPr algn="r"/>
              <a:t>‹N°›</a:t>
            </a:fld>
            <a:endParaRPr lang="fr-FR" sz="750" b="1" dirty="0">
              <a:solidFill>
                <a:srgbClr val="4D4D4F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9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5" y="2020796"/>
            <a:ext cx="12003175" cy="249589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567" y="38870837"/>
            <a:ext cx="3402153" cy="7137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391" y="236269"/>
            <a:ext cx="2892414" cy="60709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47" y="5544590"/>
            <a:ext cx="1526343" cy="86101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254" y="5802837"/>
            <a:ext cx="2621513" cy="5600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499" y="5665996"/>
            <a:ext cx="1496447" cy="74568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2704" y="5587980"/>
            <a:ext cx="1657180" cy="84837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740" y="5616169"/>
            <a:ext cx="918374" cy="76531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22" y="1187777"/>
            <a:ext cx="6495068" cy="173037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554664" y="4336329"/>
            <a:ext cx="722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2060"/>
                </a:solidFill>
              </a:rPr>
              <a:t>Présentation du GT Résistance </a:t>
            </a:r>
            <a:r>
              <a:rPr lang="fr-FR" dirty="0" smtClean="0">
                <a:solidFill>
                  <a:srgbClr val="002060"/>
                </a:solidFill>
              </a:rPr>
              <a:t>Bactérienne aux Antibiotiques – </a:t>
            </a:r>
            <a:r>
              <a:rPr lang="fr-FR" dirty="0" smtClean="0">
                <a:solidFill>
                  <a:srgbClr val="002060"/>
                </a:solidFill>
              </a:rPr>
              <a:t>28 </a:t>
            </a:r>
            <a:r>
              <a:rPr lang="fr-FR" dirty="0" smtClean="0">
                <a:solidFill>
                  <a:srgbClr val="002060"/>
                </a:solidFill>
              </a:rPr>
              <a:t>juin 2025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2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PRESENTATION GT RATB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63509" y="1474044"/>
            <a:ext cx="11560629" cy="393954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>
              <a:buClr>
                <a:srgbClr val="DC246A"/>
              </a:buClr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 </a:t>
            </a:r>
            <a:r>
              <a:rPr lang="fr-FR" sz="1600" noProof="0" dirty="0" smtClean="0">
                <a:cs typeface="Arial" panose="020B0604020202020204" pitchFamily="34" charset="0"/>
              </a:rPr>
              <a:t>projet ORCHIDEE : organisation, objectifs et méthodologie de </a:t>
            </a:r>
            <a:r>
              <a:rPr lang="fr-FR" sz="1600" noProof="0" dirty="0" smtClean="0">
                <a:cs typeface="Arial" panose="020B0604020202020204" pitchFamily="34" charset="0"/>
              </a:rPr>
              <a:t>travail</a:t>
            </a:r>
          </a:p>
          <a:p>
            <a:pPr>
              <a:buClr>
                <a:srgbClr val="DC246A"/>
              </a:buClr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>
              <a:buClr>
                <a:srgbClr val="DC246A"/>
              </a:buClr>
              <a:defRPr/>
            </a:pPr>
            <a:r>
              <a:rPr lang="fr-FR" sz="1600" dirty="0" smtClean="0">
                <a:cs typeface="Arial" panose="020B0604020202020204" pitchFamily="34" charset="0"/>
              </a:rPr>
              <a:t>Composition </a:t>
            </a:r>
            <a:r>
              <a:rPr lang="fr-FR" sz="1600" dirty="0">
                <a:cs typeface="Arial" panose="020B0604020202020204" pitchFamily="34" charset="0"/>
              </a:rPr>
              <a:t>du </a:t>
            </a:r>
            <a:r>
              <a:rPr lang="fr-FR" sz="1600" dirty="0" smtClean="0">
                <a:cs typeface="Arial" panose="020B0604020202020204" pitchFamily="34" charset="0"/>
              </a:rPr>
              <a:t>GT</a:t>
            </a:r>
          </a:p>
          <a:p>
            <a:pPr>
              <a:buClr>
                <a:srgbClr val="DC246A"/>
              </a:buClr>
              <a:defRPr/>
            </a:pPr>
            <a:endParaRPr lang="fr-FR" sz="1600" dirty="0" smtClean="0">
              <a:cs typeface="Arial" panose="020B0604020202020204" pitchFamily="34" charset="0"/>
            </a:endParaRPr>
          </a:p>
          <a:p>
            <a:pPr>
              <a:buClr>
                <a:srgbClr val="DC246A"/>
              </a:buClr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</a:t>
            </a:r>
            <a:r>
              <a:rPr lang="fr-FR" sz="1600" dirty="0">
                <a:cs typeface="Arial" panose="020B0604020202020204" pitchFamily="34" charset="0"/>
              </a:rPr>
              <a:t>CONSOMMATION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Le </a:t>
            </a:r>
            <a:r>
              <a:rPr lang="fr-FR" sz="1600" dirty="0" smtClean="0">
                <a:cs typeface="Arial" panose="020B0604020202020204" pitchFamily="34" charset="0"/>
              </a:rPr>
              <a:t>cadre 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Les besoins côté Santé Publique 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Travaux </a:t>
            </a:r>
            <a:r>
              <a:rPr lang="fr-FR" sz="1600" dirty="0" smtClean="0">
                <a:cs typeface="Arial" panose="020B0604020202020204" pitchFamily="34" charset="0"/>
              </a:rPr>
              <a:t>préliminaires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r>
              <a:rPr lang="fr-FR" sz="1600" dirty="0" smtClean="0">
                <a:cs typeface="Arial" panose="020B0604020202020204" pitchFamily="34" charset="0"/>
              </a:rPr>
              <a:t> CHU de </a:t>
            </a:r>
            <a:r>
              <a:rPr lang="fr-FR" sz="1600" dirty="0" smtClean="0">
                <a:cs typeface="Arial" panose="020B0604020202020204" pitchFamily="34" charset="0"/>
              </a:rPr>
              <a:t>Rouen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Conclusion et prochaines étapes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noProof="0" dirty="0">
              <a:cs typeface="Arial" panose="020B0604020202020204" pitchFamily="34" charset="0"/>
            </a:endParaRPr>
          </a:p>
          <a:p>
            <a:pPr lvl="0">
              <a:buClr>
                <a:srgbClr val="DC246A"/>
              </a:buClr>
              <a:defRPr/>
            </a:pPr>
            <a:r>
              <a:rPr lang="fr-FR" sz="1600" dirty="0">
                <a:cs typeface="Arial" panose="020B0604020202020204" pitchFamily="34" charset="0"/>
              </a:rPr>
              <a:t>Indicateur RESISTANCE BACTERIENNE AUX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cadre 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Les besoins côté Santé Publique 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Travaux préliminaires </a:t>
            </a:r>
            <a:r>
              <a:rPr lang="fr-FR" sz="1600" dirty="0" err="1">
                <a:cs typeface="Arial" panose="020B0604020202020204" pitchFamily="34" charset="0"/>
              </a:rPr>
              <a:t>EDSaN</a:t>
            </a:r>
            <a:r>
              <a:rPr lang="fr-FR" sz="1600" dirty="0">
                <a:cs typeface="Arial" panose="020B0604020202020204" pitchFamily="34" charset="0"/>
              </a:rPr>
              <a:t> CHU de </a:t>
            </a:r>
            <a:r>
              <a:rPr lang="fr-FR" sz="1600" dirty="0" smtClean="0">
                <a:cs typeface="Arial" panose="020B0604020202020204" pitchFamily="34" charset="0"/>
              </a:rPr>
              <a:t>Rouen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Conclusion </a:t>
            </a:r>
            <a:r>
              <a:rPr lang="fr-FR" sz="1600" dirty="0">
                <a:cs typeface="Arial" panose="020B0604020202020204" pitchFamily="34" charset="0"/>
              </a:rPr>
              <a:t>et prochaines étapes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23" y="1305100"/>
            <a:ext cx="10534439" cy="5164358"/>
          </a:xfrm>
          <a:prstGeom prst="rect">
            <a:avLst/>
          </a:prstGeom>
        </p:spPr>
      </p:pic>
      <p:sp>
        <p:nvSpPr>
          <p:cNvPr id="7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78451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CONSORTIUM DE 29 PARTENAIRES DONT 25 CHU (EDSH)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7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OBJECTIFS DU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RESEAU DE SURVEILLANCE VIA LES EDSH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01216" y="1492898"/>
            <a:ext cx="11560629" cy="409342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Elaboration d’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indicateurs épidémiologiques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par les hôpitaux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à partir des données des EDSH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pour transmission à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SpF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Sur des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thématiques prioritaires d’intérêt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respiratoires aigues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bactériennes sévères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Antibiorésistance</a:t>
            </a:r>
            <a:endParaRPr kumimoji="0" lang="fr-FR" sz="16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Arboviroses et maladies vectorielles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liées aux soins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Dans une temporalité réactive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et adaptée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Avec une granularité, d’indicateurs simples et disponibles partout à des indicateurs plus complexes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(+ grande diversité de données), plus réactifs ou plus spécifiques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Robustes et de qualité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avec un objectif d’amélioration de la précision et du rappel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37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70138"/>
            <a:ext cx="836260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itre 4"/>
          <p:cNvSpPr txBox="1">
            <a:spLocks/>
          </p:cNvSpPr>
          <p:nvPr/>
        </p:nvSpPr>
        <p:spPr>
          <a:xfrm>
            <a:off x="58189" y="399630"/>
            <a:ext cx="849560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 DES INDICATEURS ORCHIDEE - METHODOLOGIE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7328" y="2356584"/>
            <a:ext cx="61806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Objectif =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développer d’ici septembre 2028, un algorithme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pour extraire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des indicateurs de suivi à partir des réseaux existants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, en utilisant les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données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des EDSH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pour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mettre en place un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suivi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automatisé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avec une réactivité aiguë et adaptable aux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émergences.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DC246A"/>
              </a:solidFill>
              <a:effectLst/>
              <a:uLnTx/>
              <a:uFillTx/>
            </a:endParaRP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3725101924"/>
              </p:ext>
            </p:extLst>
          </p:nvPr>
        </p:nvGraphicFramePr>
        <p:xfrm>
          <a:off x="6734753" y="1129085"/>
          <a:ext cx="4198289" cy="558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8625719" y="15960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8025275" y="2876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8533797" y="39719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034190" y="5197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3" y="3911108"/>
            <a:ext cx="2043696" cy="28007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8737" y="4062953"/>
            <a:ext cx="1855641" cy="253557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694" y="3964780"/>
            <a:ext cx="1907057" cy="26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7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11949"/>
            <a:ext cx="989214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CADRE DE SURVEILLANCE EPIDEMIOLOGIQUE NATIONAL &amp; EUROPEEN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1366345"/>
            <a:ext cx="3785085" cy="53528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37" y="1395167"/>
            <a:ext cx="3507812" cy="50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0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COMPOSITION GT RATB AU 16/06/2025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7028"/>
              </p:ext>
            </p:extLst>
          </p:nvPr>
        </p:nvGraphicFramePr>
        <p:xfrm>
          <a:off x="0" y="1668545"/>
          <a:ext cx="6513922" cy="444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" name="Feuille de calcul" r:id="rId3" imgW="11268075" imgH="7696200" progId="Excel.Sheet.12">
                  <p:embed/>
                </p:oleObj>
              </mc:Choice>
              <mc:Fallback>
                <p:oleObj name="Feuille de calcul" r:id="rId3" imgW="11268075" imgH="7696200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668545"/>
                        <a:ext cx="6513922" cy="4449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892503"/>
              </p:ext>
            </p:extLst>
          </p:nvPr>
        </p:nvGraphicFramePr>
        <p:xfrm>
          <a:off x="6337282" y="1668544"/>
          <a:ext cx="5854718" cy="445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" name="Feuille de calcul" r:id="rId5" imgW="11268075" imgH="8582025" progId="Excel.Sheet.12">
                  <p:embed/>
                </p:oleObj>
              </mc:Choice>
              <mc:Fallback>
                <p:oleObj name="Feuille de calcul" r:id="rId5" imgW="11268075" imgH="8582025" progId="Excel.Sheet.12">
                  <p:embed/>
                  <p:pic>
                    <p:nvPicPr>
                      <p:cNvPr id="11" name="Obje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7282" y="1668544"/>
                        <a:ext cx="5854718" cy="4459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436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CONSOMMATION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60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Objectifs </a:t>
            </a:r>
          </a:p>
          <a:p>
            <a:pPr marL="0" indent="0" algn="just">
              <a:buClr>
                <a:srgbClr val="FF0066"/>
              </a:buClr>
              <a:buNone/>
            </a:pPr>
            <a:endParaRPr lang="fr-FR" sz="2400" dirty="0" smtClean="0"/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Expression des besoins rédigée par Santé Publique France </a:t>
            </a:r>
          </a:p>
          <a:p>
            <a:pPr marL="0" indent="0" algn="just">
              <a:buNone/>
            </a:pPr>
            <a:r>
              <a:rPr lang="fr-FR" sz="2400" dirty="0" smtClean="0"/>
              <a:t>Vers une exploitation renforcée des donnée des EDS pour le calcul et le suivi des indicateurs de santé, en lien avec ses missions de surveillance épidémiologiques</a:t>
            </a:r>
            <a:endParaRPr lang="fr-FR" sz="2400" b="0" cap="none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Exprime une liste de souhaits ambitieuse pour la surveillance de la part de l’agence.</a:t>
            </a:r>
          </a:p>
          <a:p>
            <a:pPr marL="0" indent="0" algn="just">
              <a:buNone/>
            </a:pPr>
            <a:endParaRPr lang="fr-FR" sz="2400" b="0" cap="none" dirty="0">
              <a:solidFill>
                <a:schemeClr val="tx1"/>
              </a:solidFill>
            </a:endParaRPr>
          </a:p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Pour quelles perspectives</a:t>
            </a:r>
          </a:p>
          <a:p>
            <a:pPr algn="just"/>
            <a:r>
              <a:rPr lang="fr-FR" sz="2400" b="0" cap="none" dirty="0">
                <a:solidFill>
                  <a:schemeClr val="tx1"/>
                </a:solidFill>
              </a:rPr>
              <a:t>D</a:t>
            </a:r>
            <a:r>
              <a:rPr lang="fr-FR" sz="2400" b="0" cap="none" dirty="0" smtClean="0">
                <a:solidFill>
                  <a:schemeClr val="tx1"/>
                </a:solidFill>
              </a:rPr>
              <a:t>es objectifs à court terme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moyen terme 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long terme </a:t>
            </a:r>
          </a:p>
          <a:p>
            <a:pPr algn="just"/>
            <a:endParaRPr lang="fr-FR" sz="2400" b="0" cap="none" dirty="0" smtClean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5881" y="4633711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Complexité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40121" y="4617845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Priorité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>
            <a:off x="5018576" y="4576281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flipV="1">
            <a:off x="7426567" y="4622126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55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- </a:t>
            </a:r>
            <a:r>
              <a:rPr lang="fr-FR" sz="2800" dirty="0"/>
              <a:t>objectifs à court terme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153345" y="1455265"/>
            <a:ext cx="11574198" cy="5370408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1" i="0" u="none" strike="noStrike" kern="1200" cap="none" spc="0" normalizeH="0" baseline="0" noProof="0" dirty="0" smtClean="0">
              <a:ln>
                <a:noFill/>
              </a:ln>
              <a:solidFill>
                <a:srgbClr val="E3005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 smtClean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Consommation globale d’antibiotiques, à travers les indicateurs suivants: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Délivrance :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 exprimée en nombre de doses définies journalières (DDJ) pour 1 000 journées d’hospitalisation (JH), ce qui permet de quantifier précisément les volumes d'antibiotiques utilisés.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srgbClr val="37373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Prescriptions :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Elles correspondent aux antibiotiques prescrits par les professionnels de santé pour les patients. Ces données reflètent les choix thérapeutiques et les pratiques médicales. La prescription est exprimée en DDJ / 1 000 JH et en nombre de prescription pour 1 000 journées d'hospitalisation (JH), ce qui permet d’évaluer la fréquence avec laquelle les antibiotiques sont prescrits.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all" spc="0" normalizeH="0" baseline="0" noProof="0" dirty="0" smtClean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 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Administration :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L’administration correspond aux antibiotiques réellement administrés aux patients. C’est l’indicateur le plus proche de ce que consomme réellement le patient. Elle est exprimée en DDJ / 1 000 JH. 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97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- </a:t>
            </a:r>
            <a:r>
              <a:rPr lang="fr-FR" sz="2400" dirty="0"/>
              <a:t>objectifs à court </a:t>
            </a:r>
            <a:r>
              <a:rPr lang="fr-FR" sz="2400" dirty="0" smtClean="0"/>
              <a:t>terme</a:t>
            </a:r>
            <a:endParaRPr lang="fr-FR" sz="24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101600" y="1703061"/>
            <a:ext cx="11076358" cy="4886423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Nombre de patients ayant reçu au moins un ATB par 1000/JH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Part des antibiotiques à large spectre : telles que les céphalosporines de 3e et 4e générations, l'association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pipéracilline-tazobactam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carbapénèmes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fluoroquinolones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glycopeptides</a:t>
            </a:r>
            <a:r>
              <a:rPr lang="fr-FR" sz="1600" b="0" cap="none" dirty="0" smtClean="0">
                <a:solidFill>
                  <a:srgbClr val="373739"/>
                </a:solidFill>
              </a:rPr>
              <a:t>, le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linézolide</a:t>
            </a:r>
            <a:r>
              <a:rPr lang="fr-FR" sz="1600" b="0" cap="none" dirty="0" smtClean="0">
                <a:solidFill>
                  <a:srgbClr val="373739"/>
                </a:solidFill>
              </a:rPr>
              <a:t>, la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daptomycine</a:t>
            </a:r>
            <a:r>
              <a:rPr lang="fr-FR" sz="1600" b="0" cap="none" dirty="0" smtClean="0">
                <a:solidFill>
                  <a:srgbClr val="373739"/>
                </a:solidFill>
              </a:rPr>
              <a:t> et la colistine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La consommation des antibiotiques critiques (la liste de la SPILF)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L'évolution temporelle de la consommation sur 10 ans (si possible), exprimée en DDJ/1000 JH.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Evolution mensuelle de la consommation des ATB, exprimée en DDJ/ 1000 JH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Durées moyenne et médiane de traitements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Contexte de prescriptions (prophylactique/ curatif)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Indication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rgbClr val="373739"/>
                </a:solidFill>
              </a:rPr>
              <a:t>Regroupement par classe ATC, et individualisation de certains médicaments, ATB large spectre, nouvelles molécules. La liste sera fournie par la suite après discussion au sein du groupe de travail. </a:t>
            </a:r>
            <a:endParaRPr lang="fr-FR" sz="1600" b="0" cap="none" dirty="0">
              <a:solidFill>
                <a:srgbClr val="3737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6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6189133" cy="5370408"/>
          </a:xfrm>
          <a:prstGeom prst="rect">
            <a:avLst/>
          </a:prstGeo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sz="16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1600" b="1" cap="none" dirty="0">
                <a:solidFill>
                  <a:srgbClr val="FF0066"/>
                </a:solidFill>
              </a:rPr>
              <a:t>par : </a:t>
            </a:r>
            <a:endParaRPr lang="fr-FR" sz="1600" b="1" cap="none" dirty="0" smtClean="0">
              <a:solidFill>
                <a:srgbClr val="FF0066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sexe,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âge,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Spécialité du prescripteur (si possible),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Service du patient = Secteur d’activité clinique (réanimation, hématologie, maladies infectieuses, psychiatrie, soins de longue durée, gynécologie-obstétrique, etc.) </a:t>
            </a: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Code </a:t>
            </a:r>
            <a:r>
              <a:rPr lang="fr-FR" sz="1600" b="0" cap="none" dirty="0">
                <a:solidFill>
                  <a:schemeClr val="tx1"/>
                </a:solidFill>
              </a:rPr>
              <a:t>ATC  (</a:t>
            </a:r>
            <a:r>
              <a:rPr lang="fr-FR" sz="1600" b="0" cap="none" dirty="0" err="1">
                <a:solidFill>
                  <a:schemeClr val="tx1"/>
                </a:solidFill>
              </a:rPr>
              <a:t>Anatomical</a:t>
            </a:r>
            <a:r>
              <a:rPr lang="fr-FR" sz="1600" b="0" cap="none" dirty="0">
                <a:solidFill>
                  <a:schemeClr val="tx1"/>
                </a:solidFill>
              </a:rPr>
              <a:t> </a:t>
            </a:r>
            <a:r>
              <a:rPr lang="fr-FR" sz="1600" b="0" cap="none" dirty="0" err="1">
                <a:solidFill>
                  <a:schemeClr val="tx1"/>
                </a:solidFill>
              </a:rPr>
              <a:t>Therapeutic</a:t>
            </a:r>
            <a:r>
              <a:rPr lang="fr-FR" sz="1600" b="0" cap="none" dirty="0">
                <a:solidFill>
                  <a:schemeClr val="tx1"/>
                </a:solidFill>
              </a:rPr>
              <a:t> Chemical) 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Code </a:t>
            </a:r>
            <a:r>
              <a:rPr lang="fr-FR" sz="1600" b="0" cap="none" dirty="0" smtClean="0">
                <a:solidFill>
                  <a:schemeClr val="tx1"/>
                </a:solidFill>
              </a:rPr>
              <a:t>UCD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Durée </a:t>
            </a:r>
            <a:r>
              <a:rPr lang="fr-FR" sz="1600" b="0" cap="none" dirty="0">
                <a:solidFill>
                  <a:schemeClr val="tx1"/>
                </a:solidFill>
              </a:rPr>
              <a:t>de prescription / administration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Date de prescription / administration (par mois)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Voie d’administration,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établissement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département de l’établissement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7114530" y="2372902"/>
            <a:ext cx="4697460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b="0" cap="none" dirty="0" smtClean="0">
                <a:solidFill>
                  <a:schemeClr val="tx1"/>
                </a:solidFill>
              </a:rPr>
              <a:t>Temporalité : indicateurs annuels</a:t>
            </a:r>
          </a:p>
          <a:p>
            <a:pPr algn="just"/>
            <a:endParaRPr lang="fr-FR" sz="100" b="0" cap="none" dirty="0" smtClean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600" b="0" i="1" cap="none" dirty="0" smtClean="0">
                <a:solidFill>
                  <a:schemeClr val="tx1"/>
                </a:solidFill>
              </a:rPr>
              <a:t>mais avec déclinaison / stratification trimestrielle ou mensuelle</a:t>
            </a:r>
            <a:endParaRPr lang="fr-FR" sz="16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8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254946" y="1543405"/>
            <a:ext cx="10081120" cy="48245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z="1600" cap="none" dirty="0" smtClean="0">
                <a:solidFill>
                  <a:srgbClr val="FF0066"/>
                </a:solidFill>
              </a:rPr>
              <a:t>Dispensation, Prescriptions et Administrations </a:t>
            </a:r>
            <a:r>
              <a:rPr lang="fr-FR" sz="1600" b="0" cap="none" dirty="0" smtClean="0">
                <a:solidFill>
                  <a:srgbClr val="373739"/>
                </a:solidFill>
              </a:rPr>
              <a:t>ciblées sur certaines molécules  spécifiques comme les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carbapénèmes</a:t>
            </a:r>
            <a:r>
              <a:rPr lang="fr-FR" sz="1600" b="0" cap="none" dirty="0" smtClean="0">
                <a:solidFill>
                  <a:srgbClr val="373739"/>
                </a:solidFill>
              </a:rPr>
              <a:t> ou la colistine, souvent utilisées en dernier recours. Indicateur </a:t>
            </a:r>
            <a:r>
              <a:rPr lang="fr-FR" sz="1600" b="0" cap="none" dirty="0" err="1" smtClean="0">
                <a:solidFill>
                  <a:srgbClr val="373739"/>
                </a:solidFill>
              </a:rPr>
              <a:t>aware</a:t>
            </a:r>
            <a:r>
              <a:rPr lang="fr-FR" sz="1600" b="0" cap="none" dirty="0" smtClean="0">
                <a:solidFill>
                  <a:srgbClr val="373739"/>
                </a:solidFill>
              </a:rPr>
              <a:t> (lien)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Indicateurs de tendances temporelles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analyse de l'évolution des consommations dans le temps, par mois afin d’identifier les variations saisonnières ou les effets des actions de prévention.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Comparaison entre établissements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utilisation d’indicateurs standardisés pour comparer les consommations entre établissements de santé de taille ou de spécialisation similaire.</a:t>
            </a:r>
          </a:p>
          <a:p>
            <a:pPr lvl="0"/>
            <a:r>
              <a:rPr lang="fr-FR" sz="1600" dirty="0">
                <a:solidFill>
                  <a:srgbClr val="FF0066"/>
                </a:solidFill>
              </a:rPr>
              <a:t>Indicateurs liés aux recommandations et aux bonnes pratiques : </a:t>
            </a:r>
            <a:r>
              <a:rPr lang="fr-FR" sz="1600" b="0" cap="none" dirty="0" smtClean="0">
                <a:solidFill>
                  <a:srgbClr val="373739"/>
                </a:solidFill>
              </a:rPr>
              <a:t>par exemple, le respect des durées de traitement recommandées ou l’adéquation entre l’indication clinique et le choix de l’antibiotique (indicateurs à détailler prochainement) : </a:t>
            </a:r>
          </a:p>
          <a:p>
            <a:pPr marL="742950" lvl="1" indent="-285750"/>
            <a:r>
              <a:rPr lang="fr-FR" sz="1600" dirty="0">
                <a:solidFill>
                  <a:srgbClr val="373739"/>
                </a:solidFill>
              </a:rPr>
              <a:t>La posologie adaptée</a:t>
            </a:r>
          </a:p>
          <a:p>
            <a:pPr marL="742950" lvl="1" indent="-285750"/>
            <a:r>
              <a:rPr lang="fr-FR" sz="1600" dirty="0">
                <a:solidFill>
                  <a:srgbClr val="373739"/>
                </a:solidFill>
              </a:rPr>
              <a:t>Le choix de la molécule </a:t>
            </a:r>
          </a:p>
          <a:p>
            <a:pPr marL="742950" lvl="1" indent="-285750"/>
            <a:r>
              <a:rPr lang="fr-FR" sz="1600" dirty="0" smtClean="0">
                <a:solidFill>
                  <a:srgbClr val="373739"/>
                </a:solidFill>
              </a:rPr>
              <a:t>Pourcentage des traitements antibiotiques avec durée conforme au référentiel local, (national ? pour une comparabilité entre établissements) </a:t>
            </a:r>
          </a:p>
          <a:p>
            <a:pPr marL="742950" lvl="1" indent="-285750"/>
            <a:r>
              <a:rPr lang="fr-FR" sz="1600" dirty="0" smtClean="0">
                <a:solidFill>
                  <a:srgbClr val="373739"/>
                </a:solidFill>
              </a:rPr>
              <a:t>Pourcentage de traitements réévalués à J3, à J7</a:t>
            </a:r>
          </a:p>
          <a:p>
            <a:pPr lvl="0"/>
            <a:r>
              <a:rPr lang="fr-FR" sz="1600" cap="none" dirty="0" smtClean="0">
                <a:solidFill>
                  <a:srgbClr val="FF0066"/>
                </a:solidFill>
              </a:rPr>
              <a:t>Cibler les nouveaux médicaments </a:t>
            </a:r>
            <a:r>
              <a:rPr lang="fr-FR" sz="1600" b="0" cap="none" dirty="0" smtClean="0">
                <a:solidFill>
                  <a:srgbClr val="FF0066"/>
                </a:solidFill>
              </a:rPr>
              <a:t>: </a:t>
            </a:r>
            <a:r>
              <a:rPr lang="fr-FR" sz="1600" b="0" cap="none" dirty="0" smtClean="0">
                <a:solidFill>
                  <a:srgbClr val="373739"/>
                </a:solidFill>
              </a:rPr>
              <a:t>Actualiser aux nouveaux médicaments mis sur le marché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5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Objectifs à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6189133" cy="5370408"/>
          </a:xfrm>
          <a:prstGeom prst="rect">
            <a:avLst/>
          </a:prstGeo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fr-FR" sz="16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1600" b="1" cap="none" dirty="0">
                <a:solidFill>
                  <a:srgbClr val="FF0066"/>
                </a:solidFill>
              </a:rPr>
              <a:t>par : </a:t>
            </a:r>
            <a:endParaRPr lang="fr-FR" sz="1600" b="1" cap="none" dirty="0" smtClean="0">
              <a:solidFill>
                <a:srgbClr val="FF0066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sexe,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âge,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Spécialité du prescripteur (si possible),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Service du patient = Secteur d’activité clinique (réanimation, hématologie, maladies infectieuses, psychiatrie, soins de longue durée, gynécologie-obstétrique, etc.) </a:t>
            </a: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 smtClean="0">
                <a:solidFill>
                  <a:schemeClr val="tx1"/>
                </a:solidFill>
              </a:rPr>
              <a:t>Code </a:t>
            </a:r>
            <a:r>
              <a:rPr lang="fr-FR" sz="1600" b="0" cap="none" dirty="0">
                <a:solidFill>
                  <a:schemeClr val="tx1"/>
                </a:solidFill>
              </a:rPr>
              <a:t>ATC  (</a:t>
            </a:r>
            <a:r>
              <a:rPr lang="fr-FR" sz="1600" b="0" cap="none" dirty="0" err="1">
                <a:solidFill>
                  <a:schemeClr val="tx1"/>
                </a:solidFill>
              </a:rPr>
              <a:t>Anatomical</a:t>
            </a:r>
            <a:r>
              <a:rPr lang="fr-FR" sz="1600" b="0" cap="none" dirty="0">
                <a:solidFill>
                  <a:schemeClr val="tx1"/>
                </a:solidFill>
              </a:rPr>
              <a:t> </a:t>
            </a:r>
            <a:r>
              <a:rPr lang="fr-FR" sz="1600" b="0" cap="none" dirty="0" err="1">
                <a:solidFill>
                  <a:schemeClr val="tx1"/>
                </a:solidFill>
              </a:rPr>
              <a:t>Therapeutic</a:t>
            </a:r>
            <a:r>
              <a:rPr lang="fr-FR" sz="1600" b="0" cap="none" dirty="0">
                <a:solidFill>
                  <a:schemeClr val="tx1"/>
                </a:solidFill>
              </a:rPr>
              <a:t> Chemical) 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Code CIP 13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Durée de prescription / administration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Date de prescription / administration (par mois)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Voie d’administration,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établissement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sz="1600" b="0" cap="none" dirty="0">
                <a:solidFill>
                  <a:schemeClr val="tx1"/>
                </a:solidFill>
              </a:rPr>
              <a:t>Par département de l’établissement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7114530" y="2372902"/>
            <a:ext cx="4697460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b="0" cap="none" dirty="0" smtClean="0">
                <a:solidFill>
                  <a:schemeClr val="tx1"/>
                </a:solidFill>
              </a:rPr>
              <a:t>Temporalité : indicateurs annuels</a:t>
            </a:r>
            <a:endParaRPr lang="fr-FR" sz="1600" b="0" cap="none" dirty="0">
              <a:solidFill>
                <a:schemeClr val="tx1"/>
              </a:solidFill>
            </a:endParaRPr>
          </a:p>
          <a:p>
            <a:pPr algn="just"/>
            <a:endParaRPr lang="fr-FR" sz="100" b="0" cap="none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fr-FR" sz="1600" b="0" i="1" cap="none" dirty="0" smtClean="0">
                <a:solidFill>
                  <a:schemeClr val="tx1"/>
                </a:solidFill>
              </a:rPr>
              <a:t>mais avec déclinaison / stratification trimestrielle ou mensuelle</a:t>
            </a:r>
            <a:endParaRPr lang="fr-FR" sz="16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89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 – METHODOLOGIE D’EXTRACTION A PARTIR D’UN EDS VS GOLD STANDARD METHODOLOGIE SPARES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29370" y="2520562"/>
            <a:ext cx="10638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</a:t>
            </a:r>
            <a:r>
              <a:rPr lang="fr-FR" b="1" dirty="0" err="1" smtClean="0"/>
              <a:t>éthodo</a:t>
            </a:r>
            <a:r>
              <a:rPr lang="fr-FR" b="1" dirty="0" smtClean="0"/>
              <a:t> </a:t>
            </a:r>
            <a:r>
              <a:rPr lang="fr-FR" b="1" dirty="0"/>
              <a:t>comparative de la 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de délivrance </a:t>
            </a:r>
            <a:r>
              <a:rPr lang="fr-FR" b="1" dirty="0"/>
              <a:t>par la mission SPARES </a:t>
            </a:r>
            <a:endParaRPr lang="fr-FR" b="1" dirty="0" smtClean="0"/>
          </a:p>
          <a:p>
            <a:r>
              <a:rPr lang="fr-FR" b="1" dirty="0" smtClean="0"/>
              <a:t>(</a:t>
            </a:r>
            <a:r>
              <a:rPr lang="fr-FR" b="1" dirty="0"/>
              <a:t>pilotée par </a:t>
            </a:r>
            <a:r>
              <a:rPr lang="fr-FR" b="1" dirty="0" err="1"/>
              <a:t>SpF</a:t>
            </a:r>
            <a:r>
              <a:rPr lang="fr-FR" b="1" dirty="0"/>
              <a:t> et les </a:t>
            </a:r>
            <a:r>
              <a:rPr lang="fr-FR" b="1" dirty="0" err="1"/>
              <a:t>CRAtb</a:t>
            </a:r>
            <a:r>
              <a:rPr lang="fr-FR" b="1" dirty="0"/>
              <a:t>) </a:t>
            </a:r>
            <a:endParaRPr lang="fr-FR" b="1" dirty="0" smtClean="0"/>
          </a:p>
          <a:p>
            <a:endParaRPr lang="fr-FR" b="1" dirty="0"/>
          </a:p>
          <a:p>
            <a:pPr algn="ctr"/>
            <a:r>
              <a:rPr lang="fr-FR" b="1" dirty="0" smtClean="0"/>
              <a:t>vs </a:t>
            </a:r>
          </a:p>
          <a:p>
            <a:endParaRPr lang="fr-FR" b="1" dirty="0"/>
          </a:p>
          <a:p>
            <a:r>
              <a:rPr lang="fr-FR" b="1" dirty="0" err="1" smtClean="0"/>
              <a:t>Méthodo</a:t>
            </a:r>
            <a:r>
              <a:rPr lang="fr-FR" b="1" dirty="0" smtClean="0"/>
              <a:t> </a:t>
            </a:r>
            <a:r>
              <a:rPr lang="fr-FR" b="1" dirty="0"/>
              <a:t>VADER (</a:t>
            </a:r>
            <a:r>
              <a:rPr lang="fr-FR" b="1" i="1" dirty="0"/>
              <a:t>Vigilance sur les Antibiotiques, Données d’Exposition et Résistance</a:t>
            </a:r>
            <a:r>
              <a:rPr lang="fr-FR" b="1" dirty="0" smtClean="0"/>
              <a:t>)</a:t>
            </a:r>
          </a:p>
          <a:p>
            <a:r>
              <a:rPr lang="fr-FR" b="1" dirty="0"/>
              <a:t>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d’administration</a:t>
            </a:r>
            <a:r>
              <a:rPr lang="fr-FR" b="1" dirty="0"/>
              <a:t> à partir d’un </a:t>
            </a:r>
            <a:r>
              <a:rPr lang="fr-FR" b="1" dirty="0" smtClean="0"/>
              <a:t>EDS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374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PERSPECTIVES : AUTOMATISATION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3954" y="1735010"/>
            <a:ext cx="65310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 en cours de déploiement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Un </a:t>
            </a:r>
            <a:r>
              <a:rPr lang="fr-FR" b="1" dirty="0"/>
              <a:t>script Python</a:t>
            </a:r>
            <a:r>
              <a:rPr lang="fr-FR" dirty="0"/>
              <a:t> ­— </a:t>
            </a:r>
            <a:r>
              <a:rPr lang="fr-FR" b="1" dirty="0"/>
              <a:t>actuellement en phase de test</a:t>
            </a:r>
            <a:r>
              <a:rPr lang="fr-FR" dirty="0"/>
              <a:t> — automatise :</a:t>
            </a:r>
          </a:p>
          <a:p>
            <a:endParaRPr lang="fr-FR" dirty="0" smtClean="0"/>
          </a:p>
          <a:p>
            <a:r>
              <a:rPr lang="fr-FR" dirty="0" smtClean="0"/>
              <a:t>lecture </a:t>
            </a:r>
            <a:r>
              <a:rPr lang="fr-FR" dirty="0"/>
              <a:t>et normalisation des fichiers CPAGE ;</a:t>
            </a:r>
          </a:p>
          <a:p>
            <a:r>
              <a:rPr lang="fr-FR" dirty="0" smtClean="0"/>
              <a:t>exclusion </a:t>
            </a:r>
            <a:r>
              <a:rPr lang="fr-FR" dirty="0"/>
              <a:t>des UF non pertinentes ;</a:t>
            </a:r>
          </a:p>
          <a:p>
            <a:r>
              <a:rPr lang="fr-FR" dirty="0" smtClean="0"/>
              <a:t>agrégation </a:t>
            </a:r>
            <a:r>
              <a:rPr lang="fr-FR" dirty="0"/>
              <a:t>des consommations par </a:t>
            </a:r>
            <a:r>
              <a:rPr lang="fr-FR" dirty="0" smtClean="0"/>
              <a:t>antibiotique.</a:t>
            </a:r>
          </a:p>
          <a:p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Premiers </a:t>
            </a:r>
            <a:r>
              <a:rPr lang="fr-FR" b="1" dirty="0"/>
              <a:t>résultats (tests internes)</a:t>
            </a:r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Durée </a:t>
            </a:r>
            <a:r>
              <a:rPr lang="fr-FR" b="1" dirty="0"/>
              <a:t>d’exécution : 20 h → </a:t>
            </a:r>
            <a:r>
              <a:rPr lang="fr-FR" b="1" dirty="0" smtClean="0"/>
              <a:t>2 </a:t>
            </a:r>
            <a:r>
              <a:rPr lang="fr-FR" b="1" dirty="0"/>
              <a:t>min</a:t>
            </a:r>
            <a:r>
              <a:rPr lang="fr-FR" dirty="0"/>
              <a:t> (facteur × </a:t>
            </a:r>
            <a:r>
              <a:rPr lang="fr-FR" dirty="0" smtClean="0"/>
              <a:t>600</a:t>
            </a:r>
            <a:r>
              <a:rPr lang="fr-FR" dirty="0"/>
              <a:t>).</a:t>
            </a:r>
          </a:p>
          <a:p>
            <a:r>
              <a:rPr lang="fr-FR" dirty="0"/>
              <a:t>Élimination des erreurs de manipulation.</a:t>
            </a:r>
          </a:p>
          <a:p>
            <a:r>
              <a:rPr lang="fr-FR" dirty="0" smtClean="0"/>
              <a:t>Processus </a:t>
            </a:r>
            <a:r>
              <a:rPr lang="fr-FR" dirty="0"/>
              <a:t>entièrement traçable et </a:t>
            </a:r>
            <a:r>
              <a:rPr lang="fr-FR" dirty="0" err="1"/>
              <a:t>rejouable</a:t>
            </a:r>
            <a:r>
              <a:rPr lang="fr-FR" dirty="0"/>
              <a:t>.</a:t>
            </a:r>
          </a:p>
          <a:p>
            <a:endParaRPr lang="fr-FR" b="1" dirty="0" smtClean="0"/>
          </a:p>
          <a:p>
            <a:r>
              <a:rPr lang="fr-FR" b="1" dirty="0" smtClean="0"/>
              <a:t>Prochaines </a:t>
            </a:r>
            <a:r>
              <a:rPr lang="fr-FR" b="1" dirty="0"/>
              <a:t>étapes</a:t>
            </a:r>
            <a:endParaRPr lang="fr-FR" dirty="0"/>
          </a:p>
          <a:p>
            <a:r>
              <a:rPr lang="fr-FR" dirty="0"/>
              <a:t>Finalisation des tests et validation fonctionnelle</a:t>
            </a:r>
          </a:p>
          <a:p>
            <a:r>
              <a:rPr lang="fr-FR" dirty="0"/>
              <a:t>Génération immédiate des rapports annuels.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29" y="1354405"/>
            <a:ext cx="5024141" cy="55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DISCUSSION, CONCLUSION ET PROCHAINES ETAPES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74785" y="1369443"/>
            <a:ext cx="11560629" cy="147732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</a:t>
            </a: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biologistes, pharmaciens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Application des </a:t>
            </a:r>
            <a:r>
              <a:rPr lang="fr-FR" sz="1600" b="1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filtres activité SPARES ou consommation totale </a:t>
            </a: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des ESH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Consommation totale par spécialité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Exhaustivité de la liste des spécialités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Possibilité de rendre une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activité à l’échelle de la consommation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plutôt que la délivrance au niveau de la PUI par les EDS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?</a:t>
            </a:r>
            <a:endParaRPr lang="fr-FR" sz="1600" dirty="0" smtClean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20984" y="3517696"/>
            <a:ext cx="11560629" cy="320087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 sz="1600" dirty="0"/>
              <a:t>Les indicateurs proposés pour la surveillance de la consommation des antibiotiques en ESH à court terme sont validés par le GT. </a:t>
            </a:r>
            <a:endParaRPr lang="fr-FR" sz="1600" dirty="0" smtClean="0"/>
          </a:p>
          <a:p>
            <a:endParaRPr lang="fr-FR" sz="1600" dirty="0"/>
          </a:p>
          <a:p>
            <a:r>
              <a:rPr lang="fr-FR" sz="1600" dirty="0"/>
              <a:t>Des explorations sont à mener pour étudier la disponibilité / faisabilité d’exploiter les données d’indication et de durée de prescription. </a:t>
            </a:r>
            <a:endParaRPr lang="fr-FR" sz="1600" dirty="0" smtClean="0"/>
          </a:p>
          <a:p>
            <a:endParaRPr lang="fr-FR" sz="1600" dirty="0"/>
          </a:p>
          <a:p>
            <a:r>
              <a:rPr lang="fr-FR" sz="1600" dirty="0"/>
              <a:t>De manière collective, il est jugé pertinent d’intégrer à moyen terme les classification </a:t>
            </a:r>
            <a:r>
              <a:rPr lang="fr-FR" sz="1600" dirty="0" err="1"/>
              <a:t>AWaRe</a:t>
            </a:r>
            <a:r>
              <a:rPr lang="fr-FR" sz="1600" dirty="0"/>
              <a:t>, SPILF, et les recommandations de bon usage</a:t>
            </a:r>
            <a:r>
              <a:rPr lang="fr-FR" sz="1600" dirty="0" smtClean="0"/>
              <a:t>.</a:t>
            </a:r>
          </a:p>
          <a:p>
            <a:endParaRPr lang="fr-FR" sz="1600" dirty="0"/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Rythme et programmation du prochain GT </a:t>
            </a:r>
            <a:r>
              <a:rPr lang="fr-FR" sz="1600" dirty="0" smtClean="0">
                <a:cs typeface="Arial" panose="020B0604020202020204" pitchFamily="34" charset="0"/>
              </a:rPr>
              <a:t>(1 lundi matin par trimestre : octobre),</a:t>
            </a: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Rédaction des fiches indicateurs sur 1</a:t>
            </a:r>
            <a:r>
              <a:rPr lang="fr-FR" sz="1600" baseline="30000" dirty="0">
                <a:cs typeface="Arial" panose="020B0604020202020204" pitchFamily="34" charset="0"/>
              </a:rPr>
              <a:t>ère</a:t>
            </a:r>
            <a:r>
              <a:rPr lang="fr-FR" sz="1600" dirty="0">
                <a:cs typeface="Arial" panose="020B0604020202020204" pitchFamily="34" charset="0"/>
              </a:rPr>
              <a:t> </a:t>
            </a:r>
            <a:r>
              <a:rPr lang="fr-FR" sz="1600" dirty="0" smtClean="0">
                <a:cs typeface="Arial" panose="020B0604020202020204" pitchFamily="34" charset="0"/>
              </a:rPr>
              <a:t>série,</a:t>
            </a:r>
          </a:p>
          <a:p>
            <a:pPr lvl="0">
              <a:buClr>
                <a:srgbClr val="DC246A"/>
              </a:buClr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Réflexion sur l’évaluation métrologique des </a:t>
            </a:r>
            <a:r>
              <a:rPr lang="fr-FR" sz="1600" dirty="0" smtClean="0">
                <a:cs typeface="Arial" panose="020B0604020202020204" pitchFamily="34" charset="0"/>
              </a:rPr>
              <a:t>indicateurs,</a:t>
            </a: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Lien avec le WP3 pour capacités EDS et tests autres </a:t>
            </a:r>
            <a:r>
              <a:rPr lang="fr-FR" sz="1600" dirty="0" smtClean="0">
                <a:cs typeface="Arial" panose="020B0604020202020204" pitchFamily="34" charset="0"/>
              </a:rPr>
              <a:t>EDS.</a:t>
            </a:r>
            <a:endParaRPr lang="fr-FR" sz="1600" dirty="0">
              <a:cs typeface="Arial" panose="020B0604020202020204" pitchFamily="34" charset="0"/>
            </a:endParaRPr>
          </a:p>
        </p:txBody>
      </p:sp>
      <p:sp>
        <p:nvSpPr>
          <p:cNvPr id="2" name="Flèche vers le bas 1"/>
          <p:cNvSpPr/>
          <p:nvPr/>
        </p:nvSpPr>
        <p:spPr>
          <a:xfrm>
            <a:off x="5372100" y="2866293"/>
            <a:ext cx="641839" cy="633046"/>
          </a:xfrm>
          <a:prstGeom prst="downArrow">
            <a:avLst/>
          </a:prstGeom>
          <a:solidFill>
            <a:srgbClr val="FF0066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6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75313" y="1354611"/>
            <a:ext cx="11560629" cy="344709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 b="1" dirty="0"/>
              <a:t>E</a:t>
            </a:r>
            <a:r>
              <a:rPr lang="fr-FR" b="1" dirty="0" smtClean="0"/>
              <a:t>xtraction </a:t>
            </a:r>
            <a:r>
              <a:rPr lang="fr-FR" b="1" dirty="0" err="1"/>
              <a:t>HeTOP</a:t>
            </a:r>
            <a:r>
              <a:rPr lang="fr-FR" b="1" dirty="0"/>
              <a:t> avec tous les codes ATC des spécialités</a:t>
            </a:r>
            <a:r>
              <a:rPr lang="fr-FR" dirty="0"/>
              <a:t> contenant un ATB pour voie systémique (avec AMM)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A02BD08</a:t>
            </a:r>
            <a:r>
              <a:rPr lang="fr-FR" dirty="0"/>
              <a:t>    sous-citrate de bismuth, tétracycline et métronidazole</a:t>
            </a:r>
            <a:br>
              <a:rPr lang="fr-FR" dirty="0"/>
            </a:br>
            <a:r>
              <a:rPr lang="fr-FR" dirty="0"/>
              <a:t>A07AA11    </a:t>
            </a:r>
            <a:r>
              <a:rPr lang="fr-FR" dirty="0" err="1"/>
              <a:t>rifaximine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J01AA05    </a:t>
            </a:r>
            <a:r>
              <a:rPr lang="fr-FR" dirty="0" err="1"/>
              <a:t>métacycline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J01CE08    </a:t>
            </a:r>
            <a:r>
              <a:rPr lang="fr-FR" dirty="0" err="1"/>
              <a:t>benzathine</a:t>
            </a:r>
            <a:r>
              <a:rPr lang="fr-FR" dirty="0"/>
              <a:t> </a:t>
            </a:r>
            <a:r>
              <a:rPr lang="fr-FR" dirty="0" err="1"/>
              <a:t>benzylpénicilline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J01CF05    </a:t>
            </a:r>
            <a:r>
              <a:rPr lang="fr-FR" dirty="0" err="1"/>
              <a:t>flucloxacilline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J01RA04    </a:t>
            </a:r>
            <a:r>
              <a:rPr lang="fr-FR" dirty="0" err="1"/>
              <a:t>spiramycine</a:t>
            </a:r>
            <a:r>
              <a:rPr lang="fr-FR" dirty="0"/>
              <a:t> et métronidazole</a:t>
            </a:r>
            <a:br>
              <a:rPr lang="fr-FR" dirty="0"/>
            </a:br>
            <a:r>
              <a:rPr lang="fr-FR" dirty="0"/>
              <a:t>J04AM02    rifampicine et isoniazide</a:t>
            </a:r>
            <a:br>
              <a:rPr lang="fr-FR" dirty="0"/>
            </a:br>
            <a:r>
              <a:rPr lang="fr-FR" dirty="0"/>
              <a:t>J04AM05    rifampicine, </a:t>
            </a:r>
            <a:r>
              <a:rPr lang="fr-FR" dirty="0" err="1"/>
              <a:t>pyrazinamide</a:t>
            </a:r>
            <a:r>
              <a:rPr lang="fr-FR" dirty="0"/>
              <a:t> et isoniazide</a:t>
            </a:r>
            <a:br>
              <a:rPr lang="fr-FR" dirty="0"/>
            </a:br>
            <a:r>
              <a:rPr lang="fr-FR" dirty="0"/>
              <a:t>J06BC03    </a:t>
            </a:r>
            <a:r>
              <a:rPr lang="fr-FR" dirty="0" err="1"/>
              <a:t>bezlotoxumab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résistance bactérienne aux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6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Objectifs </a:t>
            </a: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Expression des besoins rédigée par Santé Publique France </a:t>
            </a:r>
          </a:p>
          <a:p>
            <a:pPr marL="0" indent="0" algn="just">
              <a:buNone/>
            </a:pPr>
            <a:r>
              <a:rPr lang="fr-FR" sz="2400" b="0" cap="none" dirty="0" smtClean="0">
                <a:solidFill>
                  <a:schemeClr val="tx1"/>
                </a:solidFill>
              </a:rPr>
              <a:t>Exprime une liste de souhaits ambitieuse pour la surveillance de la part de l’agence.</a:t>
            </a: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 smtClean="0"/>
              <a:t> Pour quelles perspectives</a:t>
            </a:r>
          </a:p>
          <a:p>
            <a:pPr algn="just"/>
            <a:r>
              <a:rPr lang="fr-FR" sz="2400" b="0" cap="none" dirty="0">
                <a:solidFill>
                  <a:schemeClr val="tx1"/>
                </a:solidFill>
              </a:rPr>
              <a:t>D</a:t>
            </a:r>
            <a:r>
              <a:rPr lang="fr-FR" sz="2400" b="0" cap="none" dirty="0" smtClean="0">
                <a:solidFill>
                  <a:schemeClr val="tx1"/>
                </a:solidFill>
              </a:rPr>
              <a:t>es objectifs à court terme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moyen terme </a:t>
            </a:r>
          </a:p>
          <a:p>
            <a:pPr marL="0" indent="0" algn="just">
              <a:buNone/>
            </a:pPr>
            <a:r>
              <a:rPr lang="fr-FR" sz="2400" dirty="0"/>
              <a:t>	</a:t>
            </a:r>
            <a:r>
              <a:rPr lang="fr-FR" sz="2400" dirty="0" smtClean="0"/>
              <a:t>	    </a:t>
            </a:r>
            <a:r>
              <a:rPr lang="fr-FR" sz="2400" b="0" cap="none" dirty="0" smtClean="0">
                <a:solidFill>
                  <a:schemeClr val="tx1"/>
                </a:solidFill>
              </a:rPr>
              <a:t>long terme </a:t>
            </a:r>
          </a:p>
          <a:p>
            <a:pPr algn="just"/>
            <a:endParaRPr lang="fr-FR" sz="2400" b="0" cap="none" dirty="0" smtClean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80184" y="3713016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Complexité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40817" y="3740725"/>
            <a:ext cx="1773381" cy="119149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ysClr val="windowText" lastClr="000000"/>
                </a:solidFill>
              </a:rPr>
              <a:t>Priorité</a:t>
            </a:r>
            <a:endParaRPr lang="fr-FR" sz="2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riangle isocèle 11"/>
          <p:cNvSpPr/>
          <p:nvPr/>
        </p:nvSpPr>
        <p:spPr>
          <a:xfrm>
            <a:off x="5186221" y="3713016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isocèle 12"/>
          <p:cNvSpPr/>
          <p:nvPr/>
        </p:nvSpPr>
        <p:spPr>
          <a:xfrm flipV="1">
            <a:off x="7440817" y="3740725"/>
            <a:ext cx="387927" cy="1274618"/>
          </a:xfrm>
          <a:prstGeom prst="triangl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68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24873" y="1288473"/>
                <a:ext cx="11369963" cy="58372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 algn="just">
                  <a:lnSpc>
                    <a:spcPct val="11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v"/>
                </a:pPr>
                <a:r>
                  <a:rPr lang="fr-FR" sz="2000" b="1" dirty="0" smtClean="0">
                    <a:solidFill>
                      <a:srgbClr val="FF0066"/>
                    </a:solidFill>
                  </a:rPr>
                  <a:t>Reproduction des </a:t>
                </a:r>
                <a:r>
                  <a:rPr lang="fr-FR" sz="2000" b="1" dirty="0">
                    <a:solidFill>
                      <a:srgbClr val="FF0066"/>
                    </a:solidFill>
                  </a:rPr>
                  <a:t>indicateurs Spares:</a:t>
                </a:r>
              </a:p>
              <a:p>
                <a:pPr lvl="0" algn="just">
                  <a:lnSpc>
                    <a:spcPct val="110000"/>
                  </a:lnSpc>
                </a:pPr>
                <a:endParaRPr lang="fr-FR" sz="1400" dirty="0" smtClean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10000"/>
                  </a:lnSpc>
                </a:pPr>
                <a:r>
                  <a:rPr lang="fr-FR" dirty="0" smtClean="0">
                    <a:solidFill>
                      <a:srgbClr val="4D4D4F"/>
                    </a:solidFill>
                  </a:rPr>
                  <a:t>Les </a:t>
                </a:r>
                <a:r>
                  <a:rPr lang="fr-FR" dirty="0">
                    <a:solidFill>
                      <a:srgbClr val="4D4D4F"/>
                    </a:solidFill>
                  </a:rPr>
                  <a:t>micro-organismes concernés seraient : 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>
                    <a:solidFill>
                      <a:srgbClr val="4D4D4F"/>
                    </a:solidFill>
                  </a:rPr>
                  <a:t>Staphylococcus aureus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Entérobacterales (</a:t>
                </a:r>
                <a:r>
                  <a:rPr lang="fr-FR" i="1" dirty="0">
                    <a:solidFill>
                      <a:srgbClr val="4D4D4F"/>
                    </a:solidFill>
                  </a:rPr>
                  <a:t>Escherichia coli, Klebsiella pneumoniae,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Enterobacter</a:t>
                </a:r>
                <a:r>
                  <a:rPr lang="fr-FR" i="1" dirty="0">
                    <a:solidFill>
                      <a:srgbClr val="4D4D4F"/>
                    </a:solidFill>
                  </a:rPr>
                  <a:t> cloacae,</a:t>
                </a:r>
                <a:r>
                  <a:rPr lang="fr-FR" dirty="0">
                    <a:solidFill>
                      <a:srgbClr val="4D4D4F"/>
                    </a:solidFill>
                  </a:rPr>
                  <a:t> Autres entérobactéries)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Enterococcus</a:t>
                </a:r>
                <a:r>
                  <a:rPr lang="fr-FR" i="1" dirty="0">
                    <a:solidFill>
                      <a:srgbClr val="4D4D4F"/>
                    </a:solidFill>
                  </a:rPr>
                  <a:t> faecium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Enterococcus</a:t>
                </a:r>
                <a:r>
                  <a:rPr lang="fr-FR" i="1" dirty="0">
                    <a:solidFill>
                      <a:srgbClr val="4D4D4F"/>
                    </a:solidFill>
                  </a:rPr>
                  <a:t> faecalis</a:t>
                </a: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Acinetobacter</a:t>
                </a:r>
                <a:r>
                  <a:rPr lang="fr-FR" i="1" dirty="0">
                    <a:solidFill>
                      <a:srgbClr val="4D4D4F"/>
                    </a:solidFill>
                  </a:rPr>
                  <a:t> </a:t>
                </a:r>
                <a:r>
                  <a:rPr lang="fr-FR" i="1" dirty="0" err="1">
                    <a:solidFill>
                      <a:srgbClr val="4D4D4F"/>
                    </a:solidFill>
                  </a:rPr>
                  <a:t>baumannii</a:t>
                </a:r>
                <a:endParaRPr lang="fr-FR" i="1" dirty="0">
                  <a:solidFill>
                    <a:srgbClr val="4D4D4F"/>
                  </a:solidFill>
                </a:endParaRPr>
              </a:p>
              <a:p>
                <a:pPr marL="0" lvl="1" algn="just">
                  <a:lnSpc>
                    <a:spcPct val="110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</a:t>
                </a:r>
                <a:r>
                  <a:rPr lang="fr-FR" i="1" dirty="0">
                    <a:solidFill>
                      <a:srgbClr val="4D4D4F"/>
                    </a:solidFill>
                  </a:rPr>
                  <a:t>Pseudomonas aeruginosa</a:t>
                </a:r>
              </a:p>
              <a:p>
                <a:pPr lvl="0" algn="just">
                  <a:lnSpc>
                    <a:spcPct val="110000"/>
                  </a:lnSpc>
                  <a:spcBef>
                    <a:spcPts val="1200"/>
                  </a:spcBef>
                </a:pPr>
                <a:endParaRPr lang="fr-FR" sz="1050" dirty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fr-FR" dirty="0">
                    <a:solidFill>
                      <a:srgbClr val="4D4D4F"/>
                    </a:solidFill>
                  </a:rPr>
                  <a:t>Les </a:t>
                </a:r>
                <a:r>
                  <a:rPr lang="fr-FR" dirty="0" smtClean="0">
                    <a:solidFill>
                      <a:srgbClr val="4D4D4F"/>
                    </a:solidFill>
                  </a:rPr>
                  <a:t>indicateurs, </a:t>
                </a:r>
                <a:r>
                  <a:rPr lang="fr-FR" dirty="0">
                    <a:solidFill>
                      <a:srgbClr val="4D4D4F"/>
                    </a:solidFill>
                  </a:rPr>
                  <a:t>pour un micro-organisme et un type de résistance: 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Proportion de résistance : </a:t>
                </a:r>
              </a:p>
              <a:p>
                <a:pPr marL="457200" lvl="0"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𝑠𝑖𝑠𝑡𝑎𝑛𝑡𝑒𝑠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à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𝑝𝑜𝑢𝑟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4D4D4F"/>
                  </a:solidFill>
                </a:endParaRPr>
              </a:p>
              <a:p>
                <a:pPr lvl="0" algn="just">
                  <a:lnSpc>
                    <a:spcPct val="107000"/>
                  </a:lnSpc>
                </a:pPr>
                <a:r>
                  <a:rPr lang="fr-FR" dirty="0">
                    <a:solidFill>
                      <a:srgbClr val="4D4D4F"/>
                    </a:solidFill>
                  </a:rPr>
                  <a:t>	- Densité d’incidence : </a:t>
                </a:r>
              </a:p>
              <a:p>
                <a:pPr marL="457200" lvl="0"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𝑠𝑜𝑢𝑐h𝑒𝑠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𝑜𝑟𝑔𝑎𝑛𝑖𝑠𝑚𝑒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𝑠𝑖𝑠𝑡𝑎𝑛𝑡𝑒𝑠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à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𝑢𝑛𝑒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𝑗𝑜𝑢𝑟𝑛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>
                                  <a:solidFill>
                                    <a:srgbClr val="4D4D4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h𝑜𝑠𝑝𝑖𝑡𝑎𝑙𝑖𝑠𝑎𝑡𝑖𝑜𝑛</m:t>
                          </m:r>
                          <m:r>
                            <a:rPr lang="fr-FR">
                              <a:solidFill>
                                <a:srgbClr val="4D4D4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fr-FR">
                          <a:solidFill>
                            <a:srgbClr val="4D4D4F"/>
                          </a:solidFill>
                          <a:latin typeface="Cambria Math" panose="02040503050406030204" pitchFamily="18" charset="0"/>
                        </a:rPr>
                        <m:t>∗1000 </m:t>
                      </m:r>
                    </m:oMath>
                  </m:oMathPara>
                </a14:m>
                <a:endParaRPr lang="fr-FR" sz="1600" dirty="0">
                  <a:solidFill>
                    <a:srgbClr val="4D4D4F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73" y="1288473"/>
                <a:ext cx="11369963" cy="5837239"/>
              </a:xfrm>
              <a:prstGeom prst="rect">
                <a:avLst/>
              </a:prstGeom>
              <a:blipFill>
                <a:blip r:embed="rId2"/>
                <a:stretch>
                  <a:fillRect l="-483" t="-3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14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599" y="1610188"/>
            <a:ext cx="10492510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 smtClean="0"/>
              <a:t>Inclut </a:t>
            </a:r>
            <a:r>
              <a:rPr lang="fr-FR" sz="2000" dirty="0"/>
              <a:t>les indicateurs de la </a:t>
            </a:r>
            <a:r>
              <a:rPr lang="fr-FR" sz="2000" dirty="0">
                <a:solidFill>
                  <a:srgbClr val="FF0066"/>
                </a:solidFill>
              </a:rPr>
              <a:t>Stratégie Nationale </a:t>
            </a:r>
            <a:r>
              <a:rPr lang="fr-FR" sz="2000" dirty="0"/>
              <a:t>de prévention des infections et de </a:t>
            </a:r>
            <a:r>
              <a:rPr lang="fr-FR" sz="2000" dirty="0" smtClean="0"/>
              <a:t>l’antibiorésistance</a:t>
            </a:r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SARM parmi les </a:t>
            </a:r>
            <a:r>
              <a:rPr lang="fr-FR" sz="2000" i="1" dirty="0"/>
              <a:t>S. aureus </a:t>
            </a:r>
            <a:r>
              <a:rPr lang="fr-FR" sz="2000" dirty="0"/>
              <a:t>isolés d’hémocultures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2000" dirty="0"/>
              <a:t>     DI des SARM / 1000 JH, </a:t>
            </a:r>
            <a:r>
              <a:rPr lang="fr-FR" sz="2000" dirty="0" smtClean="0"/>
              <a:t>tous prélèvements </a:t>
            </a:r>
            <a:r>
              <a:rPr lang="fr-FR" sz="2000" dirty="0"/>
              <a:t>à visée diagnostique confondus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résistantes à la vancomycine chez </a:t>
            </a:r>
            <a:r>
              <a:rPr lang="fr-FR" sz="2000" i="1" dirty="0"/>
              <a:t>E. faecium </a:t>
            </a:r>
            <a:r>
              <a:rPr lang="fr-FR" sz="2000" dirty="0"/>
              <a:t>isolés d’hémocultures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 smtClean="0"/>
              <a:t>DI </a:t>
            </a:r>
            <a:r>
              <a:rPr lang="fr-FR" sz="2000" i="1" dirty="0"/>
              <a:t>K. pneumoniae </a:t>
            </a:r>
            <a:r>
              <a:rPr lang="fr-FR" sz="2000" dirty="0"/>
              <a:t>résistants aux C3G (BLSE)/1 000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productrices de carbapénémases chez </a:t>
            </a:r>
            <a:r>
              <a:rPr lang="fr-FR" sz="2000" i="1" dirty="0"/>
              <a:t>K. pneumoniae </a:t>
            </a:r>
            <a:r>
              <a:rPr lang="fr-FR" sz="2000" dirty="0"/>
              <a:t>isolés d’hémocultures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carbapénémases / 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BLSE / 1 000 JH, tous prélèvements à visée diagnostique</a:t>
            </a:r>
          </a:p>
        </p:txBody>
      </p:sp>
    </p:spTree>
    <p:extLst>
      <p:ext uri="{BB962C8B-B14F-4D97-AF65-F5344CB8AC3E}">
        <p14:creationId xmlns:p14="http://schemas.microsoft.com/office/powerpoint/2010/main" val="297582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667" y="1414239"/>
            <a:ext cx="6189133" cy="5370408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lang="fr-FR" sz="2000" b="1" cap="none" dirty="0" smtClean="0">
                <a:solidFill>
                  <a:srgbClr val="FF0066"/>
                </a:solidFill>
              </a:rPr>
              <a:t>Stratification </a:t>
            </a:r>
            <a:r>
              <a:rPr lang="fr-FR" sz="2000" b="1" cap="none" dirty="0">
                <a:solidFill>
                  <a:srgbClr val="FF0066"/>
                </a:solidFill>
              </a:rPr>
              <a:t>par </a:t>
            </a:r>
            <a:r>
              <a:rPr lang="fr-FR" sz="2000" b="0" cap="none" dirty="0">
                <a:solidFill>
                  <a:srgbClr val="FF0066"/>
                </a:solidFill>
              </a:rPr>
              <a:t>: </a:t>
            </a:r>
            <a:endParaRPr lang="fr-FR" sz="2000" b="0" cap="none" dirty="0" smtClean="0">
              <a:solidFill>
                <a:srgbClr val="FF0066"/>
              </a:solidFill>
            </a:endParaRPr>
          </a:p>
          <a:p>
            <a:pPr marL="900000" algn="just">
              <a:spcBef>
                <a:spcPts val="0"/>
              </a:spcBef>
            </a:pP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/>
              <a:t>	 </a:t>
            </a:r>
            <a:r>
              <a:rPr lang="fr-FR" sz="2000" dirty="0" smtClean="0"/>
              <a:t>     </a:t>
            </a:r>
            <a:r>
              <a:rPr lang="fr-FR" sz="2000" dirty="0"/>
              <a:t>â</a:t>
            </a:r>
            <a:r>
              <a:rPr lang="fr-FR" sz="2000" b="0" cap="none" dirty="0" smtClean="0">
                <a:solidFill>
                  <a:schemeClr val="tx1"/>
                </a:solidFill>
              </a:rPr>
              <a:t>ge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sexe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type d’infection,</a:t>
            </a: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site </a:t>
            </a:r>
            <a:r>
              <a:rPr lang="fr-FR" sz="2000" b="0" cap="none" dirty="0">
                <a:solidFill>
                  <a:schemeClr val="tx1"/>
                </a:solidFill>
              </a:rPr>
              <a:t>de prélèvement,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service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établissement</a:t>
            </a:r>
            <a:r>
              <a:rPr lang="fr-FR" sz="2000" b="0" cap="none" dirty="0">
                <a:solidFill>
                  <a:schemeClr val="tx1"/>
                </a:solidFill>
              </a:rPr>
              <a:t>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type </a:t>
            </a:r>
            <a:r>
              <a:rPr lang="fr-FR" sz="2000" b="0" cap="none" dirty="0">
                <a:solidFill>
                  <a:schemeClr val="tx1"/>
                </a:solidFill>
              </a:rPr>
              <a:t>d’établissement,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      département </a:t>
            </a:r>
            <a:r>
              <a:rPr lang="fr-FR" sz="2000" b="0" cap="none" dirty="0">
                <a:solidFill>
                  <a:schemeClr val="tx1"/>
                </a:solidFill>
              </a:rPr>
              <a:t>de l’établissement, </a:t>
            </a:r>
            <a:endParaRPr lang="fr-FR" sz="20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200" b="0" cap="none" dirty="0" smtClean="0">
              <a:solidFill>
                <a:schemeClr val="tx1"/>
              </a:solidFill>
            </a:endParaRPr>
          </a:p>
          <a:p>
            <a:pPr marL="900000" algn="just">
              <a:lnSpc>
                <a:spcPct val="100000"/>
              </a:lnSpc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0" cap="none" dirty="0" smtClean="0">
                <a:solidFill>
                  <a:schemeClr val="tx1"/>
                </a:solidFill>
              </a:rPr>
              <a:t>	      date </a:t>
            </a:r>
            <a:r>
              <a:rPr lang="fr-FR" sz="2000" b="0" cap="none" dirty="0">
                <a:solidFill>
                  <a:schemeClr val="tx1"/>
                </a:solidFill>
              </a:rPr>
              <a:t>de prélèvement (mois ou trimestre) </a:t>
            </a: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6908800" y="1414239"/>
            <a:ext cx="5039206" cy="187906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000" cap="none" dirty="0" smtClean="0">
                <a:solidFill>
                  <a:srgbClr val="FF0066"/>
                </a:solidFill>
              </a:rPr>
              <a:t>Temporalité</a:t>
            </a:r>
            <a:r>
              <a:rPr lang="fr-FR" sz="2000" b="0" cap="none" dirty="0" smtClean="0">
                <a:solidFill>
                  <a:srgbClr val="FF0066"/>
                </a:solidFill>
              </a:rPr>
              <a:t> </a:t>
            </a:r>
            <a:r>
              <a:rPr lang="fr-FR" sz="2000" b="0" cap="none" dirty="0" smtClean="0">
                <a:solidFill>
                  <a:schemeClr val="tx1"/>
                </a:solidFill>
              </a:rPr>
              <a:t>: indicateurs annuels</a:t>
            </a:r>
            <a:endParaRPr lang="fr-FR" sz="2000" b="0" cap="none" dirty="0">
              <a:solidFill>
                <a:schemeClr val="tx1"/>
              </a:solidFill>
            </a:endParaRPr>
          </a:p>
          <a:p>
            <a:pPr algn="just"/>
            <a:endParaRPr lang="fr-FR" sz="300" b="0" cap="none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000" b="0" i="1" cap="none" dirty="0" smtClean="0">
                <a:solidFill>
                  <a:schemeClr val="tx1"/>
                </a:solidFill>
              </a:rPr>
              <a:t>mais avec déclinaison/stratification trimestrielle ou mensuelle</a:t>
            </a:r>
            <a:endParaRPr lang="fr-FR" sz="2000" b="0" i="1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60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4036" y="1387951"/>
            <a:ext cx="1117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0"/>
              </a:spcBef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FF0066"/>
                </a:solidFill>
              </a:rPr>
              <a:t>Indicateurs One Health :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Proportion et DI de souches multi-sensibles chez les bactéries </a:t>
            </a:r>
            <a:r>
              <a:rPr lang="fr-FR" sz="2000" i="1" dirty="0"/>
              <a:t>E. coli </a:t>
            </a:r>
            <a:r>
              <a:rPr lang="fr-FR" sz="2000" dirty="0"/>
              <a:t>(sensibles à 5 classes d’antibiotiques</a:t>
            </a:r>
            <a:r>
              <a:rPr lang="fr-FR" sz="2000" dirty="0" smtClean="0"/>
              <a:t>)</a:t>
            </a:r>
          </a:p>
          <a:p>
            <a:pPr algn="just">
              <a:spcBef>
                <a:spcPts val="0"/>
              </a:spcBef>
            </a:pPr>
            <a:endParaRPr lang="fr-FR" sz="1200" dirty="0"/>
          </a:p>
          <a:p>
            <a:pPr algn="just"/>
            <a:endParaRPr lang="fr-FR" sz="1100" dirty="0" smtClean="0"/>
          </a:p>
          <a:p>
            <a:pPr marL="285750" indent="-285750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rgbClr val="FF0066"/>
                </a:solidFill>
              </a:rPr>
              <a:t>Surveillance </a:t>
            </a:r>
            <a:r>
              <a:rPr lang="fr-FR" sz="2000" dirty="0">
                <a:solidFill>
                  <a:srgbClr val="FF0066"/>
                </a:solidFill>
              </a:rPr>
              <a:t>de la </a:t>
            </a:r>
            <a:r>
              <a:rPr lang="fr-FR" sz="2000" b="1" dirty="0">
                <a:solidFill>
                  <a:srgbClr val="FF0066"/>
                </a:solidFill>
              </a:rPr>
              <a:t>résistance aux nouvelles molécules d’antibiotiques : </a:t>
            </a:r>
          </a:p>
          <a:p>
            <a:pPr algn="just">
              <a:spcBef>
                <a:spcPts val="600"/>
              </a:spcBef>
            </a:pPr>
            <a:r>
              <a:rPr lang="fr-FR" sz="2000" dirty="0"/>
              <a:t>Nouvelles molécules d’antibiotiques, qui ne font pas de partie actuellement d’un programme de surveillance. </a:t>
            </a:r>
          </a:p>
          <a:p>
            <a:pPr algn="just"/>
            <a:r>
              <a:rPr lang="fr-FR" sz="2000" dirty="0"/>
              <a:t>Les mêmes indicateurs sont demandés : % et DI </a:t>
            </a:r>
          </a:p>
          <a:p>
            <a:pPr algn="just"/>
            <a:r>
              <a:rPr lang="fr-FR" sz="2000" dirty="0"/>
              <a:t>Une liste actualisée annuelle incluant nouveaux tests serait mise en commun</a:t>
            </a:r>
            <a:r>
              <a:rPr lang="fr-FR" sz="2000" dirty="0" smtClean="0"/>
              <a:t>.</a:t>
            </a:r>
          </a:p>
          <a:p>
            <a:pPr algn="just"/>
            <a:endParaRPr lang="fr-FR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85750" indent="-285750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>
                <a:solidFill>
                  <a:srgbClr val="FF0066"/>
                </a:solidFill>
              </a:rPr>
              <a:t>Utilisation des </a:t>
            </a:r>
            <a:r>
              <a:rPr lang="fr-FR" sz="2000" b="1" dirty="0">
                <a:solidFill>
                  <a:srgbClr val="FF0066"/>
                </a:solidFill>
              </a:rPr>
              <a:t>données individuelles plus précises </a:t>
            </a:r>
            <a:r>
              <a:rPr lang="fr-FR" sz="2000" dirty="0">
                <a:solidFill>
                  <a:srgbClr val="FF0066"/>
                </a:solidFill>
              </a:rPr>
              <a:t>: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Stratifier les indicateurs par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des patients (comorbidités , etc.),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de l’infection (nosocomiale ou non, sur site opératoire, présence de cathéter),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traitement (traitement antibiotique associé [oui / non, et classe]), 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réévaluation du traitement à J3 et J7</a:t>
            </a:r>
          </a:p>
          <a:p>
            <a:pPr algn="just">
              <a:spcBef>
                <a:spcPts val="0"/>
              </a:spcBef>
            </a:pPr>
            <a:r>
              <a:rPr lang="fr-FR" sz="2000" dirty="0"/>
              <a:t>	caractéristiques du séjour (durée &lt; ou &gt; à 7 jours, …).</a:t>
            </a:r>
          </a:p>
        </p:txBody>
      </p:sp>
    </p:spTree>
    <p:extLst>
      <p:ext uri="{BB962C8B-B14F-4D97-AF65-F5344CB8AC3E}">
        <p14:creationId xmlns:p14="http://schemas.microsoft.com/office/powerpoint/2010/main" val="201208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– BESOINS A LONG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texte 2"/>
              <p:cNvSpPr txBox="1">
                <a:spLocks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</p:spPr>
            <p:txBody>
              <a:bodyPr vert="horz" lIns="36000" tIns="0" rIns="3600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200"/>
                  </a:spcBef>
                  <a:buFontTx/>
                  <a:buNone/>
                  <a:defRPr sz="1800" b="1" kern="1200" cap="all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Tx/>
                  <a:buNone/>
                  <a:defRPr sz="16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2pPr>
                <a:lvl3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Clr>
                    <a:schemeClr val="tx2"/>
                  </a:buClr>
                  <a:buFont typeface="Symbol" panose="05050102010706020507" pitchFamily="18" charset="2"/>
                  <a:buChar char="·"/>
                  <a:defRPr sz="1600" b="1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3pPr>
                <a:lvl4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Symbol" panose="05050102010706020507" pitchFamily="18" charset="2"/>
                  <a:buChar char="·"/>
                  <a:tabLst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88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-"/>
                  <a:defRPr sz="14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PCC 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Surveillance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 bonnes pratiques de 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prescription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des précautions complémentaires contacts (PCC) après isolement d’une 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BMR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(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E. coli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et </a:t>
                </a:r>
                <a:r>
                  <a:rPr kumimoji="0" lang="fr-FR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Klebsielles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et 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A. </a:t>
                </a:r>
                <a:r>
                  <a:rPr kumimoji="0" lang="fr-FR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Baumannii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résistantes aux carbapénèmes). L’indicateur demandé est le pourcentage de PCC prescrits après isolement de BMR 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𝑙𝑒𝑠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𝑃𝐶𝐶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𝑜𝑛𝑡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𝑝𝑟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𝑠𝑐𝑟𝑖𝑡𝑒𝑠</m:t>
                          </m:r>
                        </m:num>
                        <m:den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𝑢𝑛𝑒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𝑖𝑛𝑓𝑒𝑐𝑡𝑖𝑜𝑛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à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𝐵𝑀𝑅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𝑖𝑑𝑒𝑛𝑡𝑖𝑓𝑖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 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Echec thérapeutique : </a:t>
                </a: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nombre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 cas où le patient revient pour une infection déjà prise en charge / 1000 JH.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Corrélation </a:t>
                </a: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entre résistance et consommation : </a:t>
                </a:r>
                <a:endParaRPr kumimoji="0" lang="fr-FR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30056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Consommation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d’antibiotiques dans les 3, 6 mois ou l’année avant l’infection (utilisation du SNDS par exemple) 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285750" marR="0" lvl="0" indent="-285750" algn="just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fr-FR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Espace réservé du 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  <a:blipFill>
                <a:blip r:embed="rId2"/>
                <a:stretch>
                  <a:fillRect l="-901" t="-1314" r="-1272" b="-38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5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INTEGRATION DES RESULTATS DE BACTERIOLOGIE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54825" y="1706855"/>
            <a:ext cx="11068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Chaque entrée dans l’EDS correspond à un prélèvement (ID Patient ID séjour, date, nature, site…)</a:t>
            </a:r>
          </a:p>
          <a:p>
            <a:endParaRPr lang="fr-FR" dirty="0"/>
          </a:p>
          <a:p>
            <a:r>
              <a:rPr lang="fr-FR" dirty="0" smtClean="0"/>
              <a:t>Pour chaque germe identifié, réalisation d’un antibiogramme sous cette forme :</a:t>
            </a: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Souche bactérienne - Antibiotique – CMI –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Antibiotype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(Sensible), SFP (sensible à forte posologie) ou 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R (Résistant)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 ZIT (Zone d’Incertitude Technique) - Phénotype de résistance</a:t>
            </a:r>
            <a:r>
              <a:rPr lang="fr-F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(BLSE et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carbapénèmase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 CA-SFM</a:t>
            </a:r>
          </a:p>
          <a:p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u="sng" dirty="0" smtClean="0">
                <a:cs typeface="Courier New" panose="02070309020205020404" pitchFamily="49" charset="0"/>
              </a:rPr>
              <a:t>Exemple :</a:t>
            </a:r>
          </a:p>
          <a:p>
            <a:r>
              <a:rPr lang="fr-FR" dirty="0" smtClean="0">
                <a:cs typeface="Courier New" panose="02070309020205020404" pitchFamily="49" charset="0"/>
              </a:rPr>
              <a:t>Staphylococcus </a:t>
            </a:r>
            <a:r>
              <a:rPr lang="fr-FR" dirty="0" err="1" smtClean="0">
                <a:cs typeface="Courier New" panose="02070309020205020404" pitchFamily="49" charset="0"/>
              </a:rPr>
              <a:t>epidermidis</a:t>
            </a:r>
            <a:r>
              <a:rPr lang="fr-FR" dirty="0" smtClean="0">
                <a:cs typeface="Courier New" panose="02070309020205020404" pitchFamily="49" charset="0"/>
              </a:rPr>
              <a:t> - Oxacilline  - S – </a:t>
            </a:r>
          </a:p>
        </p:txBody>
      </p:sp>
    </p:spTree>
    <p:extLst>
      <p:ext uri="{BB962C8B-B14F-4D97-AF65-F5344CB8AC3E}">
        <p14:creationId xmlns:p14="http://schemas.microsoft.com/office/powerpoint/2010/main" val="397742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POC DISPONIBILITE DES DONNEES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704" y="2019128"/>
            <a:ext cx="6654312" cy="483887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92925" y="2035101"/>
            <a:ext cx="43494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dirty="0" smtClean="0"/>
              <a:t>24/07/2025 : première </a:t>
            </a:r>
            <a:r>
              <a:rPr lang="fr-FR" dirty="0"/>
              <a:t>requête sur </a:t>
            </a:r>
            <a:r>
              <a:rPr lang="fr-FR" dirty="0" err="1"/>
              <a:t>EDSaN</a:t>
            </a:r>
            <a:r>
              <a:rPr lang="fr-FR" dirty="0"/>
              <a:t> « </a:t>
            </a:r>
            <a:r>
              <a:rPr lang="fr-FR" dirty="0" err="1"/>
              <a:t>Staph</a:t>
            </a:r>
            <a:r>
              <a:rPr lang="fr-FR" dirty="0"/>
              <a:t> aureus </a:t>
            </a:r>
            <a:r>
              <a:rPr lang="fr-FR" dirty="0" err="1"/>
              <a:t>méti</a:t>
            </a:r>
            <a:r>
              <a:rPr lang="fr-FR" dirty="0"/>
              <a:t>-R » sur les données de bactériologie </a:t>
            </a:r>
            <a:r>
              <a:rPr lang="fr-FR" dirty="0" smtClean="0"/>
              <a:t>intégrées </a:t>
            </a:r>
            <a:r>
              <a:rPr lang="fr-FR" dirty="0"/>
              <a:t>à l’entrepôt (1 an d’antériorité).</a:t>
            </a:r>
          </a:p>
          <a:p>
            <a:r>
              <a:rPr lang="fr-FR" dirty="0"/>
              <a:t> </a:t>
            </a:r>
          </a:p>
          <a:p>
            <a:r>
              <a:rPr lang="fr-FR" dirty="0" smtClean="0"/>
              <a:t>→ travail </a:t>
            </a:r>
            <a:r>
              <a:rPr lang="fr-FR" dirty="0"/>
              <a:t>à effectuer sur le </a:t>
            </a:r>
            <a:r>
              <a:rPr lang="fr-FR" dirty="0" err="1"/>
              <a:t>dédoublonnage</a:t>
            </a:r>
            <a:r>
              <a:rPr lang="fr-FR" dirty="0"/>
              <a:t> des prélèvements mais </a:t>
            </a:r>
            <a:r>
              <a:rPr lang="fr-FR" dirty="0" smtClean="0"/>
              <a:t>premier </a:t>
            </a:r>
            <a:r>
              <a:rPr lang="fr-FR" dirty="0"/>
              <a:t>résultat intéressant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A comparer à la déclaration SPARES 2024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119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DISCUSSION, CONCLUSION ET PROCHAINES ETAPES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42206" y="1404613"/>
            <a:ext cx="11560629" cy="984885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</a:t>
            </a: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Contraintes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 liées à la disponibilité/structuration de la données ?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Des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pratiques hétérogènes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existent quant aux outils et à l'expression des résultats à étudier dans chaque hôpital. Il est important de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qualifier la technique, l'automate, le </a:t>
            </a:r>
            <a:r>
              <a:rPr lang="fr-FR" sz="1600" b="1" dirty="0" smtClean="0">
                <a:solidFill>
                  <a:schemeClr val="tx1">
                    <a:lumMod val="50000"/>
                  </a:schemeClr>
                </a:solidFill>
              </a:rPr>
              <a:t>référentiel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(CA-SFM)...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	</a:t>
            </a:r>
          </a:p>
        </p:txBody>
      </p:sp>
      <p:sp>
        <p:nvSpPr>
          <p:cNvPr id="6" name="Flèche vers le bas 5"/>
          <p:cNvSpPr/>
          <p:nvPr/>
        </p:nvSpPr>
        <p:spPr>
          <a:xfrm>
            <a:off x="5503986" y="2409092"/>
            <a:ext cx="641839" cy="633046"/>
          </a:xfrm>
          <a:prstGeom prst="downArrow">
            <a:avLst/>
          </a:prstGeom>
          <a:solidFill>
            <a:srgbClr val="FF0066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369276" y="3010793"/>
            <a:ext cx="1163222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Les indicateurs proposés pour la surveillance de la résistance bactérienne aux antibiotiques en ESH à court terme sont validés par le GT avec un souhait marqué d’intégrer un suivi sur le portage et la colonisation bactérienne. </a:t>
            </a:r>
            <a:endParaRPr lang="fr-FR" sz="1600" dirty="0" smtClean="0"/>
          </a:p>
          <a:p>
            <a:endParaRPr lang="fr-FR" sz="1600" dirty="0"/>
          </a:p>
          <a:p>
            <a:r>
              <a:rPr lang="fr-FR" sz="1600" dirty="0"/>
              <a:t>Il est par ailleurs nécessaire de s’assurer au préalable que tous les ESH seront en capacité de reproduire ces indicateurs. </a:t>
            </a:r>
            <a:endParaRPr lang="fr-FR" sz="1600" dirty="0" smtClean="0"/>
          </a:p>
          <a:p>
            <a:endParaRPr lang="fr-FR" sz="1600" dirty="0"/>
          </a:p>
          <a:p>
            <a:r>
              <a:rPr lang="fr-FR" sz="1600" dirty="0"/>
              <a:t>Une attention particulière doit être portée sur les nombreux biais d’interprétation des résultats liés aux pratiques locales</a:t>
            </a:r>
            <a:r>
              <a:rPr lang="fr-FR" sz="1600" dirty="0" smtClean="0"/>
              <a:t>.</a:t>
            </a:r>
          </a:p>
          <a:p>
            <a:endParaRPr lang="fr-FR" sz="1600" dirty="0"/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Rythme et programmation du prochain GT </a:t>
            </a:r>
            <a:r>
              <a:rPr lang="fr-FR" sz="1600" dirty="0" smtClean="0">
                <a:cs typeface="Arial" panose="020B0604020202020204" pitchFamily="34" charset="0"/>
              </a:rPr>
              <a:t>(1 lundi matin /trimestre : octobre),</a:t>
            </a: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Rédaction des fiches indicateurs sur 1</a:t>
            </a:r>
            <a:r>
              <a:rPr lang="fr-FR" sz="1600" baseline="30000" dirty="0">
                <a:cs typeface="Arial" panose="020B0604020202020204" pitchFamily="34" charset="0"/>
              </a:rPr>
              <a:t>ère</a:t>
            </a:r>
            <a:r>
              <a:rPr lang="fr-FR" sz="1600" dirty="0">
                <a:cs typeface="Arial" panose="020B0604020202020204" pitchFamily="34" charset="0"/>
              </a:rPr>
              <a:t> série : sur la base de </a:t>
            </a:r>
            <a:r>
              <a:rPr lang="fr-FR" sz="1600" dirty="0" smtClean="0">
                <a:cs typeface="Arial" panose="020B0604020202020204" pitchFamily="34" charset="0"/>
              </a:rPr>
              <a:t>couple Bactérie/type de R (</a:t>
            </a:r>
            <a:r>
              <a:rPr lang="en-US" sz="1600" dirty="0"/>
              <a:t>WHO Bacterial Priority Pathogens List, </a:t>
            </a:r>
            <a:r>
              <a:rPr lang="en-US" sz="1600" dirty="0" smtClean="0"/>
              <a:t>2024)</a:t>
            </a:r>
            <a:r>
              <a:rPr lang="fr-FR" sz="1600" dirty="0" smtClean="0">
                <a:cs typeface="Arial" panose="020B0604020202020204" pitchFamily="34" charset="0"/>
              </a:rPr>
              <a:t> </a:t>
            </a:r>
            <a:r>
              <a:rPr lang="fr-FR" sz="1600" dirty="0">
                <a:cs typeface="Arial" panose="020B0604020202020204" pitchFamily="34" charset="0"/>
              </a:rPr>
              <a:t>? Réunion de travail le 22/09 à </a:t>
            </a:r>
            <a:r>
              <a:rPr lang="fr-FR" sz="1600" dirty="0" smtClean="0">
                <a:cs typeface="Arial" panose="020B0604020202020204" pitchFamily="34" charset="0"/>
              </a:rPr>
              <a:t>Rouen,</a:t>
            </a: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Réflexion sur l’évaluation métrologique des </a:t>
            </a:r>
            <a:r>
              <a:rPr lang="fr-FR" sz="1600" dirty="0" smtClean="0">
                <a:cs typeface="Arial" panose="020B0604020202020204" pitchFamily="34" charset="0"/>
              </a:rPr>
              <a:t>indicateurs,</a:t>
            </a: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Lien avec le WP3 pour capacités EDS et tests autres </a:t>
            </a:r>
            <a:r>
              <a:rPr lang="fr-FR" sz="1600" dirty="0" smtClean="0">
                <a:cs typeface="Arial" panose="020B0604020202020204" pitchFamily="34" charset="0"/>
              </a:rPr>
              <a:t>EDS</a:t>
            </a:r>
            <a:r>
              <a:rPr lang="fr-F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80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4480</TotalTime>
  <Words>2525</Words>
  <Application>Microsoft Office PowerPoint</Application>
  <PresentationFormat>Grand écran</PresentationFormat>
  <Paragraphs>290</Paragraphs>
  <Slides>28</Slides>
  <Notes>0</Notes>
  <HiddenSlides>1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1_Thème Office</vt:lpstr>
      <vt:lpstr>1_SPF_PPT_Test-v3</vt:lpstr>
      <vt:lpstr>Feuille de calcul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CONSOMMATION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résistance bactérienne aux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CATHERINE, Solenn</cp:lastModifiedBy>
  <cp:revision>116</cp:revision>
  <dcterms:created xsi:type="dcterms:W3CDTF">2025-05-27T08:33:37Z</dcterms:created>
  <dcterms:modified xsi:type="dcterms:W3CDTF">2025-08-26T15:00:42Z</dcterms:modified>
</cp:coreProperties>
</file>