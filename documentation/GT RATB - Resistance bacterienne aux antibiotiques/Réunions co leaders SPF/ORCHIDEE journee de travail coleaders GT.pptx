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3" r:id="rId6"/>
    <p:sldId id="259" r:id="rId7"/>
    <p:sldId id="264"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20" d="100"/>
          <a:sy n="120" d="100"/>
        </p:scale>
        <p:origin x="12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64234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151463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519244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9099CC3F-C50E-45BD-BDC6-D3D6B7EEF386}"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79739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9099CC3F-C50E-45BD-BDC6-D3D6B7EEF386}" type="datetimeFigureOut">
              <a:rPr lang="fr-FR" smtClean="0"/>
              <a:t>23/10/2025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223767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9099CC3F-C50E-45BD-BDC6-D3D6B7EEF386}" type="datetimeFigureOut">
              <a:rPr lang="fr-FR" smtClean="0"/>
              <a:t>23/10/2025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077630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099CC3F-C50E-45BD-BDC6-D3D6B7EEF386}" type="datetimeFigureOut">
              <a:rPr lang="fr-FR" smtClean="0"/>
              <a:t>23/10/2025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3370466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099CC3F-C50E-45BD-BDC6-D3D6B7EEF386}"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93270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099CC3F-C50E-45BD-BDC6-D3D6B7EEF386}"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545614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725838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995099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99CC3F-C50E-45BD-BDC6-D3D6B7EEF386}" type="datetimeFigureOut">
              <a:rPr lang="fr-FR" smtClean="0"/>
              <a:t>23/10/2025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EBDCE4-A1BA-43AA-A12E-41EBBC0B92A6}" type="slidenum">
              <a:rPr lang="fr-FR" smtClean="0"/>
              <a:t>‹N°›</a:t>
            </a:fld>
            <a:endParaRPr lang="fr-FR"/>
          </a:p>
        </p:txBody>
      </p:sp>
    </p:spTree>
    <p:extLst>
      <p:ext uri="{BB962C8B-B14F-4D97-AF65-F5344CB8AC3E}">
        <p14:creationId xmlns:p14="http://schemas.microsoft.com/office/powerpoint/2010/main" val="2734218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6322" y="1187777"/>
            <a:ext cx="6495068" cy="1730377"/>
          </a:xfrm>
          <a:prstGeom prst="rect">
            <a:avLst/>
          </a:prstGeom>
        </p:spPr>
      </p:pic>
      <p:pic>
        <p:nvPicPr>
          <p:cNvPr id="5" name="Image 4"/>
          <p:cNvPicPr>
            <a:picLocks noChangeAspect="1"/>
          </p:cNvPicPr>
          <p:nvPr/>
        </p:nvPicPr>
        <p:blipFill>
          <a:blip r:embed="rId3"/>
          <a:stretch>
            <a:fillRect/>
          </a:stretch>
        </p:blipFill>
        <p:spPr>
          <a:xfrm>
            <a:off x="536550" y="2874890"/>
            <a:ext cx="11301731" cy="1054638"/>
          </a:xfrm>
          <a:prstGeom prst="rect">
            <a:avLst/>
          </a:prstGeom>
        </p:spPr>
      </p:pic>
      <p:sp>
        <p:nvSpPr>
          <p:cNvPr id="6" name="ZoneTexte 5"/>
          <p:cNvSpPr txBox="1"/>
          <p:nvPr/>
        </p:nvSpPr>
        <p:spPr>
          <a:xfrm>
            <a:off x="1773141" y="4143001"/>
            <a:ext cx="8507896" cy="369332"/>
          </a:xfrm>
          <a:prstGeom prst="rect">
            <a:avLst/>
          </a:prstGeom>
          <a:noFill/>
        </p:spPr>
        <p:txBody>
          <a:bodyPr wrap="square" rtlCol="0">
            <a:spAutoFit/>
          </a:bodyPr>
          <a:lstStyle/>
          <a:p>
            <a:pPr algn="ctr"/>
            <a:r>
              <a:rPr lang="fr-FR" dirty="0" smtClean="0">
                <a:solidFill>
                  <a:srgbClr val="002060"/>
                </a:solidFill>
              </a:rPr>
              <a:t>Journée de travail </a:t>
            </a:r>
            <a:r>
              <a:rPr lang="fr-FR" dirty="0" err="1" smtClean="0">
                <a:solidFill>
                  <a:srgbClr val="002060"/>
                </a:solidFill>
              </a:rPr>
              <a:t>co</a:t>
            </a:r>
            <a:r>
              <a:rPr lang="fr-FR" dirty="0" smtClean="0">
                <a:solidFill>
                  <a:srgbClr val="002060"/>
                </a:solidFill>
              </a:rPr>
              <a:t>-leaders GT RATB/SIB – 17/10/2025</a:t>
            </a:r>
            <a:endParaRPr lang="fr-FR" dirty="0">
              <a:solidFill>
                <a:srgbClr val="002060"/>
              </a:solidFill>
            </a:endParaRPr>
          </a:p>
        </p:txBody>
      </p:sp>
      <p:sp>
        <p:nvSpPr>
          <p:cNvPr id="7" name="ZoneTexte 6"/>
          <p:cNvSpPr txBox="1"/>
          <p:nvPr/>
        </p:nvSpPr>
        <p:spPr>
          <a:xfrm>
            <a:off x="174930" y="5082579"/>
            <a:ext cx="11863345" cy="923330"/>
          </a:xfrm>
          <a:prstGeom prst="rect">
            <a:avLst/>
          </a:prstGeom>
          <a:noFill/>
        </p:spPr>
        <p:txBody>
          <a:bodyPr wrap="square" rtlCol="0">
            <a:spAutoFit/>
          </a:bodyPr>
          <a:lstStyle/>
          <a:p>
            <a:pPr algn="ctr"/>
            <a:r>
              <a:rPr lang="fr-FR" dirty="0" smtClean="0">
                <a:solidFill>
                  <a:srgbClr val="002060"/>
                </a:solidFill>
              </a:rPr>
              <a:t>Mélanie COLOMB-COTINAT (HCL Lyon)</a:t>
            </a:r>
          </a:p>
          <a:p>
            <a:pPr algn="ctr"/>
            <a:r>
              <a:rPr lang="fr-FR" dirty="0">
                <a:solidFill>
                  <a:srgbClr val="002060"/>
                </a:solidFill>
              </a:rPr>
              <a:t>Delphine VIRIOT, Ghaya </a:t>
            </a:r>
            <a:r>
              <a:rPr lang="fr-FR" dirty="0" smtClean="0">
                <a:solidFill>
                  <a:srgbClr val="002060"/>
                </a:solidFill>
              </a:rPr>
              <a:t>BEN HMIDENE</a:t>
            </a:r>
            <a:r>
              <a:rPr lang="fr-FR" dirty="0">
                <a:solidFill>
                  <a:srgbClr val="002060"/>
                </a:solidFill>
              </a:rPr>
              <a:t>, Marion OPATOWSKI, Valentin COURTILLET (SpF</a:t>
            </a:r>
            <a:r>
              <a:rPr lang="fr-FR" dirty="0" smtClean="0">
                <a:solidFill>
                  <a:srgbClr val="002060"/>
                </a:solidFill>
              </a:rPr>
              <a:t>)</a:t>
            </a:r>
          </a:p>
          <a:p>
            <a:pPr algn="ctr"/>
            <a:r>
              <a:rPr lang="fr-FR" dirty="0">
                <a:solidFill>
                  <a:srgbClr val="002060"/>
                </a:solidFill>
              </a:rPr>
              <a:t>Julien GROSJEAN, </a:t>
            </a:r>
            <a:r>
              <a:rPr lang="fr-FR" dirty="0" err="1">
                <a:solidFill>
                  <a:srgbClr val="002060"/>
                </a:solidFill>
              </a:rPr>
              <a:t>Stéfan</a:t>
            </a:r>
            <a:r>
              <a:rPr lang="fr-FR" dirty="0">
                <a:solidFill>
                  <a:srgbClr val="002060"/>
                </a:solidFill>
              </a:rPr>
              <a:t> DARMONI, Mélanie DALIGAULT, Francesco MONTI, Hugues HEDIN, Solenn CATHERINE (CHU Rouen</a:t>
            </a:r>
            <a:r>
              <a:rPr lang="fr-FR" dirty="0" smtClean="0">
                <a:solidFill>
                  <a:srgbClr val="002060"/>
                </a:solidFill>
              </a:rPr>
              <a:t>)</a:t>
            </a:r>
            <a:endParaRPr lang="fr-FR" dirty="0">
              <a:solidFill>
                <a:srgbClr val="002060"/>
              </a:solidFill>
            </a:endParaRPr>
          </a:p>
        </p:txBody>
      </p:sp>
    </p:spTree>
    <p:extLst>
      <p:ext uri="{BB962C8B-B14F-4D97-AF65-F5344CB8AC3E}">
        <p14:creationId xmlns:p14="http://schemas.microsoft.com/office/powerpoint/2010/main" val="3705144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PROGRAMME</a:t>
            </a:r>
            <a:endParaRPr lang="fr-FR" dirty="0"/>
          </a:p>
        </p:txBody>
      </p:sp>
      <p:sp>
        <p:nvSpPr>
          <p:cNvPr id="3" name="Espace réservé du contenu 2"/>
          <p:cNvSpPr>
            <a:spLocks noGrp="1"/>
          </p:cNvSpPr>
          <p:nvPr>
            <p:ph idx="1"/>
          </p:nvPr>
        </p:nvSpPr>
        <p:spPr/>
        <p:txBody>
          <a:bodyPr/>
          <a:lstStyle/>
          <a:p>
            <a:r>
              <a:rPr lang="fr-FR" dirty="0"/>
              <a:t>10h – 12h : présentation de </a:t>
            </a:r>
            <a:r>
              <a:rPr lang="fr-FR" dirty="0" smtClean="0"/>
              <a:t>l’entrepôt </a:t>
            </a:r>
            <a:r>
              <a:rPr lang="fr-FR" dirty="0"/>
              <a:t>de données de santé du CHU de Rouen, et exemples d’utilisation</a:t>
            </a:r>
          </a:p>
          <a:p>
            <a:r>
              <a:rPr lang="fr-FR" dirty="0"/>
              <a:t>12h – 13h : déjeuner</a:t>
            </a:r>
          </a:p>
          <a:p>
            <a:r>
              <a:rPr lang="fr-FR" dirty="0"/>
              <a:t>13h – 16h : échange sur les problématiques </a:t>
            </a:r>
            <a:r>
              <a:rPr lang="fr-FR" dirty="0" err="1"/>
              <a:t>antibiorésistance</a:t>
            </a:r>
            <a:r>
              <a:rPr lang="fr-FR" dirty="0"/>
              <a:t>, consommation d’antibiotiques et infections bactériennes sévères. La priorité sera mise sur la thématique bactérienne. </a:t>
            </a:r>
          </a:p>
          <a:p>
            <a:endParaRPr lang="fr-FR" dirty="0"/>
          </a:p>
        </p:txBody>
      </p:sp>
    </p:spTree>
    <p:extLst>
      <p:ext uri="{BB962C8B-B14F-4D97-AF65-F5344CB8AC3E}">
        <p14:creationId xmlns:p14="http://schemas.microsoft.com/office/powerpoint/2010/main" val="313038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3242932"/>
          </a:xfrm>
        </p:spPr>
        <p:txBody>
          <a:bodyPr>
            <a:normAutofit lnSpcReduction="10000"/>
          </a:bodyPr>
          <a:lstStyle/>
          <a:p>
            <a:r>
              <a:rPr lang="fr-FR" dirty="0" smtClean="0"/>
              <a:t>Présentation </a:t>
            </a:r>
            <a:r>
              <a:rPr lang="fr-FR" dirty="0" err="1" smtClean="0"/>
              <a:t>EDSaN</a:t>
            </a:r>
            <a:r>
              <a:rPr lang="fr-FR" dirty="0" smtClean="0"/>
              <a:t> (Julien)</a:t>
            </a:r>
          </a:p>
          <a:p>
            <a:r>
              <a:rPr lang="fr-FR" dirty="0" smtClean="0"/>
              <a:t>Exemples de requêtes pour visualiser la présentation des résultats dans l’EDS</a:t>
            </a:r>
          </a:p>
          <a:p>
            <a:endParaRPr lang="fr-FR" dirty="0"/>
          </a:p>
          <a:p>
            <a:r>
              <a:rPr lang="fr-FR" dirty="0" smtClean="0"/>
              <a:t>Discussions :</a:t>
            </a:r>
          </a:p>
          <a:p>
            <a:pPr lvl="1"/>
            <a:r>
              <a:rPr lang="fr-FR" dirty="0" smtClean="0"/>
              <a:t>Statuer avec les bactériologistes/infectiologues de la pertinence de conserver date de </a:t>
            </a:r>
            <a:r>
              <a:rPr lang="fr-FR" dirty="0" err="1" smtClean="0"/>
              <a:t>plvt</a:t>
            </a:r>
            <a:r>
              <a:rPr lang="fr-FR" dirty="0" smtClean="0"/>
              <a:t>, date de résultat (technique), date de rendu de résultat (validation biologique) dans l’EDS</a:t>
            </a:r>
          </a:p>
        </p:txBody>
      </p:sp>
    </p:spTree>
    <p:extLst>
      <p:ext uri="{BB962C8B-B14F-4D97-AF65-F5344CB8AC3E}">
        <p14:creationId xmlns:p14="http://schemas.microsoft.com/office/powerpoint/2010/main" val="373063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3242932"/>
          </a:xfrm>
        </p:spPr>
        <p:txBody>
          <a:bodyPr>
            <a:normAutofit fontScale="70000" lnSpcReduction="20000"/>
          </a:bodyPr>
          <a:lstStyle/>
          <a:p>
            <a:r>
              <a:rPr lang="fr-FR" sz="4000" dirty="0" smtClean="0"/>
              <a:t>Questions/Remarques issues de l’atelier structuration des données de </a:t>
            </a:r>
            <a:r>
              <a:rPr lang="fr-FR" sz="4000" dirty="0" err="1" smtClean="0"/>
              <a:t>bactério</a:t>
            </a:r>
            <a:r>
              <a:rPr lang="fr-FR" sz="4000" dirty="0" smtClean="0"/>
              <a:t> :</a:t>
            </a:r>
          </a:p>
          <a:p>
            <a:r>
              <a:rPr lang="fr-FR" sz="2400" dirty="0" smtClean="0"/>
              <a:t>Il </a:t>
            </a:r>
            <a:r>
              <a:rPr lang="fr-FR" sz="2400" dirty="0"/>
              <a:t>est rappelé que le rendu BLSE dépend des pratiques locales et ne sera donc pas disponible partout. Sandra Fournier suggère d’utiliser la résistance aux C3G qui est disponible partout et retenu au niveau Européen. </a:t>
            </a:r>
            <a:r>
              <a:rPr lang="fr-FR" sz="2400" dirty="0" smtClean="0"/>
              <a:t>Dans </a:t>
            </a:r>
            <a:r>
              <a:rPr lang="fr-FR" sz="2400" dirty="0"/>
              <a:t>l’objectif de </a:t>
            </a:r>
            <a:r>
              <a:rPr lang="fr-FR" sz="2400" b="1" dirty="0"/>
              <a:t>caractériser cette résistance, si la notion de la présence ou non de BLSE n’est pas disponible dans le SGL, une alternative est de regarder la résistance au </a:t>
            </a:r>
            <a:r>
              <a:rPr lang="fr-FR" sz="2400" b="1" dirty="0" err="1"/>
              <a:t>cefotaxime</a:t>
            </a:r>
            <a:r>
              <a:rPr lang="fr-FR" sz="2400" b="1" dirty="0"/>
              <a:t> </a:t>
            </a:r>
            <a:r>
              <a:rPr lang="fr-FR" sz="2400" dirty="0"/>
              <a:t>(=résistance aux céphalosporines de 3ème génération ou C3G). C’est un indicateur plus large que la présence de BLSE, c’est-à-dire que toutes les EBLSE sont résistantes aux C3G mais toutes les entérobactéries résistantes aux C3G ne sécrètent pas de BLSE. C’est l’indicateur utilisé dans le réseau de surveillance européen EARS, https://atlas.ecdc.europa.eu/public/ </a:t>
            </a:r>
            <a:r>
              <a:rPr lang="fr-FR" sz="2400" dirty="0" smtClean="0"/>
              <a:t>.</a:t>
            </a:r>
            <a:endParaRPr lang="fr-FR" sz="2400" dirty="0"/>
          </a:p>
          <a:p>
            <a:r>
              <a:rPr lang="fr-FR" sz="2400" dirty="0"/>
              <a:t>L’approche la plus pragmatique est de travailler par couple germe/résistance à 1 ATB plutôt que de vouloir être exhaustif</a:t>
            </a:r>
            <a:r>
              <a:rPr lang="fr-FR" sz="2400" dirty="0" smtClean="0"/>
              <a:t>. </a:t>
            </a:r>
            <a:endParaRPr lang="fr-FR" sz="2400" dirty="0"/>
          </a:p>
          <a:p>
            <a:r>
              <a:rPr lang="fr-FR" sz="2400" dirty="0"/>
              <a:t>Les + pertinents cliniquement doivent être produits en priorités. Faire valider par SpF et CNR en GT. </a:t>
            </a:r>
          </a:p>
        </p:txBody>
      </p:sp>
    </p:spTree>
    <p:extLst>
      <p:ext uri="{BB962C8B-B14F-4D97-AF65-F5344CB8AC3E}">
        <p14:creationId xmlns:p14="http://schemas.microsoft.com/office/powerpoint/2010/main" val="1082082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5025224"/>
          </a:xfrm>
        </p:spPr>
        <p:txBody>
          <a:bodyPr>
            <a:normAutofit fontScale="77500" lnSpcReduction="20000"/>
          </a:bodyPr>
          <a:lstStyle/>
          <a:p>
            <a:r>
              <a:rPr lang="fr-FR" sz="3600" dirty="0" smtClean="0"/>
              <a:t>GT RATB Présentation EB SpF v2 (Marion, Ghaya)</a:t>
            </a:r>
          </a:p>
          <a:p>
            <a:endParaRPr lang="fr-FR" dirty="0"/>
          </a:p>
          <a:p>
            <a:r>
              <a:rPr lang="fr-FR" dirty="0" smtClean="0"/>
              <a:t>Discussions :</a:t>
            </a:r>
          </a:p>
          <a:p>
            <a:pPr lvl="1"/>
            <a:r>
              <a:rPr lang="fr-FR" sz="2100" dirty="0" smtClean="0"/>
              <a:t>Marion a transformé les définitions des indicateurs de la stratégie nationale en calculs.</a:t>
            </a:r>
          </a:p>
          <a:p>
            <a:pPr lvl="1"/>
            <a:r>
              <a:rPr lang="fr-FR" sz="2100" dirty="0" smtClean="0"/>
              <a:t>Pour la v1, il est décidé de reproduire la méthodologie SPARES à l’identique. Pour les calculs de consommation d’ATB, nous restons sur la dispensation. (A Rouen, une expérimentation locale vise à comparer le delta avec un calcul basé sur l’administration).</a:t>
            </a:r>
          </a:p>
          <a:p>
            <a:pPr lvl="1"/>
            <a:r>
              <a:rPr lang="fr-FR" sz="2100" dirty="0" smtClean="0"/>
              <a:t>Pour la v2, nous irons plus loin en exploitant les besoins identifiés et faisables remontés dans l’EB. Plusieurs pistes dont la modification du dénominateur (en </a:t>
            </a:r>
            <a:r>
              <a:rPr lang="fr-FR" sz="2100" dirty="0" err="1" smtClean="0"/>
              <a:t>Nbre</a:t>
            </a:r>
            <a:r>
              <a:rPr lang="fr-FR" sz="2100" dirty="0" smtClean="0"/>
              <a:t> d’admissions), les analyses rétrospectives pour avoir des tendances sur 5 ans) et l’ajout de nouveaux indicateurs…</a:t>
            </a:r>
          </a:p>
          <a:p>
            <a:pPr lvl="1"/>
            <a:r>
              <a:rPr lang="fr-FR" sz="2100" dirty="0"/>
              <a:t>Besoin, + value d’ORCHIDEE par rapport aux surveillances nationales actuelles = données + réactives pour répondre aux demandes du ministère (virus, bactéries, mycoplasmes dans les cas d’émergence)</a:t>
            </a:r>
          </a:p>
          <a:p>
            <a:pPr lvl="1"/>
            <a:r>
              <a:rPr lang="fr-FR" sz="2100" dirty="0" smtClean="0"/>
              <a:t>Points </a:t>
            </a:r>
            <a:r>
              <a:rPr lang="fr-FR" sz="2100" dirty="0"/>
              <a:t>d’attention : Pour les résistances, la méthode de </a:t>
            </a:r>
            <a:r>
              <a:rPr lang="fr-FR" sz="2100" dirty="0" err="1"/>
              <a:t>dédoublonnage</a:t>
            </a:r>
            <a:r>
              <a:rPr lang="fr-FR" sz="2100" dirty="0"/>
              <a:t> est différente selon qu’on calcule un indicateur de densité ou de proportion. SpF prépare un tableur avec les indicateurs + leurs spécificités.</a:t>
            </a:r>
          </a:p>
          <a:p>
            <a:pPr lvl="1"/>
            <a:r>
              <a:rPr lang="fr-FR" sz="2100" dirty="0"/>
              <a:t>Par ailleurs, il est mentionné le fait que SPARES dispose d’outils de contrôle qualité déjà éprouvés (script). Il sera intéressant de les associer dans les GT relatifs à l’évaluation et de pouvoir utiliser ces outils</a:t>
            </a:r>
            <a:r>
              <a:rPr lang="fr-FR" sz="2100" dirty="0" smtClean="0"/>
              <a:t>.</a:t>
            </a:r>
          </a:p>
          <a:p>
            <a:pPr lvl="1"/>
            <a:r>
              <a:rPr lang="fr-FR" sz="2100" dirty="0" smtClean="0"/>
              <a:t>Pour évaluer le bassin d’attractivité d’un ES, utilisation possible de l’outil Odyssée. L’échelle de l’hôpital est généralement régionale.</a:t>
            </a:r>
          </a:p>
          <a:p>
            <a:pPr lvl="1"/>
            <a:r>
              <a:rPr lang="fr-FR" sz="2100" dirty="0" smtClean="0"/>
              <a:t>Pour la mise en place des flux, il y a aura un calcul pour le numérateur + 1 script commun à plusieurs GT pour le calcul du dénominateur (JH)</a:t>
            </a:r>
          </a:p>
          <a:p>
            <a:pPr lvl="1"/>
            <a:r>
              <a:rPr lang="fr-FR" sz="2100" dirty="0" smtClean="0"/>
              <a:t>Utilisation de l’ATIH au lieu des listes d’UF pour la standardisation </a:t>
            </a:r>
            <a:r>
              <a:rPr lang="fr-FR" sz="2100" dirty="0" err="1" smtClean="0"/>
              <a:t>méthodo</a:t>
            </a:r>
            <a:endParaRPr lang="fr-FR" sz="2100" dirty="0"/>
          </a:p>
          <a:p>
            <a:pPr lvl="1"/>
            <a:endParaRPr lang="fr-FR" dirty="0" smtClean="0"/>
          </a:p>
        </p:txBody>
      </p:sp>
    </p:spTree>
    <p:extLst>
      <p:ext uri="{BB962C8B-B14F-4D97-AF65-F5344CB8AC3E}">
        <p14:creationId xmlns:p14="http://schemas.microsoft.com/office/powerpoint/2010/main" val="3827067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5144494"/>
          </a:xfrm>
        </p:spPr>
        <p:txBody>
          <a:bodyPr>
            <a:normAutofit fontScale="40000" lnSpcReduction="20000"/>
          </a:bodyPr>
          <a:lstStyle/>
          <a:p>
            <a:r>
              <a:rPr lang="fr-FR" sz="7000" dirty="0" smtClean="0"/>
              <a:t>Discussions questions Mélanie sur l’EB GT RATB :</a:t>
            </a:r>
          </a:p>
          <a:p>
            <a:pPr marL="0" indent="0">
              <a:buNone/>
            </a:pPr>
            <a:r>
              <a:rPr lang="fr-FR" sz="4000" dirty="0"/>
              <a:t>1/Objectifs à court terme:</a:t>
            </a:r>
          </a:p>
          <a:p>
            <a:pPr marL="0" indent="0">
              <a:buNone/>
            </a:pPr>
            <a:r>
              <a:rPr lang="fr-FR" sz="4000" dirty="0" smtClean="0"/>
              <a:t>la </a:t>
            </a:r>
            <a:r>
              <a:rPr lang="fr-FR" sz="4000" dirty="0"/>
              <a:t>liste des </a:t>
            </a:r>
            <a:r>
              <a:rPr lang="fr-FR" sz="4000" dirty="0" err="1"/>
              <a:t>Enterobactéries</a:t>
            </a:r>
            <a:r>
              <a:rPr lang="fr-FR" sz="4000" dirty="0"/>
              <a:t> choisie est elle restrictive ou s'agit il d'un exemple ? Car j'ajouterai bien </a:t>
            </a:r>
            <a:r>
              <a:rPr lang="fr-FR" sz="4000" i="1" dirty="0" err="1"/>
              <a:t>Citrobacter</a:t>
            </a:r>
            <a:r>
              <a:rPr lang="fr-FR" sz="4000" i="1" dirty="0"/>
              <a:t> </a:t>
            </a:r>
            <a:r>
              <a:rPr lang="fr-FR" sz="4000" i="1" dirty="0" err="1"/>
              <a:t>freundii</a:t>
            </a:r>
            <a:r>
              <a:rPr lang="fr-FR" sz="4000" i="1" dirty="0"/>
              <a:t>/</a:t>
            </a:r>
            <a:r>
              <a:rPr lang="fr-FR" sz="4000" i="1" dirty="0" err="1"/>
              <a:t>braakii</a:t>
            </a:r>
            <a:r>
              <a:rPr lang="fr-FR" sz="4000" dirty="0"/>
              <a:t>, à Lyon c'est notre champion </a:t>
            </a:r>
            <a:r>
              <a:rPr lang="fr-FR" sz="4000" dirty="0" smtClean="0"/>
              <a:t>local.</a:t>
            </a:r>
          </a:p>
          <a:p>
            <a:pPr marL="0" indent="0">
              <a:buNone/>
            </a:pPr>
            <a:r>
              <a:rPr lang="fr-FR" sz="4000" dirty="0"/>
              <a:t>	</a:t>
            </a:r>
            <a:r>
              <a:rPr lang="fr-FR" sz="3600" dirty="0" smtClean="0"/>
              <a:t>Nous </a:t>
            </a:r>
            <a:r>
              <a:rPr lang="fr-FR" sz="3600" dirty="0"/>
              <a:t>soumettrons une liste au GT plus détaillée, on peut séparer les </a:t>
            </a:r>
            <a:r>
              <a:rPr lang="fr-FR" sz="3600" dirty="0" err="1"/>
              <a:t>citrobacter</a:t>
            </a:r>
            <a:r>
              <a:rPr lang="fr-FR" sz="3600" dirty="0"/>
              <a:t> des « autres entérobactéries ») </a:t>
            </a:r>
          </a:p>
          <a:p>
            <a:pPr marL="0" indent="0">
              <a:buNone/>
            </a:pPr>
            <a:r>
              <a:rPr lang="fr-FR" sz="4000" dirty="0" smtClean="0"/>
              <a:t>pourquoi </a:t>
            </a:r>
            <a:r>
              <a:rPr lang="fr-FR" sz="4000" dirty="0"/>
              <a:t>avoir intégré </a:t>
            </a:r>
            <a:r>
              <a:rPr lang="fr-FR" sz="4000" i="1" dirty="0" err="1"/>
              <a:t>Enterococcus</a:t>
            </a:r>
            <a:r>
              <a:rPr lang="fr-FR" sz="4000" i="1" dirty="0"/>
              <a:t> </a:t>
            </a:r>
            <a:r>
              <a:rPr lang="fr-FR" sz="4000" i="1" dirty="0" err="1"/>
              <a:t>faecalis</a:t>
            </a:r>
            <a:r>
              <a:rPr lang="fr-FR" sz="4000" dirty="0"/>
              <a:t> ? </a:t>
            </a:r>
            <a:endParaRPr lang="fr-FR" sz="4000" dirty="0" smtClean="0"/>
          </a:p>
          <a:p>
            <a:pPr marL="0" indent="0">
              <a:buNone/>
            </a:pPr>
            <a:r>
              <a:rPr lang="fr-FR" sz="4000" dirty="0"/>
              <a:t>	</a:t>
            </a:r>
            <a:r>
              <a:rPr lang="fr-FR" sz="3500" dirty="0" smtClean="0"/>
              <a:t>L’idée </a:t>
            </a:r>
            <a:r>
              <a:rPr lang="fr-FR" sz="3500" dirty="0"/>
              <a:t>était d’avoir les entérocoques. E. </a:t>
            </a:r>
            <a:r>
              <a:rPr lang="fr-FR" sz="3500" dirty="0" err="1"/>
              <a:t>faecalis</a:t>
            </a:r>
            <a:r>
              <a:rPr lang="fr-FR" sz="3500" dirty="0"/>
              <a:t> est tout de même assez fréquent, même si la résistance est assez basse. On peut en discuter. Par contre je me rends compte que parce qu’on était focalisé sur la méthodologie </a:t>
            </a:r>
            <a:r>
              <a:rPr lang="fr-FR" sz="3500" dirty="0" err="1"/>
              <a:t>Spares</a:t>
            </a:r>
            <a:r>
              <a:rPr lang="fr-FR" sz="3500" dirty="0"/>
              <a:t>, nous n’avons pas mis </a:t>
            </a:r>
            <a:r>
              <a:rPr lang="fr-FR" sz="3500" i="1" dirty="0"/>
              <a:t>S. </a:t>
            </a:r>
            <a:r>
              <a:rPr lang="fr-FR" sz="3500" i="1" dirty="0" err="1"/>
              <a:t>pneumoniae</a:t>
            </a:r>
            <a:r>
              <a:rPr lang="fr-FR" sz="3500" dirty="0"/>
              <a:t> par exemple, qui est tout de même important. Globalement, les membres du GT n’ont pas beaucoup réagit aux choix des espèces bactériennes.  </a:t>
            </a:r>
          </a:p>
          <a:p>
            <a:pPr marL="0" indent="0">
              <a:buNone/>
            </a:pPr>
            <a:r>
              <a:rPr lang="fr-FR" sz="4000" dirty="0"/>
              <a:t> </a:t>
            </a:r>
          </a:p>
          <a:p>
            <a:pPr marL="0" indent="0">
              <a:buNone/>
            </a:pPr>
            <a:r>
              <a:rPr lang="fr-FR" sz="4000" dirty="0"/>
              <a:t>2/Objectifs à moyen terme : </a:t>
            </a:r>
          </a:p>
          <a:p>
            <a:pPr marL="0" indent="0">
              <a:buNone/>
            </a:pPr>
            <a:r>
              <a:rPr lang="fr-FR" sz="4000" dirty="0" smtClean="0"/>
              <a:t>la </a:t>
            </a:r>
            <a:r>
              <a:rPr lang="fr-FR" sz="4000" dirty="0"/>
              <a:t>possibilité de tester des nouveaux indicateurs de suivi de la consommation d'antibiotiques comme le nombre de jours de traitement par exemple a t'elle été évoquée ? </a:t>
            </a:r>
            <a:endParaRPr lang="fr-FR" sz="4000" dirty="0" smtClean="0"/>
          </a:p>
          <a:p>
            <a:pPr marL="0" indent="0">
              <a:buNone/>
            </a:pPr>
            <a:r>
              <a:rPr lang="fr-FR" sz="4000" dirty="0"/>
              <a:t>	</a:t>
            </a:r>
            <a:r>
              <a:rPr lang="fr-FR" sz="3800" dirty="0" smtClean="0"/>
              <a:t>Oui</a:t>
            </a:r>
            <a:r>
              <a:rPr lang="fr-FR" sz="3800" dirty="0"/>
              <a:t>, c’est inclus dans « indicateurs liés aux recommandations et aux bonnes pratiques. Sachant que l’on sait que les indicateurs liés aux recommandations seront difficiles à construire, et plus ou moins pertinents (les ES suivant parfois les recommandations locales et non pas nationales). Il sera donc peut-être simplifié, ce qui inclue le nombre de jours de traitement</a:t>
            </a:r>
          </a:p>
          <a:p>
            <a:pPr marL="0" indent="0">
              <a:buNone/>
            </a:pPr>
            <a:r>
              <a:rPr lang="fr-FR" sz="4000" dirty="0" smtClean="0"/>
              <a:t>L'indicateur </a:t>
            </a:r>
            <a:r>
              <a:rPr lang="fr-FR" sz="4000" dirty="0"/>
              <a:t>One </a:t>
            </a:r>
            <a:r>
              <a:rPr lang="fr-FR" sz="4000" dirty="0" err="1"/>
              <a:t>Health</a:t>
            </a:r>
            <a:r>
              <a:rPr lang="fr-FR" sz="4000" dirty="0"/>
              <a:t> de </a:t>
            </a:r>
            <a:r>
              <a:rPr lang="fr-FR" sz="4000" dirty="0" err="1"/>
              <a:t>multisensibilité</a:t>
            </a:r>
            <a:r>
              <a:rPr lang="fr-FR" sz="4000" dirty="0"/>
              <a:t> me semble peu adapté à des données hospitalières, mais sait-on jamais, il faut </a:t>
            </a:r>
            <a:r>
              <a:rPr lang="fr-FR" sz="4000" dirty="0" smtClean="0"/>
              <a:t>tester.</a:t>
            </a:r>
            <a:endParaRPr lang="fr-FR" sz="4000" dirty="0"/>
          </a:p>
          <a:p>
            <a:pPr marL="0" indent="0">
              <a:buNone/>
            </a:pPr>
            <a:r>
              <a:rPr lang="fr-FR" sz="4000" dirty="0"/>
              <a:t>	</a:t>
            </a:r>
            <a:r>
              <a:rPr lang="fr-FR" sz="3800" dirty="0" smtClean="0"/>
              <a:t>Oui </a:t>
            </a:r>
            <a:r>
              <a:rPr lang="fr-FR" sz="3800" dirty="0"/>
              <a:t>on est d’accord, j’en avais discuté avec Lucie (</a:t>
            </a:r>
            <a:r>
              <a:rPr lang="fr-FR" sz="3800" dirty="0" err="1"/>
              <a:t>Collineau</a:t>
            </a:r>
            <a:r>
              <a:rPr lang="fr-FR" sz="3800" dirty="0"/>
              <a:t>), mais nous avions convenu que dans un contexte de surveillance intégrée, il pourrait être intéressant tout de même de voir ce qu’il en est. </a:t>
            </a:r>
          </a:p>
          <a:p>
            <a:endParaRPr lang="fr-FR" sz="4000" dirty="0" smtClean="0"/>
          </a:p>
        </p:txBody>
      </p:sp>
    </p:spTree>
    <p:extLst>
      <p:ext uri="{BB962C8B-B14F-4D97-AF65-F5344CB8AC3E}">
        <p14:creationId xmlns:p14="http://schemas.microsoft.com/office/powerpoint/2010/main" val="380886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5144494"/>
          </a:xfrm>
        </p:spPr>
        <p:txBody>
          <a:bodyPr>
            <a:normAutofit/>
          </a:bodyPr>
          <a:lstStyle/>
          <a:p>
            <a:r>
              <a:rPr lang="fr-FR" sz="3300" dirty="0" smtClean="0"/>
              <a:t>Discussions </a:t>
            </a:r>
            <a:r>
              <a:rPr lang="fr-FR" sz="3300" dirty="0" smtClean="0"/>
              <a:t>GT SIB</a:t>
            </a:r>
            <a:r>
              <a:rPr lang="fr-FR" sz="3300" dirty="0" smtClean="0"/>
              <a:t> </a:t>
            </a:r>
            <a:r>
              <a:rPr lang="fr-FR" sz="3300" dirty="0" smtClean="0"/>
              <a:t>:</a:t>
            </a:r>
          </a:p>
          <a:p>
            <a:pPr lvl="1"/>
            <a:r>
              <a:rPr lang="fr-FR" sz="1600" dirty="0"/>
              <a:t>Pour EPIBAC, la surveillance actuelle est biologique (</a:t>
            </a:r>
            <a:r>
              <a:rPr lang="fr-FR" sz="1600" dirty="0" err="1"/>
              <a:t>microbio</a:t>
            </a:r>
            <a:r>
              <a:rPr lang="fr-FR" sz="1600" dirty="0"/>
              <a:t>). L’intérêt d’ORCHIDEE sera l’implication des cliniciens + l’utilisation du Traitement Automatique de la </a:t>
            </a:r>
            <a:r>
              <a:rPr lang="fr-FR" sz="1600" dirty="0" smtClean="0"/>
              <a:t>Langue</a:t>
            </a:r>
          </a:p>
          <a:p>
            <a:pPr lvl="1"/>
            <a:r>
              <a:rPr lang="fr-FR" sz="1600" dirty="0"/>
              <a:t>EPIBAC rend de l’incidence. Nécessité de disposer de données réactives (à la semaine/mois) déclinées :</a:t>
            </a:r>
          </a:p>
          <a:p>
            <a:pPr lvl="2"/>
            <a:r>
              <a:rPr lang="fr-FR" sz="1600" dirty="0"/>
              <a:t>CIM-10</a:t>
            </a:r>
          </a:p>
          <a:p>
            <a:pPr lvl="2"/>
            <a:r>
              <a:rPr lang="fr-FR" sz="1600" dirty="0"/>
              <a:t>CIM-10 ou confirmation bio</a:t>
            </a:r>
          </a:p>
          <a:p>
            <a:pPr lvl="2"/>
            <a:r>
              <a:rPr lang="fr-FR" sz="1600" dirty="0"/>
              <a:t>Biologique</a:t>
            </a:r>
          </a:p>
          <a:p>
            <a:pPr marL="914400" lvl="2" indent="0">
              <a:buNone/>
            </a:pPr>
            <a:endParaRPr lang="fr-FR" sz="1600" dirty="0"/>
          </a:p>
          <a:p>
            <a:pPr lvl="1"/>
            <a:r>
              <a:rPr lang="fr-FR" sz="1600" dirty="0"/>
              <a:t>EPIBAC effectue un double redressement pour les 20% du territoire non-couvert (à la fois pour les ES qui ne participent pas et pour les données manquantes de ceux qui participent)</a:t>
            </a:r>
          </a:p>
          <a:p>
            <a:pPr lvl="1"/>
            <a:r>
              <a:rPr lang="fr-FR" sz="1600" dirty="0"/>
              <a:t>Dans la v0, reproduction d’EPIBAC, v1, ajout de la gravité associée au services ou aux actes. En associant la CIM-10 + sévérité, nous devrions </a:t>
            </a:r>
            <a:r>
              <a:rPr lang="fr-FR" sz="1600" dirty="0" smtClean="0"/>
              <a:t>frôler </a:t>
            </a:r>
            <a:r>
              <a:rPr lang="fr-FR" sz="1600" dirty="0"/>
              <a:t>l’exhaustivité en terme de détection des cas.</a:t>
            </a:r>
          </a:p>
          <a:p>
            <a:pPr lvl="1"/>
            <a:r>
              <a:rPr lang="fr-FR" sz="1600" dirty="0"/>
              <a:t>Intérêt de récupérer les </a:t>
            </a:r>
            <a:r>
              <a:rPr lang="fr-FR" sz="1600" dirty="0" smtClean="0"/>
              <a:t>comorbidités</a:t>
            </a:r>
            <a:r>
              <a:rPr lang="fr-FR" sz="1600" dirty="0"/>
              <a:t>, le statut vaccinal ou la prise d’un traitement.</a:t>
            </a:r>
          </a:p>
          <a:p>
            <a:pPr lvl="1"/>
            <a:r>
              <a:rPr lang="fr-FR" sz="1600" dirty="0"/>
              <a:t>Importance de solliciter un groupe de spécialistes pour définir les signes cliniques associés à chaque bactérie.</a:t>
            </a:r>
          </a:p>
          <a:p>
            <a:endParaRPr lang="fr-FR" sz="4000" dirty="0"/>
          </a:p>
          <a:p>
            <a:endParaRPr lang="fr-FR" sz="4000" dirty="0" smtClean="0"/>
          </a:p>
        </p:txBody>
      </p:sp>
    </p:spTree>
    <p:extLst>
      <p:ext uri="{BB962C8B-B14F-4D97-AF65-F5344CB8AC3E}">
        <p14:creationId xmlns:p14="http://schemas.microsoft.com/office/powerpoint/2010/main" val="335275554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1110</Words>
  <Application>Microsoft Office PowerPoint</Application>
  <PresentationFormat>Grand écran</PresentationFormat>
  <Paragraphs>57</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Calibri Light</vt:lpstr>
      <vt:lpstr>Thème Office</vt:lpstr>
      <vt:lpstr>Présentation PowerPoint</vt:lpstr>
      <vt:lpstr>PROGRAMME</vt:lpstr>
      <vt:lpstr>Travaux GT RATB/GT SIB</vt:lpstr>
      <vt:lpstr>Travaux GT RATB/GT SIB</vt:lpstr>
      <vt:lpstr>Travaux GT RATB/GT SIB</vt:lpstr>
      <vt:lpstr>Travaux GT RATB/GT SIB</vt:lpstr>
      <vt:lpstr>Travaux GT RATB/GT SIB</vt:lpstr>
    </vt:vector>
  </TitlesOfParts>
  <Company>CHU de Rouen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CATHERINE, Solenn</dc:creator>
  <cp:lastModifiedBy>CATHERINE, Solenn</cp:lastModifiedBy>
  <cp:revision>23</cp:revision>
  <dcterms:created xsi:type="dcterms:W3CDTF">2025-10-16T14:33:12Z</dcterms:created>
  <dcterms:modified xsi:type="dcterms:W3CDTF">2025-10-23T12:17:31Z</dcterms:modified>
</cp:coreProperties>
</file>