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20" d="100"/>
          <a:sy n="120" d="100"/>
        </p:scale>
        <p:origin x="120"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64234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151463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519244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9099CC3F-C50E-45BD-BDC6-D3D6B7EEF386}" type="datetimeFigureOut">
              <a:rPr lang="fr-FR" smtClean="0"/>
              <a:t>16/10/2025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797395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9099CC3F-C50E-45BD-BDC6-D3D6B7EEF386}" type="datetimeFigureOut">
              <a:rPr lang="fr-FR" smtClean="0"/>
              <a:t>16/10/2025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223767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9099CC3F-C50E-45BD-BDC6-D3D6B7EEF386}" type="datetimeFigureOut">
              <a:rPr lang="fr-FR" smtClean="0"/>
              <a:t>16/10/2025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1077630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9099CC3F-C50E-45BD-BDC6-D3D6B7EEF386}" type="datetimeFigureOut">
              <a:rPr lang="fr-FR" smtClean="0"/>
              <a:t>16/10/2025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3370466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099CC3F-C50E-45BD-BDC6-D3D6B7EEF386}" type="datetimeFigureOut">
              <a:rPr lang="fr-FR" smtClean="0"/>
              <a:t>16/10/2025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932701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099CC3F-C50E-45BD-BDC6-D3D6B7EEF386}" type="datetimeFigureOut">
              <a:rPr lang="fr-FR" smtClean="0"/>
              <a:t>16/10/2025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545614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725838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8EBDCE4-A1BA-43AA-A12E-41EBBC0B92A6}" type="slidenum">
              <a:rPr lang="fr-FR" smtClean="0"/>
              <a:t>‹N°›</a:t>
            </a:fld>
            <a:endParaRPr lang="fr-FR"/>
          </a:p>
        </p:txBody>
      </p:sp>
    </p:spTree>
    <p:extLst>
      <p:ext uri="{BB962C8B-B14F-4D97-AF65-F5344CB8AC3E}">
        <p14:creationId xmlns:p14="http://schemas.microsoft.com/office/powerpoint/2010/main" val="2995099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99CC3F-C50E-45BD-BDC6-D3D6B7EEF386}" type="datetimeFigureOut">
              <a:rPr lang="fr-FR" smtClean="0"/>
              <a:t>16/10/2025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EBDCE4-A1BA-43AA-A12E-41EBBC0B92A6}" type="slidenum">
              <a:rPr lang="fr-FR" smtClean="0"/>
              <a:t>‹N°›</a:t>
            </a:fld>
            <a:endParaRPr lang="fr-FR"/>
          </a:p>
        </p:txBody>
      </p:sp>
    </p:spTree>
    <p:extLst>
      <p:ext uri="{BB962C8B-B14F-4D97-AF65-F5344CB8AC3E}">
        <p14:creationId xmlns:p14="http://schemas.microsoft.com/office/powerpoint/2010/main" val="27342189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6322" y="1187777"/>
            <a:ext cx="6495068" cy="1730377"/>
          </a:xfrm>
          <a:prstGeom prst="rect">
            <a:avLst/>
          </a:prstGeom>
        </p:spPr>
      </p:pic>
      <p:pic>
        <p:nvPicPr>
          <p:cNvPr id="5" name="Image 4"/>
          <p:cNvPicPr>
            <a:picLocks noChangeAspect="1"/>
          </p:cNvPicPr>
          <p:nvPr/>
        </p:nvPicPr>
        <p:blipFill>
          <a:blip r:embed="rId3"/>
          <a:stretch>
            <a:fillRect/>
          </a:stretch>
        </p:blipFill>
        <p:spPr>
          <a:xfrm>
            <a:off x="536550" y="2874890"/>
            <a:ext cx="11301731" cy="1054638"/>
          </a:xfrm>
          <a:prstGeom prst="rect">
            <a:avLst/>
          </a:prstGeom>
        </p:spPr>
      </p:pic>
      <p:sp>
        <p:nvSpPr>
          <p:cNvPr id="6" name="ZoneTexte 5"/>
          <p:cNvSpPr txBox="1"/>
          <p:nvPr/>
        </p:nvSpPr>
        <p:spPr>
          <a:xfrm>
            <a:off x="1773141" y="4143001"/>
            <a:ext cx="8507896" cy="369332"/>
          </a:xfrm>
          <a:prstGeom prst="rect">
            <a:avLst/>
          </a:prstGeom>
          <a:noFill/>
        </p:spPr>
        <p:txBody>
          <a:bodyPr wrap="square" rtlCol="0">
            <a:spAutoFit/>
          </a:bodyPr>
          <a:lstStyle/>
          <a:p>
            <a:pPr algn="ctr"/>
            <a:r>
              <a:rPr lang="fr-FR" dirty="0">
                <a:solidFill>
                  <a:srgbClr val="002060"/>
                </a:solidFill>
              </a:rPr>
              <a:t>Réunion projet Orchidée </a:t>
            </a:r>
            <a:r>
              <a:rPr lang="fr-FR" dirty="0" err="1">
                <a:solidFill>
                  <a:srgbClr val="002060"/>
                </a:solidFill>
              </a:rPr>
              <a:t>DéSaN</a:t>
            </a:r>
            <a:r>
              <a:rPr lang="fr-FR" dirty="0">
                <a:solidFill>
                  <a:srgbClr val="002060"/>
                </a:solidFill>
              </a:rPr>
              <a:t> et Santé Publique </a:t>
            </a:r>
            <a:r>
              <a:rPr lang="fr-FR" dirty="0" smtClean="0">
                <a:solidFill>
                  <a:srgbClr val="002060"/>
                </a:solidFill>
              </a:rPr>
              <a:t>France </a:t>
            </a:r>
            <a:r>
              <a:rPr lang="fr-FR" dirty="0" smtClean="0">
                <a:solidFill>
                  <a:srgbClr val="002060"/>
                </a:solidFill>
              </a:rPr>
              <a:t>– 17/10/2025</a:t>
            </a:r>
            <a:endParaRPr lang="fr-FR" dirty="0">
              <a:solidFill>
                <a:srgbClr val="002060"/>
              </a:solidFill>
            </a:endParaRPr>
          </a:p>
        </p:txBody>
      </p:sp>
    </p:spTree>
    <p:extLst>
      <p:ext uri="{BB962C8B-B14F-4D97-AF65-F5344CB8AC3E}">
        <p14:creationId xmlns:p14="http://schemas.microsoft.com/office/powerpoint/2010/main" val="3705144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PROGRAMME</a:t>
            </a:r>
            <a:endParaRPr lang="fr-FR" dirty="0"/>
          </a:p>
        </p:txBody>
      </p:sp>
      <p:sp>
        <p:nvSpPr>
          <p:cNvPr id="3" name="Espace réservé du contenu 2"/>
          <p:cNvSpPr>
            <a:spLocks noGrp="1"/>
          </p:cNvSpPr>
          <p:nvPr>
            <p:ph idx="1"/>
          </p:nvPr>
        </p:nvSpPr>
        <p:spPr/>
        <p:txBody>
          <a:bodyPr/>
          <a:lstStyle/>
          <a:p>
            <a:r>
              <a:rPr lang="fr-FR" dirty="0"/>
              <a:t>10h – 12h : présentation de l’</a:t>
            </a:r>
            <a:r>
              <a:rPr lang="fr-FR" dirty="0" err="1"/>
              <a:t>entrepot</a:t>
            </a:r>
            <a:r>
              <a:rPr lang="fr-FR" dirty="0"/>
              <a:t> de données de santé du CHU de Rouen, et exemples d’utilisation</a:t>
            </a:r>
          </a:p>
          <a:p>
            <a:r>
              <a:rPr lang="fr-FR" dirty="0"/>
              <a:t>12h – 13h : déjeuner</a:t>
            </a:r>
          </a:p>
          <a:p>
            <a:r>
              <a:rPr lang="fr-FR" dirty="0"/>
              <a:t>13h – 16h : échange sur les problématiques </a:t>
            </a:r>
            <a:r>
              <a:rPr lang="fr-FR" dirty="0" err="1"/>
              <a:t>antibiorésistance</a:t>
            </a:r>
            <a:r>
              <a:rPr lang="fr-FR" dirty="0"/>
              <a:t>, consommation d’antibiotiques et infections bactériennes sévères. La priorité sera mise sur la thématique bactérienne. </a:t>
            </a:r>
          </a:p>
          <a:p>
            <a:endParaRPr lang="fr-FR" dirty="0"/>
          </a:p>
        </p:txBody>
      </p:sp>
    </p:spTree>
    <p:extLst>
      <p:ext uri="{BB962C8B-B14F-4D97-AF65-F5344CB8AC3E}">
        <p14:creationId xmlns:p14="http://schemas.microsoft.com/office/powerpoint/2010/main" val="313038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3242932"/>
          </a:xfrm>
        </p:spPr>
        <p:txBody>
          <a:bodyPr/>
          <a:lstStyle/>
          <a:p>
            <a:r>
              <a:rPr lang="fr-FR" dirty="0" smtClean="0"/>
              <a:t>GT RATB Présentation EB SpF v2 (Marion, Ghaya)</a:t>
            </a:r>
          </a:p>
        </p:txBody>
      </p:sp>
    </p:spTree>
    <p:extLst>
      <p:ext uri="{BB962C8B-B14F-4D97-AF65-F5344CB8AC3E}">
        <p14:creationId xmlns:p14="http://schemas.microsoft.com/office/powerpoint/2010/main" val="3730638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5144494"/>
          </a:xfrm>
        </p:spPr>
        <p:txBody>
          <a:bodyPr>
            <a:normAutofit fontScale="40000" lnSpcReduction="20000"/>
          </a:bodyPr>
          <a:lstStyle/>
          <a:p>
            <a:r>
              <a:rPr lang="fr-FR" sz="7000" dirty="0" smtClean="0"/>
              <a:t>Questions Mélanie :</a:t>
            </a:r>
          </a:p>
          <a:p>
            <a:pPr marL="0" indent="0">
              <a:buNone/>
            </a:pPr>
            <a:r>
              <a:rPr lang="fr-FR" sz="4000" dirty="0"/>
              <a:t>1/Objectifs à court terme:</a:t>
            </a:r>
          </a:p>
          <a:p>
            <a:pPr marL="0" indent="0">
              <a:buNone/>
            </a:pPr>
            <a:r>
              <a:rPr lang="fr-FR" sz="4000" dirty="0"/>
              <a:t>- la liste des </a:t>
            </a:r>
            <a:r>
              <a:rPr lang="fr-FR" sz="4000" dirty="0" err="1"/>
              <a:t>Enterobactéries</a:t>
            </a:r>
            <a:r>
              <a:rPr lang="fr-FR" sz="4000" dirty="0"/>
              <a:t> choisie est elle restrictive ou s'agit il d'un exemple ? Car j'ajouterai bien </a:t>
            </a:r>
            <a:r>
              <a:rPr lang="fr-FR" sz="4000" i="1" dirty="0" err="1"/>
              <a:t>Citrobacter</a:t>
            </a:r>
            <a:r>
              <a:rPr lang="fr-FR" sz="4000" i="1" dirty="0"/>
              <a:t> </a:t>
            </a:r>
            <a:r>
              <a:rPr lang="fr-FR" sz="4000" i="1" dirty="0" err="1"/>
              <a:t>freundii</a:t>
            </a:r>
            <a:r>
              <a:rPr lang="fr-FR" sz="4000" i="1" dirty="0"/>
              <a:t>/</a:t>
            </a:r>
            <a:r>
              <a:rPr lang="fr-FR" sz="4000" i="1" dirty="0" err="1"/>
              <a:t>braakii</a:t>
            </a:r>
            <a:r>
              <a:rPr lang="fr-FR" sz="4000" dirty="0"/>
              <a:t>, à Lyon c'est notre champion local. à Nous soumettrons une liste au GT plus détaillée, on peut séparer les </a:t>
            </a:r>
            <a:r>
              <a:rPr lang="fr-FR" sz="4000" dirty="0" err="1"/>
              <a:t>citrobacter</a:t>
            </a:r>
            <a:r>
              <a:rPr lang="fr-FR" sz="4000" dirty="0"/>
              <a:t> des « autres entérobactéries ») </a:t>
            </a:r>
          </a:p>
          <a:p>
            <a:pPr marL="0" indent="0">
              <a:buNone/>
            </a:pPr>
            <a:r>
              <a:rPr lang="fr-FR" sz="4000" dirty="0"/>
              <a:t>- pourquoi avoir intégré </a:t>
            </a:r>
            <a:r>
              <a:rPr lang="fr-FR" sz="4000" i="1" dirty="0" err="1"/>
              <a:t>Enterococcus</a:t>
            </a:r>
            <a:r>
              <a:rPr lang="fr-FR" sz="4000" i="1" dirty="0"/>
              <a:t> </a:t>
            </a:r>
            <a:r>
              <a:rPr lang="fr-FR" sz="4000" i="1" dirty="0" err="1"/>
              <a:t>faecalis</a:t>
            </a:r>
            <a:r>
              <a:rPr lang="fr-FR" sz="4000" dirty="0"/>
              <a:t> ? L’idée était d’avoir les entérocoques. E. </a:t>
            </a:r>
            <a:r>
              <a:rPr lang="fr-FR" sz="4000" dirty="0" err="1"/>
              <a:t>faecalis</a:t>
            </a:r>
            <a:r>
              <a:rPr lang="fr-FR" sz="4000" dirty="0"/>
              <a:t> est tout de même assez fréquent, même si la résistance est assez basse. On peut en discuter. Par contre je me rends compte que parce qu’on était focalisé sur la méthodologie </a:t>
            </a:r>
            <a:r>
              <a:rPr lang="fr-FR" sz="4000" dirty="0" err="1"/>
              <a:t>Spares</a:t>
            </a:r>
            <a:r>
              <a:rPr lang="fr-FR" sz="4000" dirty="0"/>
              <a:t>, nous n’avons pas mis </a:t>
            </a:r>
            <a:r>
              <a:rPr lang="fr-FR" sz="4000" i="1" dirty="0"/>
              <a:t>S. </a:t>
            </a:r>
            <a:r>
              <a:rPr lang="fr-FR" sz="4000" i="1" dirty="0" err="1"/>
              <a:t>pneumoniae</a:t>
            </a:r>
            <a:r>
              <a:rPr lang="fr-FR" sz="4000" dirty="0"/>
              <a:t> par exemple, qui est tout de même important. Globalement, les membres du GT n’ont pas beaucoup réagit aux choix des espèces bactériennes.  </a:t>
            </a:r>
          </a:p>
          <a:p>
            <a:pPr marL="0" indent="0">
              <a:buNone/>
            </a:pPr>
            <a:r>
              <a:rPr lang="fr-FR" sz="4000" dirty="0"/>
              <a:t> </a:t>
            </a:r>
          </a:p>
          <a:p>
            <a:pPr marL="0" indent="0">
              <a:buNone/>
            </a:pPr>
            <a:r>
              <a:rPr lang="fr-FR" sz="4000" dirty="0"/>
              <a:t>2/Objectifs à moyen terme : </a:t>
            </a:r>
          </a:p>
          <a:p>
            <a:pPr marL="0" indent="0">
              <a:buNone/>
            </a:pPr>
            <a:r>
              <a:rPr lang="fr-FR" sz="4000" dirty="0"/>
              <a:t>- la possibilité de tester des nouveaux indicateurs de suivi de la consommation d'antibiotiques comme le nombre de jours de traitement par exemple a t'elle été évoquée ? à Oui, c’est inclus dans « indicateurs liés aux recommandations et aux bonnes pratiques. Sachant que l’on sait que les indicateurs liés aux recommandations seront difficiles à construire, et plus ou moins pertinents (les ES suivant parfois les recommandations locales et non pas nationales). Il sera donc peut-être simplifié, ce qui inclue le nombre de jours de traitement</a:t>
            </a:r>
          </a:p>
          <a:p>
            <a:pPr marL="0" indent="0">
              <a:buNone/>
            </a:pPr>
            <a:r>
              <a:rPr lang="fr-FR" sz="4000" dirty="0"/>
              <a:t>- L'indicateur One </a:t>
            </a:r>
            <a:r>
              <a:rPr lang="fr-FR" sz="4000" dirty="0" err="1"/>
              <a:t>Health</a:t>
            </a:r>
            <a:r>
              <a:rPr lang="fr-FR" sz="4000" dirty="0"/>
              <a:t> de </a:t>
            </a:r>
            <a:r>
              <a:rPr lang="fr-FR" sz="4000" dirty="0" err="1"/>
              <a:t>multisensibilité</a:t>
            </a:r>
            <a:r>
              <a:rPr lang="fr-FR" sz="4000" dirty="0"/>
              <a:t> me semble peu adapté à des données hospitalières, mais sait-on jamais, il faut tester. à Oui on est d’accord, j’en avais discuté avec Lucie (</a:t>
            </a:r>
            <a:r>
              <a:rPr lang="fr-FR" sz="4000" dirty="0" err="1"/>
              <a:t>Collineau</a:t>
            </a:r>
            <a:r>
              <a:rPr lang="fr-FR" sz="4000" dirty="0"/>
              <a:t>), mais nous avions convenu que dans un contexte de surveillance intégrée, il pourrait être intéressant tout de même de voir ce qu’il en est. </a:t>
            </a:r>
          </a:p>
          <a:p>
            <a:endParaRPr lang="fr-FR" sz="4000" dirty="0" smtClean="0"/>
          </a:p>
        </p:txBody>
      </p:sp>
    </p:spTree>
    <p:extLst>
      <p:ext uri="{BB962C8B-B14F-4D97-AF65-F5344CB8AC3E}">
        <p14:creationId xmlns:p14="http://schemas.microsoft.com/office/powerpoint/2010/main" val="380886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74590" y="95417"/>
            <a:ext cx="10515600" cy="1073426"/>
          </a:xfrm>
        </p:spPr>
        <p:txBody>
          <a:bodyPr>
            <a:normAutofit/>
          </a:bodyPr>
          <a:lstStyle/>
          <a:p>
            <a:r>
              <a:rPr lang="fr-FR" dirty="0" smtClean="0"/>
              <a:t>Travaux GT RATB/GT SIB</a:t>
            </a:r>
            <a:endParaRPr lang="fr-FR" dirty="0"/>
          </a:p>
        </p:txBody>
      </p:sp>
      <p:sp>
        <p:nvSpPr>
          <p:cNvPr id="3" name="Espace réservé du contenu 2"/>
          <p:cNvSpPr>
            <a:spLocks noGrp="1"/>
          </p:cNvSpPr>
          <p:nvPr>
            <p:ph idx="1"/>
          </p:nvPr>
        </p:nvSpPr>
        <p:spPr>
          <a:xfrm>
            <a:off x="830249" y="1383527"/>
            <a:ext cx="10515600" cy="3242932"/>
          </a:xfrm>
        </p:spPr>
        <p:txBody>
          <a:bodyPr>
            <a:normAutofit fontScale="55000" lnSpcReduction="20000"/>
          </a:bodyPr>
          <a:lstStyle/>
          <a:p>
            <a:r>
              <a:rPr lang="fr-FR" sz="4500" dirty="0" smtClean="0"/>
              <a:t>Questions/Remarques issues de l’atelier structuration des données de </a:t>
            </a:r>
            <a:r>
              <a:rPr lang="fr-FR" sz="4500" dirty="0" err="1" smtClean="0"/>
              <a:t>bactério</a:t>
            </a:r>
            <a:r>
              <a:rPr lang="fr-FR" sz="4500" dirty="0" smtClean="0"/>
              <a:t> :</a:t>
            </a:r>
          </a:p>
          <a:p>
            <a:r>
              <a:rPr lang="fr-FR" dirty="0"/>
              <a:t>Il est rappelé que le rendu BLSE dépend des pratiques locales et ne sera donc pas disponible partout. Sandra Fournier suggère d’utiliser la résistance aux C3G qui est disponible partout et retenu au niveau Européen. </a:t>
            </a:r>
            <a:r>
              <a:rPr lang="fr-FR" dirty="0" smtClean="0"/>
              <a:t>Dans </a:t>
            </a:r>
            <a:r>
              <a:rPr lang="fr-FR" dirty="0"/>
              <a:t>l’objectif de </a:t>
            </a:r>
            <a:r>
              <a:rPr lang="fr-FR" b="1" dirty="0"/>
              <a:t>caractériser cette résistance, si la notion de la présence ou non de BLSE n’est pas disponible dans le SGL, une alternative est de regarder la résistance au </a:t>
            </a:r>
            <a:r>
              <a:rPr lang="fr-FR" b="1" dirty="0" err="1"/>
              <a:t>cefotaxime</a:t>
            </a:r>
            <a:r>
              <a:rPr lang="fr-FR" b="1" dirty="0"/>
              <a:t> </a:t>
            </a:r>
            <a:r>
              <a:rPr lang="fr-FR" dirty="0"/>
              <a:t>(=résistance aux céphalosporines de 3ème génération ou C3G). C’est un indicateur plus large que la présence de BLSE, c’est-à-dire que toutes les EBLSE sont résistantes aux C3G mais toutes les entérobactéries résistantes aux C3G ne sécrètent pas de BLSE. C’est l’indicateur utilisé dans le réseau de surveillance européen EARS, https://atlas.ecdc.europa.eu/public/ </a:t>
            </a:r>
            <a:r>
              <a:rPr lang="fr-FR" dirty="0" smtClean="0"/>
              <a:t>.</a:t>
            </a:r>
          </a:p>
          <a:p>
            <a:endParaRPr lang="fr-FR" dirty="0"/>
          </a:p>
          <a:p>
            <a:r>
              <a:rPr lang="fr-FR" dirty="0"/>
              <a:t>L’approche la plus pragmatique est de travailler par couple germe/résistance à 1 ATB plutôt que de vouloir être exhaustif</a:t>
            </a:r>
            <a:r>
              <a:rPr lang="fr-FR" dirty="0" smtClean="0"/>
              <a:t>. </a:t>
            </a:r>
            <a:endParaRPr lang="fr-FR" dirty="0"/>
          </a:p>
          <a:p>
            <a:r>
              <a:rPr lang="fr-FR" dirty="0"/>
              <a:t>Les + pertinents cliniquement doivent être produits en priorités. Faire valider par SpF et CNR en GT. </a:t>
            </a:r>
          </a:p>
          <a:p>
            <a:endParaRPr lang="fr-FR" dirty="0" smtClean="0"/>
          </a:p>
          <a:p>
            <a:endParaRPr lang="fr-FR" dirty="0"/>
          </a:p>
          <a:p>
            <a:pPr marL="0" indent="0">
              <a:buNone/>
            </a:pPr>
            <a:endParaRPr lang="fr-FR" dirty="0"/>
          </a:p>
        </p:txBody>
      </p:sp>
    </p:spTree>
    <p:extLst>
      <p:ext uri="{BB962C8B-B14F-4D97-AF65-F5344CB8AC3E}">
        <p14:creationId xmlns:p14="http://schemas.microsoft.com/office/powerpoint/2010/main" val="108208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stretch>
            <a:fillRect/>
          </a:stretch>
        </p:blipFill>
        <p:spPr>
          <a:xfrm>
            <a:off x="595891" y="67646"/>
            <a:ext cx="9231922" cy="6790354"/>
          </a:xfrm>
          <a:prstGeom prst="rect">
            <a:avLst/>
          </a:prstGeom>
        </p:spPr>
      </p:pic>
    </p:spTree>
    <p:extLst>
      <p:ext uri="{BB962C8B-B14F-4D97-AF65-F5344CB8AC3E}">
        <p14:creationId xmlns:p14="http://schemas.microsoft.com/office/powerpoint/2010/main" val="31455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2"/>
          <a:stretch>
            <a:fillRect/>
          </a:stretch>
        </p:blipFill>
        <p:spPr>
          <a:xfrm>
            <a:off x="1217975" y="310176"/>
            <a:ext cx="4848870" cy="6271809"/>
          </a:xfrm>
          <a:prstGeom prst="rect">
            <a:avLst/>
          </a:prstGeom>
        </p:spPr>
      </p:pic>
    </p:spTree>
    <p:extLst>
      <p:ext uri="{BB962C8B-B14F-4D97-AF65-F5344CB8AC3E}">
        <p14:creationId xmlns:p14="http://schemas.microsoft.com/office/powerpoint/2010/main" val="40392884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1012</TotalTime>
  <Words>577</Words>
  <Application>Microsoft Office PowerPoint</Application>
  <PresentationFormat>Grand écran</PresentationFormat>
  <Paragraphs>23</Paragraphs>
  <Slides>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Calibri Light</vt:lpstr>
      <vt:lpstr>Thème Office</vt:lpstr>
      <vt:lpstr>Présentation PowerPoint</vt:lpstr>
      <vt:lpstr>PROGRAMME</vt:lpstr>
      <vt:lpstr>Travaux GT RATB/GT SIB</vt:lpstr>
      <vt:lpstr>Travaux GT RATB/GT SIB</vt:lpstr>
      <vt:lpstr>Travaux GT RATB/GT SIB</vt:lpstr>
      <vt:lpstr>Présentation PowerPoint</vt:lpstr>
      <vt:lpstr>Présentation PowerPoint</vt:lpstr>
    </vt:vector>
  </TitlesOfParts>
  <Company>CHU de Rouen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CATHERINE, Solenn</dc:creator>
  <cp:lastModifiedBy>CATHERINE, Solenn</cp:lastModifiedBy>
  <cp:revision>10</cp:revision>
  <dcterms:created xsi:type="dcterms:W3CDTF">2025-10-16T14:33:12Z</dcterms:created>
  <dcterms:modified xsi:type="dcterms:W3CDTF">2025-10-17T07:25:44Z</dcterms:modified>
</cp:coreProperties>
</file>