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1" r:id="rId4"/>
    <p:sldId id="258" r:id="rId5"/>
    <p:sldId id="263" r:id="rId6"/>
    <p:sldId id="264" r:id="rId7"/>
    <p:sldId id="265" r:id="rId8"/>
    <p:sldId id="266" r:id="rId9"/>
    <p:sldId id="267" r:id="rId10"/>
    <p:sldId id="262" r:id="rId11"/>
    <p:sldId id="269" r:id="rId12"/>
    <p:sldId id="270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8E8"/>
    <a:srgbClr val="DB0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397" autoAdjust="0"/>
  </p:normalViewPr>
  <p:slideViewPr>
    <p:cSldViewPr snapToGrid="0" showGuides="1">
      <p:cViewPr varScale="1">
        <p:scale>
          <a:sx n="109" d="100"/>
          <a:sy n="109" d="100"/>
        </p:scale>
        <p:origin x="5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957B9-C571-4901-BFA9-6E01CC9DD6B5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C3907-6BBD-4F96-9CC1-4E85C6DF3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22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Combiner nature (</a:t>
            </a:r>
            <a:r>
              <a:rPr lang="fr-FR" baseline="0" dirty="0" smtClean="0"/>
              <a:t>groupe de </a:t>
            </a:r>
            <a:r>
              <a:rPr lang="fr-FR" baseline="0" dirty="0" err="1" smtClean="0"/>
              <a:t>pvt</a:t>
            </a:r>
            <a:r>
              <a:rPr lang="fr-FR" baseline="0" dirty="0" smtClean="0"/>
              <a:t>) </a:t>
            </a:r>
            <a:r>
              <a:rPr lang="fr-FR" dirty="0" smtClean="0"/>
              <a:t>et sous</a:t>
            </a:r>
            <a:r>
              <a:rPr lang="fr-FR" baseline="0" dirty="0" smtClean="0"/>
              <a:t> classe (en lien avec code analyse BG)  pour catégoriser selon le thésaurus des intitulés  </a:t>
            </a:r>
            <a:r>
              <a:rPr lang="fr-FR" baseline="0" dirty="0" err="1" smtClean="0"/>
              <a:t>Consores</a:t>
            </a:r>
            <a:r>
              <a:rPr lang="fr-FR" baseline="0" dirty="0" smtClean="0"/>
              <a:t> (dans la cohérence avec ONERBA) </a:t>
            </a:r>
          </a:p>
          <a:p>
            <a:r>
              <a:rPr lang="fr-FR" dirty="0" smtClean="0"/>
              <a:t>Urines en excluant 1</a:t>
            </a:r>
            <a:r>
              <a:rPr lang="fr-FR" baseline="30000" dirty="0" smtClean="0"/>
              <a:t>er</a:t>
            </a:r>
            <a:r>
              <a:rPr lang="fr-FR" dirty="0" smtClean="0"/>
              <a:t> jet / individualiser KT au sein des matériels</a:t>
            </a:r>
            <a:r>
              <a:rPr lang="fr-FR" baseline="0" dirty="0" smtClean="0"/>
              <a:t> / séparer LCR pleural articulaire des natures Liquide </a:t>
            </a:r>
            <a:r>
              <a:rPr lang="fr-FR" baseline="0" dirty="0" err="1" smtClean="0"/>
              <a:t>etc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5C3907-6BBD-4F96-9CC1-4E85C6DF38E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539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Ancien nom vs nouveau nom / Intitulés du germe multiples ou identification au stade du complexe / germe non listé</a:t>
            </a:r>
            <a:r>
              <a:rPr lang="fr-FR" baseline="0" dirty="0" smtClean="0"/>
              <a:t> </a:t>
            </a:r>
            <a:r>
              <a:rPr lang="fr-FR" dirty="0" smtClean="0"/>
              <a:t>/</a:t>
            </a:r>
            <a:r>
              <a:rPr lang="fr-FR" baseline="0" dirty="0" smtClean="0"/>
              <a:t>  genre suivi de </a:t>
            </a:r>
            <a:r>
              <a:rPr lang="fr-FR" baseline="0" dirty="0" err="1" smtClean="0"/>
              <a:t>sp</a:t>
            </a:r>
            <a:r>
              <a:rPr lang="fr-FR" baseline="0" dirty="0" smtClean="0"/>
              <a:t>. au lieu de </a:t>
            </a:r>
            <a:r>
              <a:rPr lang="fr-FR" baseline="0" dirty="0" err="1" smtClean="0"/>
              <a:t>spp</a:t>
            </a:r>
            <a:endParaRPr lang="fr-FR" baseline="0" dirty="0" smtClean="0"/>
          </a:p>
          <a:p>
            <a:r>
              <a:rPr lang="fr-FR" baseline="0" dirty="0" smtClean="0"/>
              <a:t>Supprimer de notre relevé les espèces non mentionnées dans l’annexe 4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5C3907-6BBD-4F96-9CC1-4E85C6DF38E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33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45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09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66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05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54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26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48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79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92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24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97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D110E-5CC4-40D2-A7BD-CFACB7E5574E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D537-82B0-4820-AB0C-6DD93AEA75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25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55891" y="549567"/>
            <a:ext cx="9144000" cy="728529"/>
          </a:xfrm>
        </p:spPr>
        <p:txBody>
          <a:bodyPr>
            <a:normAutofit/>
          </a:bodyPr>
          <a:lstStyle/>
          <a:p>
            <a:r>
              <a:rPr lang="fr-FR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Relevé de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résistance</a:t>
            </a:r>
            <a:r>
              <a:rPr lang="fr-FR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aux antibiotiques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1551183"/>
            <a:ext cx="9144000" cy="427422"/>
          </a:xfrm>
        </p:spPr>
        <p:txBody>
          <a:bodyPr>
            <a:noAutofit/>
          </a:bodyPr>
          <a:lstStyle/>
          <a:p>
            <a:r>
              <a:rPr lang="fr-FR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 data sources au relevé final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12535"/>
          <a:stretch/>
        </p:blipFill>
        <p:spPr>
          <a:xfrm>
            <a:off x="115614" y="2238346"/>
            <a:ext cx="7437223" cy="19375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698" y="2980221"/>
            <a:ext cx="4828302" cy="37998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5551" y="4400011"/>
            <a:ext cx="3678379" cy="480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via le relevé CONSORES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06959" y="5360275"/>
            <a:ext cx="36894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solidFill>
                  <a:srgbClr val="0070C0"/>
                </a:solidFill>
              </a:rPr>
              <a:t>Réunion DESAN 23/10/2025</a:t>
            </a:r>
          </a:p>
          <a:p>
            <a:pPr algn="ctr"/>
            <a:r>
              <a:rPr lang="fr-FR" sz="2400" dirty="0" smtClean="0">
                <a:solidFill>
                  <a:srgbClr val="0070C0"/>
                </a:solidFill>
              </a:rPr>
              <a:t>S Boyer </a:t>
            </a:r>
          </a:p>
          <a:p>
            <a:pPr algn="ctr"/>
            <a:r>
              <a:rPr lang="fr-FR" sz="2400" dirty="0" smtClean="0">
                <a:solidFill>
                  <a:srgbClr val="0070C0"/>
                </a:solidFill>
              </a:rPr>
              <a:t>Laboratoire Bactériologie 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64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12478"/>
          <a:stretch/>
        </p:blipFill>
        <p:spPr>
          <a:xfrm>
            <a:off x="94282" y="3587542"/>
            <a:ext cx="12054175" cy="313257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4387"/>
            <a:ext cx="2475558" cy="33246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77158" y="2505670"/>
            <a:ext cx="60717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interprétation selon le CASFM 2022 : </a:t>
            </a:r>
          </a:p>
          <a:p>
            <a:r>
              <a:rPr lang="fr-FR" dirty="0" smtClean="0"/>
              <a:t>S  sensible à posologie standard; F = sensible à forte posologie; R résistant et X = zone d'incertitude technique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577158" y="1012641"/>
            <a:ext cx="9734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chemeClr val="accent5">
                    <a:lumMod val="75000"/>
                  </a:schemeClr>
                </a:solidFill>
              </a:rPr>
              <a:t>Etape 1 : extraction données trimestrielles ou annuelles 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77158" y="104387"/>
            <a:ext cx="6071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Requête dans </a:t>
            </a:r>
            <a:r>
              <a:rPr lang="fr-FR" dirty="0" err="1" smtClean="0"/>
              <a:t>infectioglobal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88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t="-409" b="20917"/>
          <a:stretch/>
        </p:blipFill>
        <p:spPr>
          <a:xfrm>
            <a:off x="-122895" y="764644"/>
            <a:ext cx="12314896" cy="5518461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891515" y="1217067"/>
            <a:ext cx="8408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chemeClr val="accent5">
                    <a:lumMod val="75000"/>
                  </a:schemeClr>
                </a:solidFill>
              </a:rPr>
              <a:t>Etape 2 : Renseigner la table de données SPARES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1103" y="4934243"/>
            <a:ext cx="5514975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dirty="0" smtClean="0"/>
              <a:t>Intitulés des antibiotiques et catégorisation de la souche</a:t>
            </a:r>
          </a:p>
          <a:p>
            <a:r>
              <a:rPr lang="fr-FR" dirty="0" smtClean="0"/>
              <a:t>S  sensible à posologie standard; F = sensible à forte posologie; R résistant et X = zone d'incertitude technique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4136595" y="4456307"/>
            <a:ext cx="230505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600" dirty="0" smtClean="0"/>
              <a:t>Mécanisme de résistance</a:t>
            </a:r>
            <a:endParaRPr lang="fr-FR" sz="1600" dirty="0"/>
          </a:p>
        </p:txBody>
      </p:sp>
      <p:sp>
        <p:nvSpPr>
          <p:cNvPr id="9" name="Rectangle 8"/>
          <p:cNvSpPr/>
          <p:nvPr/>
        </p:nvSpPr>
        <p:spPr>
          <a:xfrm>
            <a:off x="3591782" y="3918581"/>
            <a:ext cx="76506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600" dirty="0" smtClean="0"/>
              <a:t>Germe</a:t>
            </a:r>
            <a:endParaRPr lang="fr-FR" sz="1600" dirty="0"/>
          </a:p>
        </p:txBody>
      </p:sp>
      <p:sp>
        <p:nvSpPr>
          <p:cNvPr id="10" name="Rectangle 9"/>
          <p:cNvSpPr/>
          <p:nvPr/>
        </p:nvSpPr>
        <p:spPr>
          <a:xfrm>
            <a:off x="2001106" y="3207063"/>
            <a:ext cx="159067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sz="1600" dirty="0" smtClean="0"/>
              <a:t>Date et site de Prélèvement</a:t>
            </a:r>
            <a:endParaRPr lang="fr-FR" sz="1600" dirty="0"/>
          </a:p>
        </p:txBody>
      </p:sp>
      <p:sp>
        <p:nvSpPr>
          <p:cNvPr id="11" name="Rectangle 10"/>
          <p:cNvSpPr/>
          <p:nvPr/>
        </p:nvSpPr>
        <p:spPr>
          <a:xfrm>
            <a:off x="76020" y="2599784"/>
            <a:ext cx="192480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600" dirty="0" smtClean="0"/>
              <a:t>UF         IPP          Âge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50045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4" y="59939"/>
            <a:ext cx="9419506" cy="678656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4460" t="182" r="3655" b="6524"/>
          <a:stretch/>
        </p:blipFill>
        <p:spPr>
          <a:xfrm>
            <a:off x="7479095" y="35718"/>
            <a:ext cx="4712904" cy="70273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02827" y="37079"/>
            <a:ext cx="3922299" cy="1071744"/>
          </a:xfrm>
          <a:prstGeom prst="rect">
            <a:avLst/>
          </a:prstGeom>
          <a:noFill/>
          <a:ln w="38100">
            <a:solidFill>
              <a:srgbClr val="FE98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740296" y="595811"/>
            <a:ext cx="37387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Renseigner nature de prélèvement</a:t>
            </a:r>
            <a:endParaRPr lang="fr-FR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07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/>
          <a:srcRect l="82098" t="131" r="-526" b="-131"/>
          <a:stretch/>
        </p:blipFill>
        <p:spPr>
          <a:xfrm>
            <a:off x="101599" y="71437"/>
            <a:ext cx="1697987" cy="67865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57" y="58805"/>
            <a:ext cx="1426852" cy="1255541"/>
          </a:xfrm>
          <a:prstGeom prst="rect">
            <a:avLst/>
          </a:prstGeom>
          <a:noFill/>
          <a:ln w="38100">
            <a:solidFill>
              <a:srgbClr val="FE98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39641" y="391016"/>
            <a:ext cx="1322883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Renseigner l’espèce bactérienne</a:t>
            </a:r>
            <a:endParaRPr lang="fr-F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79" y="58806"/>
            <a:ext cx="4565206" cy="68828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685" y="64781"/>
            <a:ext cx="4603664" cy="6776179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7320" y="-7910"/>
            <a:ext cx="1474680" cy="35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0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05" y="0"/>
            <a:ext cx="4280583" cy="60328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793" y="172880"/>
            <a:ext cx="4565206" cy="688282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2880"/>
            <a:ext cx="4603664" cy="677617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7320" y="177441"/>
            <a:ext cx="1474680" cy="3527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693" y="444804"/>
            <a:ext cx="173099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u problème des thésaurus</a:t>
            </a:r>
            <a:endParaRPr lang="fr-F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8" name="Connecteur droit avec flèche 7"/>
          <p:cNvCxnSpPr/>
          <p:nvPr/>
        </p:nvCxnSpPr>
        <p:spPr>
          <a:xfrm flipV="1">
            <a:off x="2732196" y="1392518"/>
            <a:ext cx="626580" cy="717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>
            <a:off x="2645537" y="2323243"/>
            <a:ext cx="2111734" cy="2702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1790887" y="3729320"/>
            <a:ext cx="1478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Hors base supprimer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351299" y="4849461"/>
            <a:ext cx="1030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solidFill>
                  <a:srgbClr val="FF0000"/>
                </a:solidFill>
              </a:rPr>
              <a:t>Klebsiella</a:t>
            </a:r>
            <a:r>
              <a:rPr lang="fr-FR" sz="1200" dirty="0" smtClean="0">
                <a:solidFill>
                  <a:srgbClr val="FF0000"/>
                </a:solidFill>
              </a:rPr>
              <a:t> </a:t>
            </a:r>
            <a:r>
              <a:rPr lang="fr-FR" sz="1200" dirty="0" err="1" smtClean="0">
                <a:solidFill>
                  <a:srgbClr val="FF0000"/>
                </a:solidFill>
              </a:rPr>
              <a:t>spp</a:t>
            </a:r>
            <a:endParaRPr lang="fr-FR" sz="1200" dirty="0">
              <a:solidFill>
                <a:srgbClr val="FF000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>
            <a:off x="2976335" y="1392518"/>
            <a:ext cx="4787100" cy="1804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3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5284" y="149291"/>
            <a:ext cx="1150048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Renseigner les antibiotiques:  libellés multiples pour un même </a:t>
            </a:r>
            <a:r>
              <a:rPr lang="fr-FR" b="1" dirty="0" err="1" smtClean="0">
                <a:solidFill>
                  <a:schemeClr val="accent5">
                    <a:lumMod val="75000"/>
                  </a:schemeClr>
                </a:solidFill>
              </a:rPr>
              <a:t>atb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 / </a:t>
            </a:r>
            <a:r>
              <a:rPr lang="fr-FR" b="1" dirty="0" smtClean="0">
                <a:solidFill>
                  <a:srgbClr val="FF0000"/>
                </a:solidFill>
              </a:rPr>
              <a:t>un seul libellé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pour tous les germes dans </a:t>
            </a:r>
            <a:r>
              <a:rPr lang="fr-FR" b="1" dirty="0" err="1">
                <a:solidFill>
                  <a:schemeClr val="accent5">
                    <a:lumMod val="75000"/>
                  </a:schemeClr>
                </a:solidFill>
              </a:rPr>
              <a:t>C</a:t>
            </a:r>
            <a:r>
              <a:rPr lang="fr-FR" b="1" dirty="0" err="1" smtClean="0">
                <a:solidFill>
                  <a:schemeClr val="accent5">
                    <a:lumMod val="75000"/>
                  </a:schemeClr>
                </a:solidFill>
              </a:rPr>
              <a:t>onsores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fr-F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b="7761"/>
          <a:stretch/>
        </p:blipFill>
        <p:spPr>
          <a:xfrm>
            <a:off x="375284" y="535026"/>
            <a:ext cx="11352352" cy="592011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8003716" y="2571752"/>
            <a:ext cx="3995068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fr-FR" dirty="0" smtClean="0"/>
              <a:t>Cas antibiotiques et contextes</a:t>
            </a:r>
          </a:p>
          <a:p>
            <a:pPr algn="ctr"/>
            <a:r>
              <a:rPr lang="fr-FR" dirty="0" smtClean="0"/>
              <a:t>Cas ATB avec charges disques différentes</a:t>
            </a:r>
          </a:p>
          <a:p>
            <a:pPr algn="ctr"/>
            <a:r>
              <a:rPr lang="fr-FR" dirty="0" smtClean="0"/>
              <a:t>Molécules testés non répondues </a:t>
            </a:r>
            <a:endParaRPr lang="fr-FR" dirty="0"/>
          </a:p>
        </p:txBody>
      </p:sp>
      <p:sp>
        <p:nvSpPr>
          <p:cNvPr id="6" name="Flèche vers le bas 5"/>
          <p:cNvSpPr/>
          <p:nvPr/>
        </p:nvSpPr>
        <p:spPr>
          <a:xfrm>
            <a:off x="10001250" y="3657600"/>
            <a:ext cx="480060" cy="13830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/>
          <a:srcRect b="7761"/>
          <a:stretch/>
        </p:blipFill>
        <p:spPr>
          <a:xfrm>
            <a:off x="375284" y="468944"/>
            <a:ext cx="11352352" cy="5920112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209102" y="2203700"/>
            <a:ext cx="3950056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fr-FR" dirty="0" smtClean="0"/>
              <a:t>Cas antibiotiques et contextes</a:t>
            </a:r>
          </a:p>
          <a:p>
            <a:pPr algn="ctr"/>
            <a:r>
              <a:rPr lang="fr-FR" dirty="0" smtClean="0"/>
              <a:t>Cas des antibiotiques et voies admin</a:t>
            </a:r>
          </a:p>
          <a:p>
            <a:pPr algn="ctr"/>
            <a:r>
              <a:rPr lang="fr-FR" dirty="0" smtClean="0"/>
              <a:t>Cas </a:t>
            </a:r>
            <a:r>
              <a:rPr lang="fr-FR" dirty="0" err="1" smtClean="0"/>
              <a:t>atb</a:t>
            </a:r>
            <a:r>
              <a:rPr lang="fr-FR" dirty="0" smtClean="0"/>
              <a:t> avec charges disques différentes</a:t>
            </a:r>
          </a:p>
          <a:p>
            <a:pPr algn="ctr"/>
            <a:r>
              <a:rPr lang="fr-FR" dirty="0" smtClean="0"/>
              <a:t>Molécules testées non répondues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9078364" y="5188727"/>
            <a:ext cx="272333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« Fusionner » colonnes en tenant compte du type de contexte et de la voie administration  </a:t>
            </a:r>
            <a:endParaRPr lang="fr-FR" dirty="0"/>
          </a:p>
        </p:txBody>
      </p:sp>
      <p:sp>
        <p:nvSpPr>
          <p:cNvPr id="10" name="Flèche vers le bas 9"/>
          <p:cNvSpPr/>
          <p:nvPr/>
        </p:nvSpPr>
        <p:spPr>
          <a:xfrm>
            <a:off x="10001250" y="3494553"/>
            <a:ext cx="594360" cy="16687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6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" y="657289"/>
            <a:ext cx="12196429" cy="34646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93333"/>
            <a:ext cx="11637425" cy="366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</a:rPr>
              <a:t>Faire correspondre les libellés antibiotiques SPARES  avec les colonnes des data brutes</a:t>
            </a:r>
            <a:endParaRPr lang="fr-F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02888" y="601143"/>
            <a:ext cx="1111472" cy="244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>
                <a:solidFill>
                  <a:srgbClr val="FF0000"/>
                </a:solidFill>
              </a:rPr>
              <a:t>Libellé SPARES</a:t>
            </a:r>
            <a:endParaRPr lang="fr-FR" sz="1000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240559" y="949291"/>
            <a:ext cx="686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>
                <a:solidFill>
                  <a:srgbClr val="FF0000"/>
                </a:solidFill>
              </a:rPr>
              <a:t>Batteries ATB laboratoire tous types de germes  dont certaines molécules répondent pour d’autres ou sont non répondues</a:t>
            </a:r>
            <a:endParaRPr lang="fr-FR" sz="1000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809616" y="1659468"/>
            <a:ext cx="1862272" cy="21544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FR" sz="800" dirty="0" smtClean="0"/>
              <a:t>  Réponse provient de la molécule AMP2</a:t>
            </a:r>
            <a:endParaRPr lang="fr-FR" sz="800" dirty="0"/>
          </a:p>
        </p:txBody>
      </p:sp>
      <p:sp>
        <p:nvSpPr>
          <p:cNvPr id="8" name="ZoneTexte 7"/>
          <p:cNvSpPr txBox="1"/>
          <p:nvPr/>
        </p:nvSpPr>
        <p:spPr>
          <a:xfrm>
            <a:off x="113499" y="4226056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Répondre sous une même colonne certaines molécules :ex  </a:t>
            </a:r>
            <a:r>
              <a:rPr lang="fr-FR" dirty="0" err="1" smtClean="0"/>
              <a:t>amox</a:t>
            </a:r>
            <a:r>
              <a:rPr lang="fr-FR" dirty="0" smtClean="0"/>
              <a:t> IV, AMC IV ou cystites , ….</a:t>
            </a:r>
          </a:p>
          <a:p>
            <a:endParaRPr lang="fr-FR" dirty="0" smtClean="0"/>
          </a:p>
          <a:p>
            <a:r>
              <a:rPr lang="fr-FR" dirty="0" smtClean="0"/>
              <a:t>Corriger les sigles pour se conformer à la nomenclature CASFM : I en SFP; X en ZIT ou non catégorisable</a:t>
            </a:r>
          </a:p>
          <a:p>
            <a:endParaRPr lang="fr-FR" dirty="0" smtClean="0"/>
          </a:p>
          <a:p>
            <a:r>
              <a:rPr lang="fr-FR" dirty="0" smtClean="0"/>
              <a:t>Vérifier la cohérence espèces et phénotypes : résistances naturelles , phénotypes impossibles (S </a:t>
            </a:r>
            <a:r>
              <a:rPr lang="fr-FR" dirty="0" err="1" smtClean="0"/>
              <a:t>péni</a:t>
            </a:r>
            <a:r>
              <a:rPr lang="fr-FR" dirty="0" smtClean="0"/>
              <a:t> et R </a:t>
            </a:r>
            <a:r>
              <a:rPr lang="fr-FR" dirty="0" err="1" smtClean="0"/>
              <a:t>oxa</a:t>
            </a:r>
            <a:r>
              <a:rPr lang="fr-FR" dirty="0" smtClean="0"/>
              <a:t>), mécanisme de résistances et leurs interprétations réglementaires :  R C3G au lieu de S en cas de BLSE, </a:t>
            </a:r>
            <a:r>
              <a:rPr lang="fr-FR" dirty="0" err="1" smtClean="0"/>
              <a:t>carbapénèmase</a:t>
            </a:r>
            <a:r>
              <a:rPr lang="fr-FR" dirty="0" smtClean="0"/>
              <a:t> </a:t>
            </a:r>
          </a:p>
          <a:p>
            <a:endParaRPr lang="fr-FR" dirty="0"/>
          </a:p>
          <a:p>
            <a:r>
              <a:rPr lang="fr-FR" dirty="0" smtClean="0"/>
              <a:t>Problème de la version du CASFM utilisée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60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916524" y="192834"/>
            <a:ext cx="10373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chemeClr val="accent5">
                    <a:lumMod val="75000"/>
                  </a:schemeClr>
                </a:solidFill>
              </a:rPr>
              <a:t>Etape 3 : importer le tableau des résistance dans CONSORES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Image 5"/>
          <p:cNvPicPr/>
          <p:nvPr/>
        </p:nvPicPr>
        <p:blipFill rotWithShape="1">
          <a:blip r:embed="rId2"/>
          <a:srcRect l="-268" t="-1526" r="49968" b="9977"/>
          <a:stretch/>
        </p:blipFill>
        <p:spPr bwMode="auto">
          <a:xfrm>
            <a:off x="388882" y="696310"/>
            <a:ext cx="11414235" cy="54653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/>
          <a:srcRect b="51174"/>
          <a:stretch/>
        </p:blipFill>
        <p:spPr>
          <a:xfrm>
            <a:off x="178676" y="4298649"/>
            <a:ext cx="5160580" cy="153459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/>
          <a:srcRect b="25632"/>
          <a:stretch/>
        </p:blipFill>
        <p:spPr>
          <a:xfrm>
            <a:off x="5223023" y="2550418"/>
            <a:ext cx="6884894" cy="391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7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8" y="820627"/>
            <a:ext cx="12138322" cy="5729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678" y="173253"/>
            <a:ext cx="1163742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sz="2800" b="1" dirty="0" smtClean="0">
                <a:solidFill>
                  <a:schemeClr val="accent5">
                    <a:lumMod val="75000"/>
                  </a:schemeClr>
                </a:solidFill>
              </a:rPr>
              <a:t>Tableau intermédiaire à vérifier/corriger après chaque étape </a:t>
            </a:r>
            <a:endParaRPr lang="fr-FR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99834" y="4960883"/>
            <a:ext cx="1618594" cy="17131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03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/>
          <p:nvPr/>
        </p:nvPicPr>
        <p:blipFill rotWithShape="1">
          <a:blip r:embed="rId2"/>
          <a:srcRect l="-268" t="-1526" r="49968" b="9977"/>
          <a:stretch/>
        </p:blipFill>
        <p:spPr bwMode="auto">
          <a:xfrm>
            <a:off x="320564" y="753960"/>
            <a:ext cx="11824139" cy="57099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884993" y="192834"/>
            <a:ext cx="8776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chemeClr val="accent5">
                    <a:lumMod val="75000"/>
                  </a:schemeClr>
                </a:solidFill>
              </a:rPr>
              <a:t>Etape 4 : validation données après </a:t>
            </a:r>
            <a:r>
              <a:rPr lang="fr-FR" sz="3200" b="1" dirty="0" err="1" smtClean="0">
                <a:solidFill>
                  <a:schemeClr val="accent5">
                    <a:lumMod val="75000"/>
                  </a:schemeClr>
                </a:solidFill>
              </a:rPr>
              <a:t>dédoublonnage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2459421" y="3678621"/>
            <a:ext cx="1828800" cy="97746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5129048" y="3294993"/>
            <a:ext cx="3578773" cy="78302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à entaille 6"/>
          <p:cNvSpPr/>
          <p:nvPr/>
        </p:nvSpPr>
        <p:spPr>
          <a:xfrm>
            <a:off x="1970690" y="5575445"/>
            <a:ext cx="3436882" cy="872359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500740" y="5575445"/>
            <a:ext cx="6414161" cy="8925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sz="2800" b="1" dirty="0" smtClean="0">
                <a:solidFill>
                  <a:schemeClr val="accent5">
                    <a:lumMod val="75000"/>
                  </a:schemeClr>
                </a:solidFill>
              </a:rPr>
              <a:t>Tableau importé pour relevé de sensibilité</a:t>
            </a:r>
          </a:p>
          <a:p>
            <a:pPr algn="ctr"/>
            <a:r>
              <a:rPr lang="fr-FR" sz="2400" dirty="0" smtClean="0">
                <a:solidFill>
                  <a:schemeClr val="accent5">
                    <a:lumMod val="75000"/>
                  </a:schemeClr>
                </a:solidFill>
              </a:rPr>
              <a:t>17 904 isolats</a:t>
            </a:r>
            <a:endParaRPr lang="fr-FR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72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21021" y="42079"/>
            <a:ext cx="966091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chemeClr val="accent5">
                    <a:lumMod val="75000"/>
                  </a:schemeClr>
                </a:solidFill>
              </a:rPr>
              <a:t>Etape 5 : calcul des % de résistance pour le Relevé  CHU 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t="2796"/>
          <a:stretch/>
        </p:blipFill>
        <p:spPr>
          <a:xfrm>
            <a:off x="3741682" y="626854"/>
            <a:ext cx="8040414" cy="6150823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0" y="973470"/>
            <a:ext cx="35441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Calcul de % Résistance ATB :</a:t>
            </a:r>
          </a:p>
          <a:p>
            <a:pPr algn="ctr"/>
            <a:r>
              <a:rPr lang="fr-FR" u="sng" dirty="0" smtClean="0"/>
              <a:t>Nombre souches R à l’antibiotique</a:t>
            </a:r>
          </a:p>
          <a:p>
            <a:pPr algn="ctr"/>
            <a:r>
              <a:rPr lang="fr-FR" dirty="0" smtClean="0"/>
              <a:t>Nombre total souches  (S+SFP+R)</a:t>
            </a:r>
          </a:p>
          <a:p>
            <a:endParaRPr lang="fr-FR" dirty="0" smtClean="0"/>
          </a:p>
          <a:p>
            <a:r>
              <a:rPr lang="fr-FR" dirty="0" smtClean="0"/>
              <a:t>non impacté par S/SFP</a:t>
            </a:r>
          </a:p>
          <a:p>
            <a:r>
              <a:rPr lang="fr-FR" dirty="0" smtClean="0"/>
              <a:t>Comparaison avec % </a:t>
            </a:r>
            <a:r>
              <a:rPr lang="fr-FR" dirty="0" err="1" smtClean="0"/>
              <a:t>Consores</a:t>
            </a:r>
            <a:r>
              <a:rPr lang="fr-FR" dirty="0" smtClean="0"/>
              <a:t> pour autres établissements ou régions</a:t>
            </a:r>
          </a:p>
          <a:p>
            <a:endParaRPr lang="fr-FR" dirty="0"/>
          </a:p>
          <a:p>
            <a:r>
              <a:rPr lang="fr-FR" dirty="0" smtClean="0"/>
              <a:t>Souches d’intérêt clinique (&gt;50/an)</a:t>
            </a:r>
          </a:p>
          <a:p>
            <a:endParaRPr lang="fr-FR" dirty="0"/>
          </a:p>
          <a:p>
            <a:r>
              <a:rPr lang="fr-FR" dirty="0" smtClean="0"/>
              <a:t>Totalité ATBG  version CASFM 2022</a:t>
            </a:r>
          </a:p>
          <a:p>
            <a:r>
              <a:rPr lang="fr-FR" dirty="0" smtClean="0"/>
              <a:t>(</a:t>
            </a:r>
            <a:r>
              <a:rPr lang="fr-FR" smtClean="0"/>
              <a:t>bascule CASFM </a:t>
            </a:r>
            <a:r>
              <a:rPr lang="fr-FR" dirty="0" smtClean="0"/>
              <a:t>2022 mi juin 2023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892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511</Words>
  <Application>Microsoft Office PowerPoint</Application>
  <PresentationFormat>Grand écran</PresentationFormat>
  <Paragraphs>65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Relevé de résistance aux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Relevé de sensibilité aux antibiotiques</dc:title>
  <dc:creator>BOYER, Sophie</dc:creator>
  <cp:lastModifiedBy>PC006093@adm.chu-rouen.lan</cp:lastModifiedBy>
  <cp:revision>49</cp:revision>
  <dcterms:created xsi:type="dcterms:W3CDTF">2025-10-20T13:28:14Z</dcterms:created>
  <dcterms:modified xsi:type="dcterms:W3CDTF">2025-10-23T14:03:20Z</dcterms:modified>
</cp:coreProperties>
</file>