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0" r:id="rId1"/>
    <p:sldMasterId id="2147483673" r:id="rId2"/>
  </p:sldMasterIdLst>
  <p:notesMasterIdLst>
    <p:notesMasterId r:id="rId37"/>
  </p:notesMasterIdLst>
  <p:sldIdLst>
    <p:sldId id="257" r:id="rId3"/>
    <p:sldId id="259" r:id="rId4"/>
    <p:sldId id="268" r:id="rId5"/>
    <p:sldId id="258" r:id="rId6"/>
    <p:sldId id="278" r:id="rId7"/>
    <p:sldId id="318" r:id="rId8"/>
    <p:sldId id="319" r:id="rId9"/>
    <p:sldId id="320" r:id="rId10"/>
    <p:sldId id="274" r:id="rId11"/>
    <p:sldId id="306" r:id="rId12"/>
    <p:sldId id="283" r:id="rId13"/>
    <p:sldId id="307" r:id="rId14"/>
    <p:sldId id="308" r:id="rId15"/>
    <p:sldId id="309" r:id="rId16"/>
    <p:sldId id="325" r:id="rId17"/>
    <p:sldId id="329" r:id="rId18"/>
    <p:sldId id="328" r:id="rId19"/>
    <p:sldId id="326" r:id="rId20"/>
    <p:sldId id="327" r:id="rId21"/>
    <p:sldId id="281" r:id="rId22"/>
    <p:sldId id="280" r:id="rId23"/>
    <p:sldId id="317" r:id="rId24"/>
    <p:sldId id="301" r:id="rId25"/>
    <p:sldId id="299" r:id="rId26"/>
    <p:sldId id="302" r:id="rId27"/>
    <p:sldId id="315" r:id="rId28"/>
    <p:sldId id="305" r:id="rId29"/>
    <p:sldId id="334" r:id="rId30"/>
    <p:sldId id="333" r:id="rId31"/>
    <p:sldId id="332" r:id="rId32"/>
    <p:sldId id="331" r:id="rId33"/>
    <p:sldId id="330" r:id="rId34"/>
    <p:sldId id="272" r:id="rId35"/>
    <p:sldId id="316" r:id="rId3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006093@adm.chu-rouen.lan" initials="P" lastIdx="1" clrIdx="0">
    <p:extLst>
      <p:ext uri="{19B8F6BF-5375-455C-9EA6-DF929625EA0E}">
        <p15:presenceInfo xmlns:p15="http://schemas.microsoft.com/office/powerpoint/2012/main" userId="S-1-5-21-1321665950-11692542-1221738049-51914" providerId="AD"/>
      </p:ext>
    </p:extLst>
  </p:cmAuthor>
  <p:cmAuthor id="2" name="Marion OPATOWSKI" initials="MO" lastIdx="6" clrIdx="1">
    <p:extLst>
      <p:ext uri="{19B8F6BF-5375-455C-9EA6-DF929625EA0E}">
        <p15:presenceInfo xmlns:p15="http://schemas.microsoft.com/office/powerpoint/2012/main" userId="S::marion.opatowski@santepubliquefrance.fr::d0935a03-0d58-4fe4-9ad0-19cf329a92c8" providerId="AD"/>
      </p:ext>
    </p:extLst>
  </p:cmAuthor>
  <p:cmAuthor id="3" name="COLOMB-COTINAT, Melanie" initials="CM" lastIdx="1" clrIdx="2">
    <p:extLst>
      <p:ext uri="{19B8F6BF-5375-455C-9EA6-DF929625EA0E}">
        <p15:presenceInfo xmlns:p15="http://schemas.microsoft.com/office/powerpoint/2012/main" userId="S-1-5-21-1292428093-854245398-725345543-46797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739"/>
    <a:srgbClr val="FF0066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 autoAdjust="0"/>
    <p:restoredTop sz="77907" autoAdjust="0"/>
  </p:normalViewPr>
  <p:slideViewPr>
    <p:cSldViewPr snapToGrid="0">
      <p:cViewPr varScale="1">
        <p:scale>
          <a:sx n="99" d="100"/>
          <a:sy n="99" d="100"/>
        </p:scale>
        <p:origin x="10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view3D>
      <c:rotX val="30"/>
      <c:rotY val="0"/>
      <c:rAngAx val="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Ventes</c:v>
                </c:pt>
              </c:strCache>
            </c:strRef>
          </c:tx>
          <c:cat>
            <c:strRef>
              <c:f>Feuil1!$A$2:$A$5</c:f>
              <c:strCache>
                <c:ptCount val="4"/>
                <c:pt idx="0">
                  <c:v>1er trim.</c:v>
                </c:pt>
                <c:pt idx="1">
                  <c:v>2e trim.</c:v>
                </c:pt>
                <c:pt idx="2">
                  <c:v>3e trim.</c:v>
                </c:pt>
                <c:pt idx="3">
                  <c:v>4e trim.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10-49B8-A3E0-DE08BC7C47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5-11-24T10:55:10.342" idx="3">
    <p:pos x="7419" y="2827"/>
    <p:text>on attend la part de chaque groupe / classe</p:text>
    <p:extLst>
      <p:ext uri="{C676402C-5697-4E1C-873F-D02D1690AC5C}">
        <p15:threadingInfo xmlns:p15="http://schemas.microsoft.com/office/powerpoint/2012/main" timeZoneBias="-6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5F0C7F-DC96-4FFB-A968-514013D5FDBE}" type="doc">
      <dgm:prSet loTypeId="urn:microsoft.com/office/officeart/2009/layout/CircleArrow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4474345C-BAE1-4E5A-AB0F-56BDEF280EC1}">
      <dgm:prSet phldrT="[Texte]"/>
      <dgm:spPr/>
      <dgm:t>
        <a:bodyPr/>
        <a:lstStyle/>
        <a:p>
          <a:r>
            <a:rPr lang="fr-FR" b="1" dirty="0"/>
            <a:t>Expression de besoins </a:t>
          </a:r>
          <a:r>
            <a:rPr lang="fr-FR" b="1" dirty="0" err="1"/>
            <a:t>SpF</a:t>
          </a:r>
          <a:r>
            <a:rPr lang="fr-FR" b="1" dirty="0"/>
            <a:t> et élaboration d’une 1</a:t>
          </a:r>
          <a:r>
            <a:rPr lang="fr-FR" b="1" baseline="30000" dirty="0"/>
            <a:t>ère</a:t>
          </a:r>
          <a:r>
            <a:rPr lang="fr-FR" b="1" dirty="0"/>
            <a:t> série d’indicateurs (Rouen/</a:t>
          </a:r>
          <a:r>
            <a:rPr lang="fr-FR" b="1" dirty="0" err="1"/>
            <a:t>SpF</a:t>
          </a:r>
          <a:r>
            <a:rPr lang="fr-FR" b="1" dirty="0"/>
            <a:t>)</a:t>
          </a:r>
        </a:p>
      </dgm:t>
    </dgm:pt>
    <dgm:pt modelId="{0529C8A3-2C57-48C4-990E-7D0498687F37}" type="parTrans" cxnId="{41922808-66DD-499F-B904-22EE07F06C77}">
      <dgm:prSet/>
      <dgm:spPr/>
      <dgm:t>
        <a:bodyPr/>
        <a:lstStyle/>
        <a:p>
          <a:endParaRPr lang="fr-FR"/>
        </a:p>
      </dgm:t>
    </dgm:pt>
    <dgm:pt modelId="{127543F3-D7DD-47B9-973E-856E91D2BEB2}" type="sibTrans" cxnId="{41922808-66DD-499F-B904-22EE07F06C77}">
      <dgm:prSet/>
      <dgm:spPr/>
      <dgm:t>
        <a:bodyPr/>
        <a:lstStyle/>
        <a:p>
          <a:endParaRPr lang="fr-FR"/>
        </a:p>
      </dgm:t>
    </dgm:pt>
    <dgm:pt modelId="{64592C92-76DD-47FB-8C04-8205843BE1AD}">
      <dgm:prSet phldrT="[Texte]"/>
      <dgm:spPr/>
      <dgm:t>
        <a:bodyPr/>
        <a:lstStyle/>
        <a:p>
          <a:r>
            <a:rPr lang="fr-FR" b="1" dirty="0">
              <a:solidFill>
                <a:schemeClr val="tx1"/>
              </a:solidFill>
            </a:rPr>
            <a:t>Choix et priorisation des indicateurs en GT</a:t>
          </a:r>
        </a:p>
      </dgm:t>
    </dgm:pt>
    <dgm:pt modelId="{BDCB47D6-F7E4-4B16-832B-D748CE01969A}" type="parTrans" cxnId="{AD2C778B-56E4-4AE1-BCD4-CFBDD431BE4B}">
      <dgm:prSet/>
      <dgm:spPr/>
      <dgm:t>
        <a:bodyPr/>
        <a:lstStyle/>
        <a:p>
          <a:endParaRPr lang="fr-FR"/>
        </a:p>
      </dgm:t>
    </dgm:pt>
    <dgm:pt modelId="{9EF3ABF9-2E49-405F-9DD9-D85CBF653E1F}" type="sibTrans" cxnId="{AD2C778B-56E4-4AE1-BCD4-CFBDD431BE4B}">
      <dgm:prSet/>
      <dgm:spPr/>
      <dgm:t>
        <a:bodyPr/>
        <a:lstStyle/>
        <a:p>
          <a:endParaRPr lang="fr-FR"/>
        </a:p>
      </dgm:t>
    </dgm:pt>
    <dgm:pt modelId="{29EE08AF-E3A3-45F5-8A18-C454438F0F55}">
      <dgm:prSet phldrT="[Texte]"/>
      <dgm:spPr/>
      <dgm:t>
        <a:bodyPr/>
        <a:lstStyle/>
        <a:p>
          <a:r>
            <a:rPr lang="fr-FR" dirty="0"/>
            <a:t>Deuxième vague d’indicateurs</a:t>
          </a:r>
          <a:endParaRPr lang="fr-FR" b="1" dirty="0"/>
        </a:p>
      </dgm:t>
    </dgm:pt>
    <dgm:pt modelId="{F48775B0-3072-499F-8820-0AAFEE2688AF}" type="parTrans" cxnId="{B3A32BD3-3B64-473B-AEA1-3F3BEC553797}">
      <dgm:prSet/>
      <dgm:spPr/>
      <dgm:t>
        <a:bodyPr/>
        <a:lstStyle/>
        <a:p>
          <a:endParaRPr lang="fr-FR"/>
        </a:p>
      </dgm:t>
    </dgm:pt>
    <dgm:pt modelId="{80993896-228D-4006-A509-3922575DCF0D}" type="sibTrans" cxnId="{B3A32BD3-3B64-473B-AEA1-3F3BEC553797}">
      <dgm:prSet/>
      <dgm:spPr/>
      <dgm:t>
        <a:bodyPr/>
        <a:lstStyle/>
        <a:p>
          <a:endParaRPr lang="fr-FR"/>
        </a:p>
      </dgm:t>
    </dgm:pt>
    <dgm:pt modelId="{773EBA70-9196-4B8B-80FA-E43CAAEC0932}">
      <dgm:prSet/>
      <dgm:spPr/>
      <dgm:t>
        <a:bodyPr/>
        <a:lstStyle/>
        <a:p>
          <a:endParaRPr lang="fr-FR"/>
        </a:p>
      </dgm:t>
    </dgm:pt>
    <dgm:pt modelId="{06BC2A55-08DA-433A-B511-96BF8A8C87DA}" type="parTrans" cxnId="{8A609271-79BB-46D4-8C57-595714EB2AE8}">
      <dgm:prSet/>
      <dgm:spPr/>
      <dgm:t>
        <a:bodyPr/>
        <a:lstStyle/>
        <a:p>
          <a:endParaRPr lang="fr-FR"/>
        </a:p>
      </dgm:t>
    </dgm:pt>
    <dgm:pt modelId="{D38BFD6B-B62C-4949-8EBA-5DCF45094F15}" type="sibTrans" cxnId="{8A609271-79BB-46D4-8C57-595714EB2AE8}">
      <dgm:prSet/>
      <dgm:spPr/>
      <dgm:t>
        <a:bodyPr/>
        <a:lstStyle/>
        <a:p>
          <a:endParaRPr lang="fr-FR"/>
        </a:p>
      </dgm:t>
    </dgm:pt>
    <dgm:pt modelId="{B69850AC-D5B8-443A-BEA8-994A4819D970}">
      <dgm:prSet custT="1"/>
      <dgm:spPr/>
      <dgm:t>
        <a:bodyPr/>
        <a:lstStyle/>
        <a:p>
          <a:r>
            <a:rPr lang="fr-FR" sz="800" b="1" dirty="0">
              <a:solidFill>
                <a:schemeClr val="tx1"/>
              </a:solidFill>
              <a:latin typeface="+mn-lt"/>
            </a:rPr>
            <a:t>Production et livraison au HDH d’un algorithme qui tourne en local pour adaptation et diffusion aux autres EDSH</a:t>
          </a:r>
        </a:p>
      </dgm:t>
    </dgm:pt>
    <dgm:pt modelId="{6E9CDB3E-92E8-4F59-8D8C-279F69CF2D69}" type="parTrans" cxnId="{EFAE9AF4-406A-4A0C-978F-C0C89FF99192}">
      <dgm:prSet/>
      <dgm:spPr/>
      <dgm:t>
        <a:bodyPr/>
        <a:lstStyle/>
        <a:p>
          <a:endParaRPr lang="fr-FR"/>
        </a:p>
      </dgm:t>
    </dgm:pt>
    <dgm:pt modelId="{02E9E308-A1EF-484B-985E-BCDC5F70A5E3}" type="sibTrans" cxnId="{EFAE9AF4-406A-4A0C-978F-C0C89FF99192}">
      <dgm:prSet/>
      <dgm:spPr/>
      <dgm:t>
        <a:bodyPr/>
        <a:lstStyle/>
        <a:p>
          <a:endParaRPr lang="fr-FR"/>
        </a:p>
      </dgm:t>
    </dgm:pt>
    <dgm:pt modelId="{F844C7CC-5F2C-4E4F-A9E9-F0B1DCAA1405}" type="pres">
      <dgm:prSet presAssocID="{1A5F0C7F-DC96-4FFB-A968-514013D5FDBE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fr-FR"/>
        </a:p>
      </dgm:t>
    </dgm:pt>
    <dgm:pt modelId="{93E8806C-0280-40A6-924A-4461C0B7B52F}" type="pres">
      <dgm:prSet presAssocID="{4474345C-BAE1-4E5A-AB0F-56BDEF280EC1}" presName="Accent1" presStyleCnt="0"/>
      <dgm:spPr/>
    </dgm:pt>
    <dgm:pt modelId="{0A208843-B964-4E76-9695-8D102F234F2A}" type="pres">
      <dgm:prSet presAssocID="{4474345C-BAE1-4E5A-AB0F-56BDEF280EC1}" presName="Accent" presStyleLbl="node1" presStyleIdx="0" presStyleCnt="4"/>
      <dgm:spPr>
        <a:solidFill>
          <a:srgbClr val="DC246A"/>
        </a:solidFill>
      </dgm:spPr>
    </dgm:pt>
    <dgm:pt modelId="{8AB6A3B8-E9F4-4473-A93D-2B74716CC5E6}" type="pres">
      <dgm:prSet presAssocID="{4474345C-BAE1-4E5A-AB0F-56BDEF280EC1}" presName="Parent1" presStyleLbl="revTx" presStyleIdx="0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65BE5CA-4EFE-4302-9954-0B51A81472C5}" type="pres">
      <dgm:prSet presAssocID="{64592C92-76DD-47FB-8C04-8205843BE1AD}" presName="Accent2" presStyleCnt="0"/>
      <dgm:spPr/>
    </dgm:pt>
    <dgm:pt modelId="{36C801B7-4739-47D8-867A-BF955171B5EB}" type="pres">
      <dgm:prSet presAssocID="{64592C92-76DD-47FB-8C04-8205843BE1AD}" presName="Accent" presStyleLbl="node1" presStyleIdx="1" presStyleCnt="4"/>
      <dgm:spPr/>
    </dgm:pt>
    <dgm:pt modelId="{C6337679-CD93-465B-A3EE-AAA34106E068}" type="pres">
      <dgm:prSet presAssocID="{64592C92-76DD-47FB-8C04-8205843BE1AD}" presName="Child2" presStyleLbl="revTx" presStyleIdx="1" presStyleCnt="5" custLinFactY="37644" custLinFactNeighborX="-89908" custLinFactNeighborY="1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A031835-DC8F-4795-BDEC-345842B4FA16}" type="pres">
      <dgm:prSet presAssocID="{64592C92-76DD-47FB-8C04-8205843BE1AD}" presName="Parent2" presStyleLbl="revTx" presStyleIdx="2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5783D75-E7D1-4571-B9CD-E9C8DB01742E}" type="pres">
      <dgm:prSet presAssocID="{773EBA70-9196-4B8B-80FA-E43CAAEC0932}" presName="Accent3" presStyleCnt="0"/>
      <dgm:spPr/>
    </dgm:pt>
    <dgm:pt modelId="{15B29E3C-7D35-4113-9990-0327221446AA}" type="pres">
      <dgm:prSet presAssocID="{773EBA70-9196-4B8B-80FA-E43CAAEC0932}" presName="Accent" presStyleLbl="node1" presStyleIdx="2" presStyleCnt="4"/>
      <dgm:spPr/>
    </dgm:pt>
    <dgm:pt modelId="{6807C035-87E4-4001-A917-D373A95B6B4D}" type="pres">
      <dgm:prSet presAssocID="{773EBA70-9196-4B8B-80FA-E43CAAEC0932}" presName="Parent3" presStyleLbl="revTx" presStyleIdx="3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5730D6F-11DD-4C6D-9894-4A5EE3FF7ADB}" type="pres">
      <dgm:prSet presAssocID="{29EE08AF-E3A3-45F5-8A18-C454438F0F55}" presName="Accent4" presStyleCnt="0"/>
      <dgm:spPr/>
    </dgm:pt>
    <dgm:pt modelId="{61834052-4434-4B30-874A-3E70E5A183AA}" type="pres">
      <dgm:prSet presAssocID="{29EE08AF-E3A3-45F5-8A18-C454438F0F55}" presName="Accent" presStyleLbl="node1" presStyleIdx="3" presStyleCnt="4"/>
      <dgm:spPr>
        <a:solidFill>
          <a:srgbClr val="002060"/>
        </a:solidFill>
      </dgm:spPr>
    </dgm:pt>
    <dgm:pt modelId="{B5C38C14-858F-475B-A82C-DDE7F3821496}" type="pres">
      <dgm:prSet presAssocID="{29EE08AF-E3A3-45F5-8A18-C454438F0F55}" presName="Parent4" presStyleLbl="revTx" presStyleIdx="4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B6CC9603-52B9-480B-8830-ADDA5875677A}" type="presOf" srcId="{773EBA70-9196-4B8B-80FA-E43CAAEC0932}" destId="{6807C035-87E4-4001-A917-D373A95B6B4D}" srcOrd="0" destOrd="0" presId="urn:microsoft.com/office/officeart/2009/layout/CircleArrowProcess"/>
    <dgm:cxn modelId="{EFAE9AF4-406A-4A0C-978F-C0C89FF99192}" srcId="{64592C92-76DD-47FB-8C04-8205843BE1AD}" destId="{B69850AC-D5B8-443A-BEA8-994A4819D970}" srcOrd="0" destOrd="0" parTransId="{6E9CDB3E-92E8-4F59-8D8C-279F69CF2D69}" sibTransId="{02E9E308-A1EF-484B-985E-BCDC5F70A5E3}"/>
    <dgm:cxn modelId="{AD2C778B-56E4-4AE1-BCD4-CFBDD431BE4B}" srcId="{1A5F0C7F-DC96-4FFB-A968-514013D5FDBE}" destId="{64592C92-76DD-47FB-8C04-8205843BE1AD}" srcOrd="1" destOrd="0" parTransId="{BDCB47D6-F7E4-4B16-832B-D748CE01969A}" sibTransId="{9EF3ABF9-2E49-405F-9DD9-D85CBF653E1F}"/>
    <dgm:cxn modelId="{E35EF7FB-1E01-4AC6-BDF7-7AFEA17D1C6C}" type="presOf" srcId="{4474345C-BAE1-4E5A-AB0F-56BDEF280EC1}" destId="{8AB6A3B8-E9F4-4473-A93D-2B74716CC5E6}" srcOrd="0" destOrd="0" presId="urn:microsoft.com/office/officeart/2009/layout/CircleArrowProcess"/>
    <dgm:cxn modelId="{41922808-66DD-499F-B904-22EE07F06C77}" srcId="{1A5F0C7F-DC96-4FFB-A968-514013D5FDBE}" destId="{4474345C-BAE1-4E5A-AB0F-56BDEF280EC1}" srcOrd="0" destOrd="0" parTransId="{0529C8A3-2C57-48C4-990E-7D0498687F37}" sibTransId="{127543F3-D7DD-47B9-973E-856E91D2BEB2}"/>
    <dgm:cxn modelId="{3D15C1E4-16C1-48D5-B12B-492343128CD1}" type="presOf" srcId="{1A5F0C7F-DC96-4FFB-A968-514013D5FDBE}" destId="{F844C7CC-5F2C-4E4F-A9E9-F0B1DCAA1405}" srcOrd="0" destOrd="0" presId="urn:microsoft.com/office/officeart/2009/layout/CircleArrowProcess"/>
    <dgm:cxn modelId="{C46AF541-4730-4EA0-A1BC-1E197277B025}" type="presOf" srcId="{B69850AC-D5B8-443A-BEA8-994A4819D970}" destId="{C6337679-CD93-465B-A3EE-AAA34106E068}" srcOrd="0" destOrd="0" presId="urn:microsoft.com/office/officeart/2009/layout/CircleArrowProcess"/>
    <dgm:cxn modelId="{B3A32BD3-3B64-473B-AEA1-3F3BEC553797}" srcId="{1A5F0C7F-DC96-4FFB-A968-514013D5FDBE}" destId="{29EE08AF-E3A3-45F5-8A18-C454438F0F55}" srcOrd="3" destOrd="0" parTransId="{F48775B0-3072-499F-8820-0AAFEE2688AF}" sibTransId="{80993896-228D-4006-A509-3922575DCF0D}"/>
    <dgm:cxn modelId="{21822C87-0D0F-4AC8-8414-E32A4E6E6440}" type="presOf" srcId="{64592C92-76DD-47FB-8C04-8205843BE1AD}" destId="{6A031835-DC8F-4795-BDEC-345842B4FA16}" srcOrd="0" destOrd="0" presId="urn:microsoft.com/office/officeart/2009/layout/CircleArrowProcess"/>
    <dgm:cxn modelId="{8EE95440-A279-4F59-96F6-C5A0475C84BD}" type="presOf" srcId="{29EE08AF-E3A3-45F5-8A18-C454438F0F55}" destId="{B5C38C14-858F-475B-A82C-DDE7F3821496}" srcOrd="0" destOrd="0" presId="urn:microsoft.com/office/officeart/2009/layout/CircleArrowProcess"/>
    <dgm:cxn modelId="{8A609271-79BB-46D4-8C57-595714EB2AE8}" srcId="{1A5F0C7F-DC96-4FFB-A968-514013D5FDBE}" destId="{773EBA70-9196-4B8B-80FA-E43CAAEC0932}" srcOrd="2" destOrd="0" parTransId="{06BC2A55-08DA-433A-B511-96BF8A8C87DA}" sibTransId="{D38BFD6B-B62C-4949-8EBA-5DCF45094F15}"/>
    <dgm:cxn modelId="{78C63CA4-1543-4D22-B2DC-404182CCF201}" type="presParOf" srcId="{F844C7CC-5F2C-4E4F-A9E9-F0B1DCAA1405}" destId="{93E8806C-0280-40A6-924A-4461C0B7B52F}" srcOrd="0" destOrd="0" presId="urn:microsoft.com/office/officeart/2009/layout/CircleArrowProcess"/>
    <dgm:cxn modelId="{FF77BE0B-81F5-4B53-B448-87F6F0FE8257}" type="presParOf" srcId="{93E8806C-0280-40A6-924A-4461C0B7B52F}" destId="{0A208843-B964-4E76-9695-8D102F234F2A}" srcOrd="0" destOrd="0" presId="urn:microsoft.com/office/officeart/2009/layout/CircleArrowProcess"/>
    <dgm:cxn modelId="{AC66EF94-7ED5-4822-82AB-CAF6C7C791BB}" type="presParOf" srcId="{F844C7CC-5F2C-4E4F-A9E9-F0B1DCAA1405}" destId="{8AB6A3B8-E9F4-4473-A93D-2B74716CC5E6}" srcOrd="1" destOrd="0" presId="urn:microsoft.com/office/officeart/2009/layout/CircleArrowProcess"/>
    <dgm:cxn modelId="{83946FEB-6680-4B09-97C5-FDB323BABDF2}" type="presParOf" srcId="{F844C7CC-5F2C-4E4F-A9E9-F0B1DCAA1405}" destId="{B65BE5CA-4EFE-4302-9954-0B51A81472C5}" srcOrd="2" destOrd="0" presId="urn:microsoft.com/office/officeart/2009/layout/CircleArrowProcess"/>
    <dgm:cxn modelId="{FCCD3015-2541-4285-82A2-7BFCD880E7B8}" type="presParOf" srcId="{B65BE5CA-4EFE-4302-9954-0B51A81472C5}" destId="{36C801B7-4739-47D8-867A-BF955171B5EB}" srcOrd="0" destOrd="0" presId="urn:microsoft.com/office/officeart/2009/layout/CircleArrowProcess"/>
    <dgm:cxn modelId="{72EC7D84-1368-431A-9ED6-64EB12429A23}" type="presParOf" srcId="{F844C7CC-5F2C-4E4F-A9E9-F0B1DCAA1405}" destId="{C6337679-CD93-465B-A3EE-AAA34106E068}" srcOrd="3" destOrd="0" presId="urn:microsoft.com/office/officeart/2009/layout/CircleArrowProcess"/>
    <dgm:cxn modelId="{11A41396-0E96-4C9D-B6C1-4B54C629DFBE}" type="presParOf" srcId="{F844C7CC-5F2C-4E4F-A9E9-F0B1DCAA1405}" destId="{6A031835-DC8F-4795-BDEC-345842B4FA16}" srcOrd="4" destOrd="0" presId="urn:microsoft.com/office/officeart/2009/layout/CircleArrowProcess"/>
    <dgm:cxn modelId="{05D18F57-F247-4837-982A-D388FBDFFC0C}" type="presParOf" srcId="{F844C7CC-5F2C-4E4F-A9E9-F0B1DCAA1405}" destId="{15783D75-E7D1-4571-B9CD-E9C8DB01742E}" srcOrd="5" destOrd="0" presId="urn:microsoft.com/office/officeart/2009/layout/CircleArrowProcess"/>
    <dgm:cxn modelId="{C8682CA5-5D7D-4083-BC13-88B58CC9C607}" type="presParOf" srcId="{15783D75-E7D1-4571-B9CD-E9C8DB01742E}" destId="{15B29E3C-7D35-4113-9990-0327221446AA}" srcOrd="0" destOrd="0" presId="urn:microsoft.com/office/officeart/2009/layout/CircleArrowProcess"/>
    <dgm:cxn modelId="{EF16EE19-33D5-4172-AE22-29BC153958DC}" type="presParOf" srcId="{F844C7CC-5F2C-4E4F-A9E9-F0B1DCAA1405}" destId="{6807C035-87E4-4001-A917-D373A95B6B4D}" srcOrd="6" destOrd="0" presId="urn:microsoft.com/office/officeart/2009/layout/CircleArrowProcess"/>
    <dgm:cxn modelId="{DEE2D71C-ED73-4A58-9524-CB5B57BCD8B2}" type="presParOf" srcId="{F844C7CC-5F2C-4E4F-A9E9-F0B1DCAA1405}" destId="{25730D6F-11DD-4C6D-9894-4A5EE3FF7ADB}" srcOrd="7" destOrd="0" presId="urn:microsoft.com/office/officeart/2009/layout/CircleArrowProcess"/>
    <dgm:cxn modelId="{CA79BE65-8D12-4ADB-A835-C4DABC8D401F}" type="presParOf" srcId="{25730D6F-11DD-4C6D-9894-4A5EE3FF7ADB}" destId="{61834052-4434-4B30-874A-3E70E5A183AA}" srcOrd="0" destOrd="0" presId="urn:microsoft.com/office/officeart/2009/layout/CircleArrowProcess"/>
    <dgm:cxn modelId="{A4F40B47-D96C-4D3B-A680-AA52159279C0}" type="presParOf" srcId="{F844C7CC-5F2C-4E4F-A9E9-F0B1DCAA1405}" destId="{B5C38C14-858F-475B-A82C-DDE7F3821496}" srcOrd="8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208843-B964-4E76-9695-8D102F234F2A}">
      <dsp:nvSpPr>
        <dsp:cNvPr id="0" name=""/>
        <dsp:cNvSpPr/>
      </dsp:nvSpPr>
      <dsp:spPr>
        <a:xfrm>
          <a:off x="996895" y="0"/>
          <a:ext cx="2105370" cy="2105584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rgbClr val="DC246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B6A3B8-E9F4-4473-A93D-2B74716CC5E6}">
      <dsp:nvSpPr>
        <dsp:cNvPr id="0" name=""/>
        <dsp:cNvSpPr/>
      </dsp:nvSpPr>
      <dsp:spPr>
        <a:xfrm>
          <a:off x="1461727" y="762164"/>
          <a:ext cx="1174916" cy="587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800" b="1" kern="1200" dirty="0"/>
            <a:t>Expression de besoins </a:t>
          </a:r>
          <a:r>
            <a:rPr lang="fr-FR" sz="800" b="1" kern="1200" dirty="0" err="1"/>
            <a:t>SpF</a:t>
          </a:r>
          <a:r>
            <a:rPr lang="fr-FR" sz="800" b="1" kern="1200" dirty="0"/>
            <a:t> et élaboration d’une 1</a:t>
          </a:r>
          <a:r>
            <a:rPr lang="fr-FR" sz="800" b="1" kern="1200" baseline="30000" dirty="0"/>
            <a:t>ère</a:t>
          </a:r>
          <a:r>
            <a:rPr lang="fr-FR" sz="800" b="1" kern="1200" dirty="0"/>
            <a:t> série d’indicateurs (Rouen/</a:t>
          </a:r>
          <a:r>
            <a:rPr lang="fr-FR" sz="800" b="1" kern="1200" dirty="0" err="1"/>
            <a:t>SpF</a:t>
          </a:r>
          <a:r>
            <a:rPr lang="fr-FR" sz="800" b="1" kern="1200" dirty="0"/>
            <a:t>)</a:t>
          </a:r>
        </a:p>
      </dsp:txBody>
      <dsp:txXfrm>
        <a:off x="1461727" y="762164"/>
        <a:ext cx="1174916" cy="587397"/>
      </dsp:txXfrm>
    </dsp:sp>
    <dsp:sp modelId="{36C801B7-4739-47D8-867A-BF955171B5EB}">
      <dsp:nvSpPr>
        <dsp:cNvPr id="0" name=""/>
        <dsp:cNvSpPr/>
      </dsp:nvSpPr>
      <dsp:spPr>
        <a:xfrm>
          <a:off x="412004" y="1209971"/>
          <a:ext cx="2105370" cy="2105584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337679-CD93-465B-A3EE-AAA34106E068}">
      <dsp:nvSpPr>
        <dsp:cNvPr id="0" name=""/>
        <dsp:cNvSpPr/>
      </dsp:nvSpPr>
      <dsp:spPr>
        <a:xfrm>
          <a:off x="1389274" y="3002125"/>
          <a:ext cx="1262195" cy="837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800" b="1" kern="1200" dirty="0">
              <a:solidFill>
                <a:schemeClr val="tx1"/>
              </a:solidFill>
              <a:latin typeface="+mn-lt"/>
            </a:rPr>
            <a:t>Production et livraison au HDH d’un algorithme qui tourne en local pour adaptation et diffusion aux autres EDSH</a:t>
          </a:r>
        </a:p>
      </dsp:txBody>
      <dsp:txXfrm>
        <a:off x="1389274" y="3002125"/>
        <a:ext cx="1262195" cy="837543"/>
      </dsp:txXfrm>
    </dsp:sp>
    <dsp:sp modelId="{6A031835-DC8F-4795-BDEC-345842B4FA16}">
      <dsp:nvSpPr>
        <dsp:cNvPr id="0" name=""/>
        <dsp:cNvSpPr/>
      </dsp:nvSpPr>
      <dsp:spPr>
        <a:xfrm>
          <a:off x="874467" y="1974369"/>
          <a:ext cx="1174916" cy="587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800" b="1" kern="1200" dirty="0">
              <a:solidFill>
                <a:schemeClr val="tx1"/>
              </a:solidFill>
            </a:rPr>
            <a:t>Choix et priorisation des indicateurs en GT</a:t>
          </a:r>
        </a:p>
      </dsp:txBody>
      <dsp:txXfrm>
        <a:off x="874467" y="1974369"/>
        <a:ext cx="1174916" cy="587397"/>
      </dsp:txXfrm>
    </dsp:sp>
    <dsp:sp modelId="{15B29E3C-7D35-4113-9990-0327221446AA}">
      <dsp:nvSpPr>
        <dsp:cNvPr id="0" name=""/>
        <dsp:cNvSpPr/>
      </dsp:nvSpPr>
      <dsp:spPr>
        <a:xfrm>
          <a:off x="996895" y="2424409"/>
          <a:ext cx="2105370" cy="2105584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07C035-87E4-4001-A917-D373A95B6B4D}">
      <dsp:nvSpPr>
        <dsp:cNvPr id="0" name=""/>
        <dsp:cNvSpPr/>
      </dsp:nvSpPr>
      <dsp:spPr>
        <a:xfrm>
          <a:off x="1461727" y="3186574"/>
          <a:ext cx="1174916" cy="587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800" kern="1200"/>
        </a:p>
      </dsp:txBody>
      <dsp:txXfrm>
        <a:off x="1461727" y="3186574"/>
        <a:ext cx="1174916" cy="587397"/>
      </dsp:txXfrm>
    </dsp:sp>
    <dsp:sp modelId="{61834052-4434-4B30-874A-3E70E5A183AA}">
      <dsp:nvSpPr>
        <dsp:cNvPr id="0" name=""/>
        <dsp:cNvSpPr/>
      </dsp:nvSpPr>
      <dsp:spPr>
        <a:xfrm>
          <a:off x="562077" y="3773972"/>
          <a:ext cx="1808778" cy="1809652"/>
        </a:xfrm>
        <a:prstGeom prst="blockArc">
          <a:avLst>
            <a:gd name="adj1" fmla="val 0"/>
            <a:gd name="adj2" fmla="val 18900000"/>
            <a:gd name="adj3" fmla="val 1274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C38C14-858F-475B-A82C-DDE7F3821496}">
      <dsp:nvSpPr>
        <dsp:cNvPr id="0" name=""/>
        <dsp:cNvSpPr/>
      </dsp:nvSpPr>
      <dsp:spPr>
        <a:xfrm>
          <a:off x="874467" y="4398779"/>
          <a:ext cx="1174916" cy="587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800" kern="1200" dirty="0"/>
            <a:t>Deuxième vague d’indicateurs</a:t>
          </a:r>
          <a:endParaRPr lang="fr-FR" sz="800" b="1" kern="1200" dirty="0"/>
        </a:p>
      </dsp:txBody>
      <dsp:txXfrm>
        <a:off x="874467" y="4398779"/>
        <a:ext cx="1174916" cy="5873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20FD45-1F7B-4E62-AE17-36041A3363A9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011D96-2BC8-41DA-B0AB-7704B73D61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7959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Les données issues de </a:t>
            </a:r>
            <a:r>
              <a:rPr lang="fr-FR" dirty="0" err="1" smtClean="0"/>
              <a:t>infectiolab</a:t>
            </a:r>
            <a:r>
              <a:rPr lang="fr-FR" dirty="0" smtClean="0"/>
              <a:t> se présentent en *format long* (</a:t>
            </a:r>
            <a:r>
              <a:rPr lang="fr-FR" dirty="0" err="1" smtClean="0"/>
              <a:t>plusieures</a:t>
            </a:r>
            <a:r>
              <a:rPr lang="fr-FR" dirty="0" smtClean="0"/>
              <a:t> lignes par patient).</a:t>
            </a:r>
          </a:p>
          <a:p>
            <a:r>
              <a:rPr lang="fr-FR" dirty="0" smtClean="0"/>
              <a:t>- `PATID / EVTID / ELTID` : ID du patient, ID du séjour, ID du document</a:t>
            </a:r>
          </a:p>
          <a:p>
            <a:r>
              <a:rPr lang="fr-FR" dirty="0" smtClean="0"/>
              <a:t>- `DATEPRELEV` : date du prélèvement</a:t>
            </a:r>
          </a:p>
          <a:p>
            <a:r>
              <a:rPr lang="fr-FR" dirty="0" smtClean="0"/>
              <a:t>- `NATUREPVT` : nature du prélèvement (urines/LCR/</a:t>
            </a:r>
            <a:r>
              <a:rPr lang="fr-FR" dirty="0" err="1" smtClean="0"/>
              <a:t>etc</a:t>
            </a:r>
            <a:r>
              <a:rPr lang="fr-FR" dirty="0" smtClean="0"/>
              <a:t>)</a:t>
            </a:r>
          </a:p>
          <a:p>
            <a:r>
              <a:rPr lang="fr-FR" dirty="0" smtClean="0"/>
              <a:t>- `$IDENTIFICATION` : </a:t>
            </a:r>
            <a:r>
              <a:rPr lang="fr-FR" dirty="0" err="1" smtClean="0"/>
              <a:t>bacteries</a:t>
            </a:r>
            <a:r>
              <a:rPr lang="fr-FR" dirty="0" smtClean="0"/>
              <a:t> testés</a:t>
            </a:r>
          </a:p>
          <a:p>
            <a:r>
              <a:rPr lang="fr-FR" dirty="0" smtClean="0"/>
              <a:t>- `$STRRES` : résultat </a:t>
            </a:r>
          </a:p>
          <a:p>
            <a:pPr marL="171450" indent="-171450">
              <a:buFontTx/>
              <a:buChar char="-"/>
            </a:pPr>
            <a:r>
              <a:rPr lang="fr-FR" dirty="0" smtClean="0"/>
              <a:t>`$LBLRES` : "type" de résultat (SIR est l'</a:t>
            </a:r>
            <a:r>
              <a:rPr lang="fr-FR" dirty="0" err="1" smtClean="0"/>
              <a:t>abreviation</a:t>
            </a:r>
            <a:r>
              <a:rPr lang="fr-FR" dirty="0" smtClean="0"/>
              <a:t> de **S**</a:t>
            </a:r>
            <a:r>
              <a:rPr lang="fr-FR" dirty="0" err="1" smtClean="0"/>
              <a:t>ensible</a:t>
            </a:r>
            <a:r>
              <a:rPr lang="fr-FR" dirty="0" smtClean="0"/>
              <a:t> **I**</a:t>
            </a:r>
            <a:r>
              <a:rPr lang="fr-FR" dirty="0" err="1" smtClean="0"/>
              <a:t>ndeterminé</a:t>
            </a:r>
            <a:r>
              <a:rPr lang="fr-FR" dirty="0" smtClean="0"/>
              <a:t> **R**</a:t>
            </a:r>
            <a:r>
              <a:rPr lang="fr-FR" dirty="0" err="1" smtClean="0"/>
              <a:t>esistant</a:t>
            </a:r>
            <a:r>
              <a:rPr lang="fr-FR" dirty="0" smtClean="0"/>
              <a:t>).</a:t>
            </a:r>
          </a:p>
          <a:p>
            <a:pPr marL="171450" indent="-171450">
              <a:buFontTx/>
              <a:buChar char="-"/>
            </a:pPr>
            <a:endParaRPr lang="fr-FR" dirty="0" smtClean="0"/>
          </a:p>
          <a:p>
            <a:pPr marL="0" indent="0">
              <a:buFontTx/>
              <a:buNone/>
            </a:pPr>
            <a:r>
              <a:rPr lang="fr-FR" dirty="0" smtClean="0"/>
              <a:t>Étant donné que nous devons être en mesure de distinguer plusieurs souches d'une même bactérie, nous avons besoin d'un moyen de comprendre à laquelle appartient chaque résultat.</a:t>
            </a:r>
          </a:p>
          <a:p>
            <a:pPr marL="0" indent="0">
              <a:buFontTx/>
              <a:buNone/>
            </a:pPr>
            <a:endParaRPr lang="fr-FR" dirty="0" smtClean="0"/>
          </a:p>
          <a:p>
            <a:pPr marL="0" indent="0">
              <a:buFontTx/>
              <a:buNone/>
            </a:pPr>
            <a:r>
              <a:rPr lang="fr-FR" dirty="0" smtClean="0"/>
              <a:t>Le filtrage `$LBLRES ==  « Isolat et commentaire germe »` nous permet de le faire, à condition que le fichier soit classé dans le bon ordre, ce qui peut être garanti en le triant par `$TRI` (masqué dans cet exemple).  </a:t>
            </a:r>
          </a:p>
          <a:p>
            <a:pPr marL="0" indent="0">
              <a:buFontTx/>
              <a:buNone/>
            </a:pPr>
            <a:endParaRPr lang="fr-FR" dirty="0" smtClean="0"/>
          </a:p>
          <a:p>
            <a:pPr marL="0" indent="0">
              <a:buFontTx/>
              <a:buNone/>
            </a:pPr>
            <a:r>
              <a:rPr lang="fr-FR" dirty="0" smtClean="0"/>
              <a:t>Nous devrons ensuite passer au *format large* pour l'étape de </a:t>
            </a:r>
            <a:r>
              <a:rPr lang="fr-FR" dirty="0" err="1" smtClean="0"/>
              <a:t>dedoublonnage</a:t>
            </a:r>
            <a:r>
              <a:rPr lang="fr-FR" dirty="0" smtClean="0"/>
              <a:t>.</a:t>
            </a:r>
            <a:endParaRPr lang="en-GB" dirty="0" smtClean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011D96-2BC8-41DA-B0AB-7704B73D61CC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291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011D96-2BC8-41DA-B0AB-7704B73D61CC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9189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Voici un exemple pratico-pratique légèrement simplifié: </a:t>
            </a:r>
          </a:p>
          <a:p>
            <a:endParaRPr lang="fr-FR" dirty="0" smtClean="0"/>
          </a:p>
          <a:p>
            <a:r>
              <a:rPr lang="fr-FR" dirty="0" smtClean="0"/>
              <a:t>Bla </a:t>
            </a:r>
            <a:r>
              <a:rPr lang="fr-FR" dirty="0" err="1" smtClean="0"/>
              <a:t>bla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bla</a:t>
            </a:r>
            <a:r>
              <a:rPr lang="fr-FR" baseline="0" dirty="0" smtClean="0"/>
              <a:t> explication de la logique de doublonnage</a:t>
            </a:r>
          </a:p>
          <a:p>
            <a:endParaRPr lang="fr-FR" baseline="0" dirty="0" smtClean="0"/>
          </a:p>
          <a:p>
            <a:r>
              <a:rPr lang="fr-FR" baseline="0" dirty="0" smtClean="0"/>
              <a:t>L'étape `</a:t>
            </a:r>
            <a:r>
              <a:rPr lang="fr-FR" baseline="0" dirty="0" err="1" smtClean="0"/>
              <a:t>fill</a:t>
            </a:r>
            <a:r>
              <a:rPr lang="fr-FR" baseline="0" dirty="0" smtClean="0"/>
              <a:t>()` </a:t>
            </a:r>
            <a:r>
              <a:rPr lang="fr-FR" baseline="0" dirty="0" err="1" smtClean="0"/>
              <a:t>equivaut</a:t>
            </a:r>
            <a:r>
              <a:rPr lang="fr-FR" baseline="0" dirty="0" smtClean="0"/>
              <a:t> à </a:t>
            </a:r>
            <a:r>
              <a:rPr lang="fr-FR" baseline="0" dirty="0" err="1" smtClean="0"/>
              <a:t>completer</a:t>
            </a:r>
            <a:r>
              <a:rPr lang="fr-FR" baseline="0" dirty="0" smtClean="0"/>
              <a:t> les documents incomplets avec l'info dans les plus complets (pour le même patient bien sur). Ca gère la condition nb 2.</a:t>
            </a:r>
          </a:p>
          <a:p>
            <a:endParaRPr lang="fr-FR" baseline="0" dirty="0" smtClean="0"/>
          </a:p>
          <a:p>
            <a:r>
              <a:rPr lang="fr-FR" baseline="0" dirty="0" smtClean="0"/>
              <a:t>**NB:** Il est très important d'avoir une colonne supplémentaire qui compte le nb de résultats (ou qui attribue un "</a:t>
            </a:r>
            <a:r>
              <a:rPr lang="fr-FR" baseline="0" dirty="0" err="1" smtClean="0"/>
              <a:t>rank</a:t>
            </a:r>
            <a:r>
              <a:rPr lang="fr-FR" baseline="0" dirty="0" smtClean="0"/>
              <a:t>" aux colonnes)et faire un   </a:t>
            </a:r>
          </a:p>
          <a:p>
            <a:r>
              <a:rPr lang="fr-FR" baseline="0" dirty="0" smtClean="0"/>
              <a:t>`</a:t>
            </a:r>
            <a:r>
              <a:rPr lang="fr-FR" baseline="0" dirty="0" err="1" smtClean="0"/>
              <a:t>group_by</a:t>
            </a:r>
            <a:r>
              <a:rPr lang="fr-FR" baseline="0" dirty="0" smtClean="0"/>
              <a:t>(PATID,TYPE_PRELEVEMENT,IDENTIFICATION,atb_1,atb_2,atb_3,atb_4,atb_5) %&gt;% </a:t>
            </a:r>
            <a:r>
              <a:rPr lang="fr-FR" baseline="0" dirty="0" err="1" smtClean="0"/>
              <a:t>slice_max</a:t>
            </a:r>
            <a:r>
              <a:rPr lang="fr-FR" baseline="0" dirty="0" smtClean="0"/>
              <a:t>(</a:t>
            </a:r>
            <a:r>
              <a:rPr lang="fr-FR" baseline="0" dirty="0" err="1" smtClean="0"/>
              <a:t>nb_res</a:t>
            </a:r>
            <a:r>
              <a:rPr lang="fr-FR" baseline="0" dirty="0" smtClean="0"/>
              <a:t>)`</a:t>
            </a:r>
          </a:p>
          <a:p>
            <a:endParaRPr lang="fr-FR" baseline="0" dirty="0" smtClean="0"/>
          </a:p>
          <a:p>
            <a:r>
              <a:rPr lang="fr-FR" baseline="0" dirty="0" smtClean="0"/>
              <a:t>**NB2 :** `</a:t>
            </a:r>
            <a:r>
              <a:rPr lang="fr-FR" baseline="0" dirty="0" err="1" smtClean="0"/>
              <a:t>group_by</a:t>
            </a:r>
            <a:r>
              <a:rPr lang="fr-FR" baseline="0" dirty="0" smtClean="0"/>
              <a:t>` PATID ou EVTID change tout. </a:t>
            </a:r>
            <a:r>
              <a:rPr lang="fr-FR" baseline="0" dirty="0" err="1" smtClean="0"/>
              <a:t>Dedoublonner</a:t>
            </a:r>
            <a:r>
              <a:rPr lang="fr-FR" baseline="0" dirty="0" smtClean="0"/>
              <a:t> sur le patient ou </a:t>
            </a:r>
            <a:r>
              <a:rPr lang="fr-FR" baseline="0" dirty="0" err="1" smtClean="0"/>
              <a:t>dedoublonner</a:t>
            </a:r>
            <a:r>
              <a:rPr lang="fr-FR" baseline="0" dirty="0" smtClean="0"/>
              <a:t> sur le séjour. Ca </a:t>
            </a:r>
            <a:r>
              <a:rPr lang="fr-FR" baseline="0" dirty="0" err="1" smtClean="0"/>
              <a:t>depend</a:t>
            </a:r>
            <a:r>
              <a:rPr lang="fr-FR" baseline="0" dirty="0" smtClean="0"/>
              <a:t> du cas d'usage.</a:t>
            </a:r>
          </a:p>
          <a:p>
            <a:r>
              <a:rPr lang="fr-FR" baseline="0" dirty="0" smtClean="0"/>
              <a:t>Imaginons un patient qui est hospitalisé pour une infection de site </a:t>
            </a:r>
            <a:r>
              <a:rPr lang="fr-FR" baseline="0" dirty="0" err="1" smtClean="0"/>
              <a:t>operatoire</a:t>
            </a:r>
            <a:r>
              <a:rPr lang="fr-FR" baseline="0" dirty="0" smtClean="0"/>
              <a:t> sur arthrodèse </a:t>
            </a:r>
            <a:r>
              <a:rPr lang="fr-FR" baseline="0" dirty="0" err="1" smtClean="0"/>
              <a:t>vertebrale</a:t>
            </a:r>
            <a:r>
              <a:rPr lang="fr-FR" baseline="0" dirty="0" smtClean="0"/>
              <a:t>. Un antibiogramme est fait qui donne un résultat X.</a:t>
            </a:r>
          </a:p>
          <a:p>
            <a:r>
              <a:rPr lang="fr-FR" baseline="0" dirty="0" smtClean="0"/>
              <a:t>Six mois plus tard, même histoire. Même prélèvement, même résultat. </a:t>
            </a:r>
            <a:r>
              <a:rPr lang="fr-FR" baseline="0" dirty="0" err="1" smtClean="0"/>
              <a:t>Dedoublonner</a:t>
            </a:r>
            <a:r>
              <a:rPr lang="fr-FR" baseline="0" dirty="0" smtClean="0"/>
              <a:t> sur le PATID = considérer l'épisode comme une </a:t>
            </a:r>
            <a:r>
              <a:rPr lang="fr-FR" baseline="0" dirty="0" err="1" smtClean="0"/>
              <a:t>recivide</a:t>
            </a:r>
            <a:r>
              <a:rPr lang="fr-FR" baseline="0" dirty="0" smtClean="0"/>
              <a:t> alors que </a:t>
            </a:r>
            <a:r>
              <a:rPr lang="fr-FR" baseline="0" dirty="0" err="1" smtClean="0"/>
              <a:t>dedoublonner</a:t>
            </a:r>
            <a:r>
              <a:rPr lang="fr-FR" baseline="0" dirty="0" smtClean="0"/>
              <a:t> sur l'EVTID considère l'épisode comme une nouvelle infection.  </a:t>
            </a:r>
          </a:p>
          <a:p>
            <a:r>
              <a:rPr lang="fr-FR" baseline="0" dirty="0" smtClean="0"/>
              <a:t>*Cas particulier et chiant* : si lors du 1er épisode on teste les </a:t>
            </a:r>
            <a:r>
              <a:rPr lang="fr-FR" baseline="0" dirty="0" err="1" smtClean="0"/>
              <a:t>atb</a:t>
            </a:r>
            <a:r>
              <a:rPr lang="fr-FR" baseline="0" dirty="0" smtClean="0"/>
              <a:t> A B C et que lors du 2ème on teste A B D et qu'on le même résultat pour A et B, peut importe le `</a:t>
            </a:r>
            <a:r>
              <a:rPr lang="fr-FR" baseline="0" dirty="0" err="1" smtClean="0"/>
              <a:t>group_by</a:t>
            </a:r>
            <a:r>
              <a:rPr lang="fr-FR" baseline="0" dirty="0" smtClean="0"/>
              <a:t>` on va avoir 2 lignes </a:t>
            </a:r>
            <a:r>
              <a:rPr lang="fr-FR" baseline="0" dirty="0" err="1" smtClean="0"/>
              <a:t>independemment</a:t>
            </a:r>
            <a:r>
              <a:rPr lang="fr-FR" baseline="0" dirty="0" smtClean="0"/>
              <a:t> du fait qu'il s'agit d'une </a:t>
            </a:r>
            <a:r>
              <a:rPr lang="fr-FR" baseline="0" dirty="0" err="1" smtClean="0"/>
              <a:t>recivide</a:t>
            </a:r>
            <a:r>
              <a:rPr lang="fr-FR" baseline="0" dirty="0" smtClean="0"/>
              <a:t> ou pas.</a:t>
            </a:r>
          </a:p>
          <a:p>
            <a:endParaRPr lang="fr-FR" baseline="0" dirty="0" smtClean="0"/>
          </a:p>
          <a:p>
            <a:r>
              <a:rPr lang="fr-FR" baseline="0" dirty="0" smtClean="0"/>
              <a:t>La condition 1 est plus difficile à satisfaire malheureusement, n'ayant pas l'horodatage.</a:t>
            </a:r>
          </a:p>
          <a:p>
            <a:endParaRPr lang="fr-FR" baseline="0" dirty="0" smtClean="0"/>
          </a:p>
          <a:p>
            <a:r>
              <a:rPr lang="fr-FR" baseline="0" dirty="0" smtClean="0"/>
              <a:t>Pour un même </a:t>
            </a:r>
            <a:r>
              <a:rPr lang="fr-FR" baseline="0" dirty="0" err="1" smtClean="0"/>
              <a:t>tuple</a:t>
            </a:r>
            <a:r>
              <a:rPr lang="fr-FR" baseline="0" dirty="0" smtClean="0"/>
              <a:t> :</a:t>
            </a:r>
          </a:p>
          <a:p>
            <a:endParaRPr lang="fr-FR" baseline="0" dirty="0" smtClean="0"/>
          </a:p>
          <a:p>
            <a:r>
              <a:rPr lang="fr-FR" baseline="0" dirty="0" smtClean="0"/>
              <a:t>`PATID, EVTID, ELTID, DATEPRELEV, NATUREPVT, IDENTIFICATION, </a:t>
            </a:r>
            <a:r>
              <a:rPr lang="fr-FR" baseline="0" dirty="0" err="1" smtClean="0"/>
              <a:t>souche_nb</a:t>
            </a:r>
            <a:r>
              <a:rPr lang="fr-FR" baseline="0" dirty="0" smtClean="0"/>
              <a:t>, ATB`</a:t>
            </a:r>
          </a:p>
          <a:p>
            <a:endParaRPr lang="fr-FR" baseline="0" dirty="0" smtClean="0"/>
          </a:p>
          <a:p>
            <a:r>
              <a:rPr lang="fr-FR" baseline="0" dirty="0" smtClean="0"/>
              <a:t>tu peux avoir dans STRRES des vecteurs du genre :</a:t>
            </a:r>
          </a:p>
          <a:p>
            <a:endParaRPr lang="fr-FR" baseline="0" dirty="0" smtClean="0"/>
          </a:p>
          <a:p>
            <a:r>
              <a:rPr lang="fr-FR" baseline="0" dirty="0" smtClean="0"/>
              <a:t>`   c("S", "R")`</a:t>
            </a:r>
          </a:p>
          <a:p>
            <a:endParaRPr lang="fr-FR" baseline="0" dirty="0" smtClean="0"/>
          </a:p>
          <a:p>
            <a:r>
              <a:rPr lang="fr-FR" baseline="0" dirty="0" smtClean="0"/>
              <a:t>`   c("R", "S")`</a:t>
            </a:r>
          </a:p>
          <a:p>
            <a:endParaRPr lang="fr-FR" baseline="0" dirty="0" smtClean="0"/>
          </a:p>
          <a:p>
            <a:r>
              <a:rPr lang="fr-FR" baseline="0" dirty="0" smtClean="0"/>
              <a:t>`   c("S", "ZIT", "R")`</a:t>
            </a:r>
          </a:p>
          <a:p>
            <a:endParaRPr lang="fr-FR" baseline="0" dirty="0" smtClean="0"/>
          </a:p>
          <a:p>
            <a:r>
              <a:rPr lang="fr-FR" baseline="0" dirty="0" smtClean="0"/>
              <a:t>Comme tu n’as que la date, impossible de savoir quelle valeur est “la finale validée”:</a:t>
            </a:r>
          </a:p>
          <a:p>
            <a:endParaRPr lang="fr-FR" baseline="0" dirty="0" smtClean="0"/>
          </a:p>
          <a:p>
            <a:r>
              <a:rPr lang="fr-FR" baseline="0" dirty="0" smtClean="0"/>
              <a:t>`   first(</a:t>
            </a:r>
            <a:r>
              <a:rPr lang="fr-FR" baseline="0" dirty="0" err="1" smtClean="0"/>
              <a:t>na.omit</a:t>
            </a:r>
            <a:r>
              <a:rPr lang="fr-FR" baseline="0" dirty="0" smtClean="0"/>
              <a:t>(.x))` → pur loto</a:t>
            </a:r>
          </a:p>
          <a:p>
            <a:endParaRPr lang="fr-FR" baseline="0" dirty="0" smtClean="0"/>
          </a:p>
          <a:p>
            <a:r>
              <a:rPr lang="fr-FR" baseline="0" dirty="0" smtClean="0"/>
              <a:t>`   last(</a:t>
            </a:r>
            <a:r>
              <a:rPr lang="fr-FR" baseline="0" dirty="0" err="1" smtClean="0"/>
              <a:t>na.omit</a:t>
            </a:r>
            <a:r>
              <a:rPr lang="fr-FR" baseline="0" dirty="0" smtClean="0"/>
              <a:t>(.x))` → pur loto aussi</a:t>
            </a:r>
          </a:p>
          <a:p>
            <a:endParaRPr lang="fr-FR" baseline="0" dirty="0" smtClean="0"/>
          </a:p>
          <a:p>
            <a:r>
              <a:rPr lang="fr-FR" baseline="0" dirty="0" smtClean="0"/>
              <a:t>la seule façon d’arrêter la loterie, c’est :</a:t>
            </a:r>
          </a:p>
          <a:p>
            <a:endParaRPr lang="fr-FR" baseline="0" dirty="0" smtClean="0"/>
          </a:p>
          <a:p>
            <a:r>
              <a:rPr lang="fr-FR" baseline="0" dirty="0" smtClean="0"/>
              <a:t>- soit appliquer une règle métier déterministe (ex. “on prend le plus résistant”, règle *R &gt; ZIT &gt; S*),</a:t>
            </a:r>
          </a:p>
          <a:p>
            <a:r>
              <a:rPr lang="fr-FR" baseline="0" dirty="0" smtClean="0"/>
              <a:t>- soit marquer ces cas comme conflictuels et les traiter à part.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011D96-2BC8-41DA-B0AB-7704B73D61CC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0005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9937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209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3273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6761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9556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8328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2658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2483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0141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4367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EC69-96B3-4BFA-99CA-EAE663A78335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72515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ar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75521" y="3428999"/>
            <a:ext cx="9696812" cy="1296145"/>
          </a:xfrm>
        </p:spPr>
        <p:txBody>
          <a:bodyPr anchor="b"/>
          <a:lstStyle>
            <a:lvl1pPr algn="r">
              <a:lnSpc>
                <a:spcPct val="100000"/>
              </a:lnSpc>
              <a:spcBef>
                <a:spcPts val="0"/>
              </a:spcBef>
              <a:defRPr sz="2600" b="1" cap="all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775521" y="4869160"/>
            <a:ext cx="9696812" cy="1368128"/>
          </a:xfrm>
        </p:spPr>
        <p:txBody>
          <a:bodyPr anchor="t"/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600" b="0" cap="none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Modifiez les styles du texte du masque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1774686" y="2798506"/>
            <a:ext cx="9697649" cy="486478"/>
          </a:xfrm>
        </p:spPr>
        <p:txBody>
          <a:bodyPr anchor="b"/>
          <a:lstStyle>
            <a:lvl1pPr marL="0" algn="r">
              <a:lnSpc>
                <a:spcPct val="100000"/>
              </a:lnSpc>
              <a:spcBef>
                <a:spcPts val="0"/>
              </a:spcBef>
              <a:buFontTx/>
              <a:buNone/>
              <a:defRPr sz="3000" u="sng">
                <a:solidFill>
                  <a:schemeClr val="accent4"/>
                </a:solidFill>
              </a:defRPr>
            </a:lvl1pPr>
            <a:lvl2pPr marL="0">
              <a:lnSpc>
                <a:spcPct val="100000"/>
              </a:lnSpc>
              <a:spcBef>
                <a:spcPts val="0"/>
              </a:spcBef>
              <a:buFontTx/>
              <a:buNone/>
              <a:defRPr>
                <a:solidFill>
                  <a:schemeClr val="accent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>
                <a:solidFill>
                  <a:schemeClr val="accent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>
                <a:solidFill>
                  <a:schemeClr val="accent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fr-FR" dirty="0"/>
              <a:t>Partie #</a:t>
            </a:r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4459" y="404665"/>
            <a:ext cx="1440157" cy="60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00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775521" y="2195742"/>
            <a:ext cx="9696812" cy="1881331"/>
          </a:xfrm>
        </p:spPr>
        <p:txBody>
          <a:bodyPr anchor="b"/>
          <a:lstStyle>
            <a:lvl1pPr algn="r">
              <a:defRPr sz="3000" u="sng" baseline="0">
                <a:solidFill>
                  <a:schemeClr val="accent4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774855" y="4897624"/>
            <a:ext cx="9663115" cy="936104"/>
          </a:xfrm>
        </p:spPr>
        <p:txBody>
          <a:bodyPr/>
          <a:lstStyle>
            <a:lvl1pPr marL="0" indent="0" algn="r">
              <a:buNone/>
              <a:defRPr sz="1800" b="0" cap="none">
                <a:solidFill>
                  <a:schemeClr val="accent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Modifiez le style des sous-titres du masque</a:t>
            </a:r>
          </a:p>
        </p:txBody>
      </p:sp>
      <p:pic>
        <p:nvPicPr>
          <p:cNvPr id="9" name="Imag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3524" y="512846"/>
            <a:ext cx="2296293" cy="97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7714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illustr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indent="0">
              <a:defRPr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2"/>
          </p:nvPr>
        </p:nvSpPr>
        <p:spPr>
          <a:xfrm>
            <a:off x="719403" y="1340768"/>
            <a:ext cx="9217024" cy="4824512"/>
          </a:xfrm>
        </p:spPr>
        <p:txBody>
          <a:bodyPr/>
          <a:lstStyle>
            <a:lvl1pPr>
              <a:defRPr b="1" u="none"/>
            </a:lvl1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0429145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3437" y="2276873"/>
            <a:ext cx="10066867" cy="381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88971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16780" y="404665"/>
            <a:ext cx="5298409" cy="5956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4459" y="404665"/>
            <a:ext cx="1440157" cy="60956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12323829" y="604701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fr-FR" sz="1800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11896262" y="599145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fr-FR" sz="1800" dirty="0"/>
          </a:p>
        </p:txBody>
      </p:sp>
      <p:sp>
        <p:nvSpPr>
          <p:cNvPr id="42" name="ZoneTexte 41"/>
          <p:cNvSpPr txBox="1"/>
          <p:nvPr userDrawn="1"/>
        </p:nvSpPr>
        <p:spPr>
          <a:xfrm>
            <a:off x="11228373" y="6448546"/>
            <a:ext cx="244225" cy="115416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r"/>
            <a:fld id="{19A54D9F-65F7-4BCB-82BD-1E3BBE6FBFA8}" type="slidenum">
              <a:rPr lang="fr-FR" sz="750" b="1" smtClean="0">
                <a:solidFill>
                  <a:schemeClr val="tx1"/>
                </a:solidFill>
              </a:rPr>
              <a:pPr algn="r"/>
              <a:t>‹N°›</a:t>
            </a:fld>
            <a:endParaRPr lang="fr-FR" sz="7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64948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graphicFrame>
        <p:nvGraphicFramePr>
          <p:cNvPr id="4" name="Graphique 3"/>
          <p:cNvGraphicFramePr/>
          <p:nvPr userDrawn="1"/>
        </p:nvGraphicFramePr>
        <p:xfrm>
          <a:off x="2063552" y="1844824"/>
          <a:ext cx="8128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82843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DEC69-96B3-4BFA-99CA-EAE663A78335}" type="datetimeFigureOut">
              <a:rPr lang="fr-FR" smtClean="0"/>
              <a:t>08/12/2025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A0FBC2-BDB4-4A97-86E8-44E3DB24B4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9740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189236"/>
            <a:ext cx="11856640" cy="9355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solidFill>
                <a:prstClr val="white"/>
              </a:solidFill>
            </a:endParaRPr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719667" y="188640"/>
            <a:ext cx="9120749" cy="936104"/>
          </a:xfrm>
          <a:prstGeom prst="rect">
            <a:avLst/>
          </a:prstGeom>
        </p:spPr>
        <p:txBody>
          <a:bodyPr vert="horz" lIns="36000" tIns="0" rIns="36000" bIns="0" rtlCol="0" anchor="ctr">
            <a:noAutofit/>
          </a:bodyPr>
          <a:lstStyle/>
          <a:p>
            <a:r>
              <a:rPr lang="fr-FR" dirty="0"/>
              <a:t>Titre de la </a:t>
            </a:r>
            <a:r>
              <a:rPr lang="fr-FR" dirty="0" err="1"/>
              <a:t>Slide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19403" y="1340769"/>
            <a:ext cx="9889100" cy="4896543"/>
          </a:xfrm>
          <a:prstGeom prst="rect">
            <a:avLst/>
          </a:prstGeom>
        </p:spPr>
        <p:txBody>
          <a:bodyPr vert="horz" lIns="36000" tIns="0" rIns="36000" bIns="0" rtlCol="0">
            <a:no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11228373" y="6448546"/>
            <a:ext cx="244225" cy="115416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r"/>
            <a:fld id="{19A54D9F-65F7-4BCB-82BD-1E3BBE6FBFA8}" type="slidenum">
              <a:rPr lang="fr-FR" sz="750" b="1" smtClean="0">
                <a:solidFill>
                  <a:srgbClr val="4D4D4F"/>
                </a:solidFill>
              </a:rPr>
              <a:pPr algn="r"/>
              <a:t>‹N°›</a:t>
            </a:fld>
            <a:endParaRPr lang="fr-FR" sz="750" b="1" dirty="0">
              <a:solidFill>
                <a:srgbClr val="4D4D4F"/>
              </a:solidFill>
            </a:endParaRP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7739" y="404728"/>
            <a:ext cx="1360869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897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77" r:id="rId3"/>
    <p:sldLayoutId id="2147483678" r:id="rId4"/>
    <p:sldLayoutId id="2147483679" r:id="rId5"/>
  </p:sldLayoutIdLst>
  <p:hf hdr="0" ftr="0" dt="0"/>
  <p:txStyles>
    <p:titleStyle>
      <a:lvl1pPr marL="0" indent="0" algn="l" defTabSz="914400" rtl="0" eaLnBrk="1" latinLnBrk="0" hangingPunct="1">
        <a:spcBef>
          <a:spcPct val="0"/>
        </a:spcBef>
        <a:buNone/>
        <a:defRPr sz="2000" b="1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200"/>
        </a:spcBef>
        <a:buFontTx/>
        <a:buNone/>
        <a:defRPr sz="1800" b="1" kern="1200" cap="all" baseline="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600"/>
        </a:spcBef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44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tx2"/>
        </a:buClr>
        <a:buFont typeface="Symbol" panose="05050102010706020507" pitchFamily="18" charset="2"/>
        <a:buChar char="·"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44000" indent="-144000" algn="l" defTabSz="914400" rtl="0" eaLnBrk="1" latinLnBrk="0" hangingPunct="1">
        <a:lnSpc>
          <a:spcPct val="110000"/>
        </a:lnSpc>
        <a:spcBef>
          <a:spcPts val="0"/>
        </a:spcBef>
        <a:buFont typeface="Symbol" panose="05050102010706020507" pitchFamily="18" charset="2"/>
        <a:buChar char="·"/>
        <a:tabLst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88000" indent="-14400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jpe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25" y="2020796"/>
            <a:ext cx="12003175" cy="2495898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567" y="38870837"/>
            <a:ext cx="3402153" cy="713755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0391" y="236269"/>
            <a:ext cx="2892414" cy="607095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847" y="5544590"/>
            <a:ext cx="1526343" cy="861014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2254" y="5802837"/>
            <a:ext cx="2621513" cy="560050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2499" y="5665996"/>
            <a:ext cx="1496447" cy="745687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02704" y="5587980"/>
            <a:ext cx="1657180" cy="848377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62740" y="5616169"/>
            <a:ext cx="918374" cy="765312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322" y="1187777"/>
            <a:ext cx="6495068" cy="1730377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2516163" y="4018695"/>
            <a:ext cx="768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2060"/>
                </a:solidFill>
              </a:rPr>
              <a:t>Groupe de Travail Résistance Bactérienne aux Antibiotiques – 27 novembre 2025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192505" y="4582065"/>
            <a:ext cx="118633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olidFill>
                  <a:srgbClr val="002060"/>
                </a:solidFill>
              </a:rPr>
              <a:t>Mélanie COLOMB-COTINAT (HCL Lyon)</a:t>
            </a:r>
          </a:p>
          <a:p>
            <a:pPr algn="ctr"/>
            <a:r>
              <a:rPr lang="fr-FR" dirty="0" smtClean="0">
                <a:solidFill>
                  <a:srgbClr val="002060"/>
                </a:solidFill>
              </a:rPr>
              <a:t>Ghaya BEN HMIDENE</a:t>
            </a:r>
            <a:r>
              <a:rPr lang="fr-FR" dirty="0">
                <a:solidFill>
                  <a:srgbClr val="002060"/>
                </a:solidFill>
              </a:rPr>
              <a:t>, Marion </a:t>
            </a:r>
            <a:r>
              <a:rPr lang="fr-FR" dirty="0" smtClean="0">
                <a:solidFill>
                  <a:srgbClr val="002060"/>
                </a:solidFill>
              </a:rPr>
              <a:t>OPATOWSKI (</a:t>
            </a:r>
            <a:r>
              <a:rPr lang="fr-FR" dirty="0">
                <a:solidFill>
                  <a:srgbClr val="002060"/>
                </a:solidFill>
              </a:rPr>
              <a:t>SpF</a:t>
            </a:r>
            <a:r>
              <a:rPr lang="fr-FR" dirty="0" smtClean="0">
                <a:solidFill>
                  <a:srgbClr val="002060"/>
                </a:solidFill>
              </a:rPr>
              <a:t>)</a:t>
            </a:r>
          </a:p>
          <a:p>
            <a:pPr algn="ctr"/>
            <a:r>
              <a:rPr lang="fr-FR" dirty="0">
                <a:solidFill>
                  <a:srgbClr val="002060"/>
                </a:solidFill>
              </a:rPr>
              <a:t>Julien GROSJEAN, </a:t>
            </a:r>
            <a:r>
              <a:rPr lang="fr-FR" dirty="0" err="1">
                <a:solidFill>
                  <a:srgbClr val="002060"/>
                </a:solidFill>
              </a:rPr>
              <a:t>Stéfan</a:t>
            </a:r>
            <a:r>
              <a:rPr lang="fr-FR" dirty="0">
                <a:solidFill>
                  <a:srgbClr val="002060"/>
                </a:solidFill>
              </a:rPr>
              <a:t> DARMONI, Mélanie DALIGAULT, Francesco </a:t>
            </a:r>
            <a:r>
              <a:rPr lang="fr-FR" dirty="0" smtClean="0">
                <a:solidFill>
                  <a:srgbClr val="002060"/>
                </a:solidFill>
              </a:rPr>
              <a:t>MONTI, </a:t>
            </a:r>
            <a:r>
              <a:rPr lang="fr-FR" dirty="0">
                <a:solidFill>
                  <a:srgbClr val="002060"/>
                </a:solidFill>
              </a:rPr>
              <a:t>Solenn CATHERINE (CHU Rouen</a:t>
            </a:r>
            <a:r>
              <a:rPr lang="fr-FR" dirty="0" smtClean="0">
                <a:solidFill>
                  <a:srgbClr val="002060"/>
                </a:solidFill>
              </a:rPr>
              <a:t>)</a:t>
            </a:r>
            <a:endParaRPr lang="fr-FR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1125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0" y="311702"/>
            <a:ext cx="8828116" cy="727388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ORCHIDEE – </a:t>
            </a:r>
            <a:r>
              <a:rPr lang="fr-FR" dirty="0">
                <a:solidFill>
                  <a:prstClr val="white"/>
                </a:solidFill>
                <a:latin typeface="Arial"/>
              </a:rPr>
              <a:t>ORDRE DU JOUR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987765E-AF9F-4076-A197-6BE9529803F8}"/>
              </a:ext>
            </a:extLst>
          </p:cNvPr>
          <p:cNvSpPr txBox="1"/>
          <p:nvPr/>
        </p:nvSpPr>
        <p:spPr>
          <a:xfrm>
            <a:off x="401216" y="1492898"/>
            <a:ext cx="11560629" cy="4070602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Rappel des objectifs et de périmètre du projet Orchidée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tabLst/>
              <a:defRPr/>
            </a:pPr>
            <a:endParaRPr kumimoji="0" lang="fr-F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Pour la partie « consommation d’antibiotiques » puis « résistance aux antibiotiques » : </a:t>
            </a:r>
          </a:p>
          <a:p>
            <a:pPr marL="742950" lvl="1" indent="-285750">
              <a:lnSpc>
                <a:spcPct val="150000"/>
              </a:lnSpc>
              <a:buClr>
                <a:srgbClr val="DC246A"/>
              </a:buClr>
              <a:buFont typeface="Wingdings" panose="05000000000000000000" pitchFamily="2" charset="2"/>
              <a:buChar char="§"/>
              <a:defRPr/>
            </a:pPr>
            <a:r>
              <a:rPr kumimoji="0" lang="fr-FR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Expression de besoins : </a:t>
            </a:r>
          </a:p>
          <a:p>
            <a:pPr marL="1200150" lvl="2" indent="-285750">
              <a:lnSpc>
                <a:spcPct val="150000"/>
              </a:lnSpc>
              <a:buClr>
                <a:srgbClr val="DC246A"/>
              </a:buClr>
              <a:buFont typeface="Arial" panose="020B0604020202020204" pitchFamily="34" charset="0"/>
              <a:buChar char="•"/>
              <a:defRPr/>
            </a:pPr>
            <a:r>
              <a:rPr lang="fr-FR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</a:rPr>
              <a:t>Objectifs court-terme : liste finale à valider</a:t>
            </a:r>
          </a:p>
          <a:p>
            <a:pPr marL="1200150" lvl="2" indent="-285750">
              <a:lnSpc>
                <a:spcPct val="150000"/>
              </a:lnSpc>
              <a:buClr>
                <a:srgbClr val="DC246A"/>
              </a:buClr>
              <a:buFont typeface="Arial" panose="020B0604020202020204" pitchFamily="34" charset="0"/>
              <a:buChar char="•"/>
              <a:defRPr/>
            </a:pPr>
            <a:r>
              <a:rPr kumimoji="0" lang="fr-FR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Objectifs moyen-terme : à discuter et prioriser</a:t>
            </a:r>
          </a:p>
          <a:p>
            <a:pPr marL="1200150" lvl="2" indent="-285750">
              <a:lnSpc>
                <a:spcPct val="150000"/>
              </a:lnSpc>
              <a:buClr>
                <a:srgbClr val="DC246A"/>
              </a:buClr>
              <a:buFont typeface="Arial" panose="020B0604020202020204" pitchFamily="34" charset="0"/>
              <a:buChar char="•"/>
              <a:defRPr/>
            </a:pPr>
            <a:r>
              <a:rPr lang="fr-FR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</a:rPr>
              <a:t>Objectifs long-terme</a:t>
            </a:r>
            <a:r>
              <a:rPr lang="fr-F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à discuter et prioriser</a:t>
            </a:r>
            <a:endParaRPr lang="fr-FR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  <a:p>
            <a:pPr marL="742950" lvl="1" indent="-285750">
              <a:lnSpc>
                <a:spcPct val="150000"/>
              </a:lnSpc>
              <a:buClr>
                <a:srgbClr val="DC246A"/>
              </a:buClr>
              <a:buFont typeface="Wingdings" panose="05000000000000000000" pitchFamily="2" charset="2"/>
              <a:buChar char="§"/>
              <a:defRPr/>
            </a:pPr>
            <a:r>
              <a:rPr kumimoji="0" lang="fr-FR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Présentation des premiers </a:t>
            </a:r>
            <a:r>
              <a:rPr kumimoji="0" lang="fr-FR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résul</a:t>
            </a:r>
            <a:r>
              <a:rPr lang="fr-FR" dirty="0" err="1">
                <a:latin typeface="Calibri" panose="020F0502020204030204"/>
              </a:rPr>
              <a:t>tats</a:t>
            </a:r>
            <a:r>
              <a:rPr lang="fr-FR" dirty="0">
                <a:latin typeface="Calibri" panose="020F0502020204030204"/>
              </a:rPr>
              <a:t> de production des indicateurs court-terme par l’équipe du CHU de Rouen à partir des données de leur </a:t>
            </a:r>
            <a:r>
              <a:rPr lang="fr-FR" dirty="0" smtClean="0">
                <a:latin typeface="Calibri" panose="020F0502020204030204"/>
              </a:rPr>
              <a:t>entrepôt </a:t>
            </a:r>
            <a:r>
              <a:rPr lang="fr-FR" dirty="0">
                <a:latin typeface="Calibri" panose="020F0502020204030204"/>
              </a:rPr>
              <a:t>de données de santé </a:t>
            </a:r>
            <a:r>
              <a:rPr lang="fr-FR" dirty="0" smtClean="0">
                <a:latin typeface="Calibri" panose="020F0502020204030204"/>
              </a:rPr>
              <a:t>(</a:t>
            </a:r>
            <a:r>
              <a:rPr lang="fr-FR" dirty="0" err="1" smtClean="0">
                <a:latin typeface="Calibri" panose="020F0502020204030204"/>
              </a:rPr>
              <a:t>EDSaN</a:t>
            </a:r>
            <a:r>
              <a:rPr lang="fr-FR" dirty="0" smtClean="0">
                <a:latin typeface="Calibri" panose="020F0502020204030204"/>
              </a:rPr>
              <a:t>)</a:t>
            </a:r>
            <a:endParaRPr kumimoji="0" lang="fr-FR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2058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0" y="311702"/>
            <a:ext cx="8828116" cy="727388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ORCHIDEE – OBJECTIFS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401216" y="1492898"/>
            <a:ext cx="11560629" cy="4339650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285750" lvl="0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Elaboration d’indicateurs épidémiologiques </a:t>
            </a:r>
            <a:r>
              <a:rPr lang="fr-FR" sz="1600" dirty="0">
                <a:cs typeface="Arial" panose="020B0604020202020204" pitchFamily="34" charset="0"/>
              </a:rPr>
              <a:t>à visée de surveillance automatisée, 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en utilisant les données des 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entrepôts de données de santé des hôpitaux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 pour transmission à Santé publique France, à partir des réseaux existants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Sur des 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DC246A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thématiques prioritaires d’intérêt 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Infections respiratoires aigues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Infections bactériennes sévères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Antibiorésistance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Arboviroses et maladies vectorielles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Infections liées aux soins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285750" lvl="0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DC246A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Dans une temporalité </a:t>
            </a:r>
            <a:r>
              <a:rPr lang="fr-FR" sz="1600" dirty="0">
                <a:solidFill>
                  <a:prstClr val="black"/>
                </a:solidFill>
                <a:cs typeface="Arial" panose="020B0604020202020204" pitchFamily="34" charset="0"/>
              </a:rPr>
              <a:t>réactivité aiguë et adaptable aux émergences.</a:t>
            </a:r>
            <a:endParaRPr kumimoji="0" lang="fr-FR" sz="1600" b="0" i="0" u="none" strike="noStrike" kern="1200" cap="none" spc="0" normalizeH="0" noProof="0" dirty="0">
              <a:ln>
                <a:noFill/>
              </a:ln>
              <a:solidFill>
                <a:srgbClr val="DC246A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DC246A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Avec une granularité, d’indicateurs simples et disponibles partout à des indicateurs plus complexes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 (+ grande diversité de données), plus réactifs ou plus spécifiques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DC246A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Robustes et de qualité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, avec un objectif d’amélioration de la précision et du rappel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2379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75" y="1693642"/>
            <a:ext cx="10534439" cy="51643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952B37F-2CF1-4101-85ED-A461AE59907C}"/>
              </a:ext>
            </a:extLst>
          </p:cNvPr>
          <p:cNvSpPr/>
          <p:nvPr/>
        </p:nvSpPr>
        <p:spPr>
          <a:xfrm>
            <a:off x="448236" y="1098912"/>
            <a:ext cx="85971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fr-FR" dirty="0">
                <a:latin typeface="Arial"/>
              </a:rPr>
              <a:t>CONSORTIUM DE 29 PARTENAIRES DONT 25 CHU </a:t>
            </a:r>
          </a:p>
        </p:txBody>
      </p:sp>
      <p:sp>
        <p:nvSpPr>
          <p:cNvPr id="6" name="Flèche : pentagone 8">
            <a:extLst>
              <a:ext uri="{FF2B5EF4-FFF2-40B4-BE49-F238E27FC236}">
                <a16:creationId xmlns:a16="http://schemas.microsoft.com/office/drawing/2014/main" id="{74821010-20CB-48A6-BBDF-D98F8195EB32}"/>
              </a:ext>
            </a:extLst>
          </p:cNvPr>
          <p:cNvSpPr/>
          <p:nvPr/>
        </p:nvSpPr>
        <p:spPr>
          <a:xfrm>
            <a:off x="0" y="311702"/>
            <a:ext cx="8828116" cy="727388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ORCHIDEE – </a:t>
            </a:r>
            <a:r>
              <a:rPr lang="fr-FR" dirty="0">
                <a:solidFill>
                  <a:prstClr val="white"/>
                </a:solidFill>
                <a:latin typeface="Arial"/>
              </a:rPr>
              <a:t>PARTENAIRES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6170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re 4"/>
          <p:cNvSpPr txBox="1">
            <a:spLocks/>
          </p:cNvSpPr>
          <p:nvPr/>
        </p:nvSpPr>
        <p:spPr>
          <a:xfrm>
            <a:off x="58189" y="399630"/>
            <a:ext cx="8495608" cy="432047"/>
          </a:xfrm>
          <a:prstGeom prst="rect">
            <a:avLst/>
          </a:prstGeom>
        </p:spPr>
        <p:txBody>
          <a:bodyPr vert="horz" lIns="36000" tIns="0" rIns="36000" bIns="0" rtlCol="0" anchor="b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26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IMPLEMENTATION DES INDICATEURS ORCHIDEE - METHODOLOGIE</a:t>
            </a:r>
          </a:p>
        </p:txBody>
      </p:sp>
      <p:graphicFrame>
        <p:nvGraphicFramePr>
          <p:cNvPr id="2" name="Diagramme 1"/>
          <p:cNvGraphicFramePr/>
          <p:nvPr>
            <p:extLst>
              <p:ext uri="{D42A27DB-BD31-4B8C-83A1-F6EECF244321}">
                <p14:modId xmlns:p14="http://schemas.microsoft.com/office/powerpoint/2010/main" val="1936385113"/>
              </p:ext>
            </p:extLst>
          </p:nvPr>
        </p:nvGraphicFramePr>
        <p:xfrm>
          <a:off x="3426777" y="1124483"/>
          <a:ext cx="4198289" cy="558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ZoneTexte 4"/>
          <p:cNvSpPr txBox="1"/>
          <p:nvPr/>
        </p:nvSpPr>
        <p:spPr>
          <a:xfrm>
            <a:off x="5317743" y="15914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4717299" y="287148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ZoneTexte 36"/>
          <p:cNvSpPr txBox="1"/>
          <p:nvPr/>
        </p:nvSpPr>
        <p:spPr>
          <a:xfrm>
            <a:off x="5225821" y="39673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726214" y="51931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lèche : pentagone 8">
            <a:extLst>
              <a:ext uri="{FF2B5EF4-FFF2-40B4-BE49-F238E27FC236}">
                <a16:creationId xmlns:a16="http://schemas.microsoft.com/office/drawing/2014/main" id="{27402F97-F50A-4D0D-8E3A-15DE370F0193}"/>
              </a:ext>
            </a:extLst>
          </p:cNvPr>
          <p:cNvSpPr/>
          <p:nvPr/>
        </p:nvSpPr>
        <p:spPr>
          <a:xfrm>
            <a:off x="0" y="311702"/>
            <a:ext cx="8828116" cy="727388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ORCHIDEE – ETAPES</a:t>
            </a:r>
          </a:p>
        </p:txBody>
      </p:sp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94BD9ADB-BB72-45E2-8F47-D8A5A60E42A5}"/>
              </a:ext>
            </a:extLst>
          </p:cNvPr>
          <p:cNvSpPr/>
          <p:nvPr/>
        </p:nvSpPr>
        <p:spPr>
          <a:xfrm rot="5400000">
            <a:off x="4407827" y="3884598"/>
            <a:ext cx="5461942" cy="185078"/>
          </a:xfrm>
          <a:prstGeom prst="rightArrow">
            <a:avLst/>
          </a:prstGeom>
          <a:gradFill flip="none" rotWithShape="1">
            <a:gsLst>
              <a:gs pos="0">
                <a:schemeClr val="accent4">
                  <a:shade val="30000"/>
                  <a:satMod val="115000"/>
                </a:schemeClr>
              </a:gs>
              <a:gs pos="50000">
                <a:schemeClr val="accent4">
                  <a:shade val="67500"/>
                  <a:satMod val="115000"/>
                </a:schemeClr>
              </a:gs>
              <a:gs pos="100000">
                <a:schemeClr val="accent4">
                  <a:shade val="100000"/>
                  <a:satMod val="115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06504722-9509-4DD5-A720-C8019ED8147E}"/>
              </a:ext>
            </a:extLst>
          </p:cNvPr>
          <p:cNvCxnSpPr>
            <a:cxnSpLocks/>
          </p:cNvCxnSpPr>
          <p:nvPr/>
        </p:nvCxnSpPr>
        <p:spPr>
          <a:xfrm>
            <a:off x="6863066" y="2492189"/>
            <a:ext cx="1488141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0784710C-8A7B-4E9A-956E-03870125FA7D}"/>
              </a:ext>
            </a:extLst>
          </p:cNvPr>
          <p:cNvSpPr txBox="1"/>
          <p:nvPr/>
        </p:nvSpPr>
        <p:spPr>
          <a:xfrm>
            <a:off x="8534400" y="2307523"/>
            <a:ext cx="15256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solidFill>
                  <a:schemeClr val="accent6"/>
                </a:solidFill>
              </a:rPr>
              <a:t>Novembre 2025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DB3A182-FEB9-4E61-8CAF-217CB5352226}"/>
              </a:ext>
            </a:extLst>
          </p:cNvPr>
          <p:cNvCxnSpPr>
            <a:cxnSpLocks/>
          </p:cNvCxnSpPr>
          <p:nvPr/>
        </p:nvCxnSpPr>
        <p:spPr>
          <a:xfrm>
            <a:off x="6863066" y="3898366"/>
            <a:ext cx="1488141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3C94353D-5D1B-43E2-83B7-D7627EC613C3}"/>
              </a:ext>
            </a:extLst>
          </p:cNvPr>
          <p:cNvSpPr txBox="1"/>
          <p:nvPr/>
        </p:nvSpPr>
        <p:spPr>
          <a:xfrm>
            <a:off x="8553797" y="3654547"/>
            <a:ext cx="12296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solidFill>
                  <a:schemeClr val="accent6"/>
                </a:solidFill>
              </a:rPr>
              <a:t>Janvier 2025</a:t>
            </a:r>
          </a:p>
          <a:p>
            <a:r>
              <a:rPr lang="fr-FR" sz="1600" dirty="0">
                <a:solidFill>
                  <a:schemeClr val="accent6"/>
                </a:solidFill>
              </a:rPr>
              <a:t> 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BA8E0190-3A64-4047-9230-D733AAAC5FBD}"/>
              </a:ext>
            </a:extLst>
          </p:cNvPr>
          <p:cNvCxnSpPr>
            <a:cxnSpLocks/>
          </p:cNvCxnSpPr>
          <p:nvPr/>
        </p:nvCxnSpPr>
        <p:spPr>
          <a:xfrm>
            <a:off x="6878650" y="5080187"/>
            <a:ext cx="1488141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25121C8D-3136-4F7A-BD4E-8248EF95F9A4}"/>
              </a:ext>
            </a:extLst>
          </p:cNvPr>
          <p:cNvSpPr txBox="1"/>
          <p:nvPr/>
        </p:nvSpPr>
        <p:spPr>
          <a:xfrm>
            <a:off x="8569381" y="4836368"/>
            <a:ext cx="33584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solidFill>
                  <a:schemeClr val="accent6"/>
                </a:solidFill>
              </a:rPr>
              <a:t>Juin 2026 (pour objectifs court-terme)</a:t>
            </a:r>
          </a:p>
        </p:txBody>
      </p:sp>
    </p:spTree>
    <p:extLst>
      <p:ext uri="{BB962C8B-B14F-4D97-AF65-F5344CB8AC3E}">
        <p14:creationId xmlns:p14="http://schemas.microsoft.com/office/powerpoint/2010/main" val="442477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69F4EBC-5609-4F20-B369-C1110AF76C4F}"/>
              </a:ext>
            </a:extLst>
          </p:cNvPr>
          <p:cNvSpPr/>
          <p:nvPr/>
        </p:nvSpPr>
        <p:spPr>
          <a:xfrm>
            <a:off x="1661746" y="1596571"/>
            <a:ext cx="1035608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 (très) bon taux de participation</a:t>
            </a: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donc bonne représentativité et couverture de tout type d’établissements.</a:t>
            </a:r>
          </a:p>
          <a:p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2022 :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1573 établissements de santé </a:t>
            </a:r>
            <a:r>
              <a:rPr lang="fr-FR" i="1" dirty="0"/>
              <a:t>(pour la partie consommation antibiotiques) </a:t>
            </a:r>
          </a:p>
          <a:p>
            <a:pPr lvl="1"/>
            <a:r>
              <a:rPr lang="fr-FR" i="1" dirty="0"/>
              <a:t>    </a:t>
            </a:r>
            <a:r>
              <a:rPr lang="fr-FR" dirty="0"/>
              <a:t>-&gt; 78,1% des JH au niveau national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942 établissements de santé </a:t>
            </a:r>
            <a:r>
              <a:rPr lang="fr-FR" i="1" dirty="0"/>
              <a:t>(pour la partie résistance) </a:t>
            </a:r>
          </a:p>
          <a:p>
            <a:pPr lvl="1"/>
            <a:r>
              <a:rPr lang="fr-FR" i="1" dirty="0"/>
              <a:t>    </a:t>
            </a:r>
            <a:r>
              <a:rPr lang="fr-FR" dirty="0"/>
              <a:t>-&gt; 51% des journées d’hospitalisation au niveau national</a:t>
            </a:r>
          </a:p>
          <a:p>
            <a:pPr lvl="1"/>
            <a:endParaRPr lang="fr-FR" dirty="0">
              <a:solidFill>
                <a:srgbClr val="000000"/>
              </a:solidFill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Flèche : pentagone 8">
            <a:extLst>
              <a:ext uri="{FF2B5EF4-FFF2-40B4-BE49-F238E27FC236}">
                <a16:creationId xmlns:a16="http://schemas.microsoft.com/office/drawing/2014/main" id="{A5A724D1-8746-491A-BE63-14C09239510E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>
                <a:solidFill>
                  <a:prstClr val="white"/>
                </a:solidFill>
                <a:latin typeface="Arial"/>
              </a:rPr>
              <a:t>Positionnement projet Orchidée par rapport à la surveillance nationale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A3819E6-8ECA-4AB9-915E-D4558D69A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21" y="1845981"/>
            <a:ext cx="1124107" cy="79068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EE7433F-7A4E-403F-8378-C5DE20F9F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79" y="3787247"/>
            <a:ext cx="2351587" cy="2603542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32B90CA7-7F16-443E-9E28-9D1A02EACA9A}"/>
              </a:ext>
            </a:extLst>
          </p:cNvPr>
          <p:cNvSpPr txBox="1"/>
          <p:nvPr/>
        </p:nvSpPr>
        <p:spPr>
          <a:xfrm>
            <a:off x="461200" y="6435440"/>
            <a:ext cx="1586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consommation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5076629-DB12-4E7C-8672-69D65C519141}"/>
              </a:ext>
            </a:extLst>
          </p:cNvPr>
          <p:cNvSpPr txBox="1"/>
          <p:nvPr/>
        </p:nvSpPr>
        <p:spPr>
          <a:xfrm>
            <a:off x="5588851" y="6017232"/>
            <a:ext cx="1126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résistance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AC02A4F8-3FCF-4940-A9B3-FFDD417FCDE5}"/>
              </a:ext>
            </a:extLst>
          </p:cNvPr>
          <p:cNvSpPr/>
          <p:nvPr/>
        </p:nvSpPr>
        <p:spPr>
          <a:xfrm>
            <a:off x="3374" y="4131622"/>
            <a:ext cx="2684290" cy="353466"/>
          </a:xfrm>
          <a:prstGeom prst="ellipse">
            <a:avLst/>
          </a:prstGeom>
          <a:noFill/>
          <a:ln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3B23D889-D202-4060-959A-9679A6419E7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3656"/>
          <a:stretch/>
        </p:blipFill>
        <p:spPr>
          <a:xfrm>
            <a:off x="3101881" y="3933271"/>
            <a:ext cx="4749154" cy="1914792"/>
          </a:xfrm>
          <a:prstGeom prst="rect">
            <a:avLst/>
          </a:prstGeom>
        </p:spPr>
      </p:pic>
      <p:sp>
        <p:nvSpPr>
          <p:cNvPr id="13" name="Ellipse 12">
            <a:extLst>
              <a:ext uri="{FF2B5EF4-FFF2-40B4-BE49-F238E27FC236}">
                <a16:creationId xmlns:a16="http://schemas.microsoft.com/office/drawing/2014/main" id="{EB75EADB-A165-4DB6-93E6-4087D968672C}"/>
              </a:ext>
            </a:extLst>
          </p:cNvPr>
          <p:cNvSpPr/>
          <p:nvPr/>
        </p:nvSpPr>
        <p:spPr>
          <a:xfrm>
            <a:off x="3036882" y="4110004"/>
            <a:ext cx="1304086" cy="353466"/>
          </a:xfrm>
          <a:prstGeom prst="ellipse">
            <a:avLst/>
          </a:prstGeom>
          <a:noFill/>
          <a:ln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E5CB463-E9D7-4D65-9838-AE2760909855}"/>
              </a:ext>
            </a:extLst>
          </p:cNvPr>
          <p:cNvSpPr txBox="1"/>
          <p:nvPr/>
        </p:nvSpPr>
        <p:spPr>
          <a:xfrm>
            <a:off x="8148583" y="4181894"/>
            <a:ext cx="39360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Participation Orchidée attendue </a:t>
            </a:r>
            <a:r>
              <a:rPr lang="fr-FR" dirty="0">
                <a:solidFill>
                  <a:srgbClr val="FF0000"/>
                </a:solidFill>
              </a:rPr>
              <a:t>: uniquement les établissements disposant d’un ESDS avec données </a:t>
            </a:r>
            <a:r>
              <a:rPr lang="fr-FR" dirty="0" err="1">
                <a:solidFill>
                  <a:srgbClr val="FF0000"/>
                </a:solidFill>
              </a:rPr>
              <a:t>bactério</a:t>
            </a:r>
            <a:r>
              <a:rPr lang="fr-FR" dirty="0">
                <a:solidFill>
                  <a:srgbClr val="FF0000"/>
                </a:solidFill>
              </a:rPr>
              <a:t> et PUI -&gt; dans un premier temps uniquement quelques CHU</a:t>
            </a:r>
          </a:p>
        </p:txBody>
      </p:sp>
    </p:spTree>
    <p:extLst>
      <p:ext uri="{BB962C8B-B14F-4D97-AF65-F5344CB8AC3E}">
        <p14:creationId xmlns:p14="http://schemas.microsoft.com/office/powerpoint/2010/main" val="3737750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èche : pentagone 8">
            <a:extLst>
              <a:ext uri="{FF2B5EF4-FFF2-40B4-BE49-F238E27FC236}">
                <a16:creationId xmlns:a16="http://schemas.microsoft.com/office/drawing/2014/main" id="{EBA06D6D-F63B-4DCD-92E5-3A59DD9CBC8E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>
                <a:solidFill>
                  <a:prstClr val="white"/>
                </a:solidFill>
                <a:latin typeface="Arial"/>
              </a:rPr>
              <a:t>Positionnement projet Orchidée par rapport à la surveillance nationale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C88650-B282-4ADB-BA6D-7608DE4F778B}"/>
              </a:ext>
            </a:extLst>
          </p:cNvPr>
          <p:cNvSpPr/>
          <p:nvPr/>
        </p:nvSpPr>
        <p:spPr>
          <a:xfrm>
            <a:off x="1941498" y="1696635"/>
            <a:ext cx="950002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Sources de données :</a:t>
            </a:r>
            <a:endParaRPr lang="fr-FR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Tx/>
              <a:buChar char="-"/>
            </a:pPr>
            <a:r>
              <a:rPr lang="fr-FR" dirty="0"/>
              <a:t>Pour la consommation d’antibiotiques : dispensation agrégée par unités fonctionnelles, transmises par les PUI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Pour la résistance aux antibiotiques : données au niveau de l’isolat, transmises par les laboratoires</a:t>
            </a:r>
          </a:p>
          <a:p>
            <a:endParaRPr lang="fr-FR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49751FD-32AD-43E9-A208-0356CD566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96" y="1696635"/>
            <a:ext cx="1124107" cy="790685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B163285-48A4-45C9-8CEB-42BD2C6BFCD7}"/>
              </a:ext>
            </a:extLst>
          </p:cNvPr>
          <p:cNvSpPr txBox="1"/>
          <p:nvPr/>
        </p:nvSpPr>
        <p:spPr>
          <a:xfrm>
            <a:off x="569177" y="3450961"/>
            <a:ext cx="111489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Attendus Orchidée </a:t>
            </a:r>
            <a:r>
              <a:rPr lang="fr-FR" dirty="0">
                <a:solidFill>
                  <a:srgbClr val="FF0000"/>
                </a:solidFill>
              </a:rPr>
              <a:t>: </a:t>
            </a:r>
          </a:p>
          <a:p>
            <a:r>
              <a:rPr lang="fr-FR" dirty="0">
                <a:solidFill>
                  <a:srgbClr val="FF0000"/>
                </a:solidFill>
              </a:rPr>
              <a:t> sources de données additionnelles : </a:t>
            </a:r>
          </a:p>
          <a:p>
            <a:r>
              <a:rPr lang="fr-FR" dirty="0">
                <a:solidFill>
                  <a:srgbClr val="FF0000"/>
                </a:solidFill>
              </a:rPr>
              <a:t>	- données individuelles pour la consommation d’antibiotiques : délivrance, administration</a:t>
            </a:r>
          </a:p>
          <a:p>
            <a:r>
              <a:rPr lang="fr-FR" dirty="0">
                <a:solidFill>
                  <a:srgbClr val="FF0000"/>
                </a:solidFill>
              </a:rPr>
              <a:t>	- données patients issues du PMSI, </a:t>
            </a:r>
            <a:r>
              <a:rPr lang="fr-FR" dirty="0" err="1">
                <a:solidFill>
                  <a:srgbClr val="FF0000"/>
                </a:solidFill>
              </a:rPr>
              <a:t>compte-rendus</a:t>
            </a:r>
            <a:r>
              <a:rPr lang="fr-FR" dirty="0">
                <a:solidFill>
                  <a:srgbClr val="FF0000"/>
                </a:solidFill>
              </a:rPr>
              <a:t> d’hospitalisation …</a:t>
            </a:r>
          </a:p>
          <a:p>
            <a:r>
              <a:rPr lang="fr-FR" dirty="0">
                <a:solidFill>
                  <a:srgbClr val="FF0000"/>
                </a:solidFill>
              </a:rPr>
              <a:t>	- autres sources de données éventuelles : logiciel métier des équipes opérationnelles d’hygiène ?</a:t>
            </a:r>
          </a:p>
        </p:txBody>
      </p:sp>
    </p:spTree>
    <p:extLst>
      <p:ext uri="{BB962C8B-B14F-4D97-AF65-F5344CB8AC3E}">
        <p14:creationId xmlns:p14="http://schemas.microsoft.com/office/powerpoint/2010/main" val="4220564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èche : pentagone 8">
            <a:extLst>
              <a:ext uri="{FF2B5EF4-FFF2-40B4-BE49-F238E27FC236}">
                <a16:creationId xmlns:a16="http://schemas.microsoft.com/office/drawing/2014/main" id="{EBA06D6D-F63B-4DCD-92E5-3A59DD9CBC8E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>
                <a:solidFill>
                  <a:prstClr val="white"/>
                </a:solidFill>
                <a:latin typeface="Arial"/>
              </a:rPr>
              <a:t>Positionnement projet Orchidée par rapport à la surveillance nationale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C88650-B282-4ADB-BA6D-7608DE4F778B}"/>
              </a:ext>
            </a:extLst>
          </p:cNvPr>
          <p:cNvSpPr/>
          <p:nvPr/>
        </p:nvSpPr>
        <p:spPr>
          <a:xfrm>
            <a:off x="1941498" y="1696635"/>
            <a:ext cx="95000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Fréquence des indicateurs :</a:t>
            </a:r>
          </a:p>
          <a:p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Annuelle, estimés pour l’année N-1,</a:t>
            </a:r>
            <a:r>
              <a:rPr lang="fr-FR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liée à la fréquence d’importation des données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49751FD-32AD-43E9-A208-0356CD566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96" y="1696635"/>
            <a:ext cx="1124107" cy="790685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B163285-48A4-45C9-8CEB-42BD2C6BFCD7}"/>
              </a:ext>
            </a:extLst>
          </p:cNvPr>
          <p:cNvSpPr txBox="1"/>
          <p:nvPr/>
        </p:nvSpPr>
        <p:spPr>
          <a:xfrm>
            <a:off x="569177" y="3450961"/>
            <a:ext cx="111489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Attendus Orchidée </a:t>
            </a:r>
            <a:r>
              <a:rPr lang="fr-FR" dirty="0">
                <a:solidFill>
                  <a:srgbClr val="FF0000"/>
                </a:solidFill>
              </a:rPr>
              <a:t>: </a:t>
            </a:r>
          </a:p>
          <a:p>
            <a:r>
              <a:rPr lang="fr-FR" dirty="0">
                <a:solidFill>
                  <a:srgbClr val="FF0000"/>
                </a:solidFill>
              </a:rPr>
              <a:t>disponibilité des données dans les ESDS : quasi temps-réel (qq jours de délai) -&gt; permet une estimation plus fréquente des indicateurs</a:t>
            </a:r>
          </a:p>
        </p:txBody>
      </p:sp>
    </p:spTree>
    <p:extLst>
      <p:ext uri="{BB962C8B-B14F-4D97-AF65-F5344CB8AC3E}">
        <p14:creationId xmlns:p14="http://schemas.microsoft.com/office/powerpoint/2010/main" val="1044185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6156" y="3315877"/>
            <a:ext cx="9696812" cy="1296145"/>
          </a:xfrm>
        </p:spPr>
        <p:txBody>
          <a:bodyPr>
            <a:noAutofit/>
          </a:bodyPr>
          <a:lstStyle/>
          <a:p>
            <a:pPr algn="ctr"/>
            <a:r>
              <a:rPr lang="fr-FR" sz="4800" dirty="0">
                <a:solidFill>
                  <a:schemeClr val="accent5">
                    <a:lumMod val="75000"/>
                  </a:schemeClr>
                </a:solidFill>
              </a:rPr>
              <a:t>INDICATEURS CONSOMMATION ANTIBIOTIQUES</a:t>
            </a:r>
          </a:p>
        </p:txBody>
      </p:sp>
    </p:spTree>
    <p:extLst>
      <p:ext uri="{BB962C8B-B14F-4D97-AF65-F5344CB8AC3E}">
        <p14:creationId xmlns:p14="http://schemas.microsoft.com/office/powerpoint/2010/main" val="1061605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>
                <a:solidFill>
                  <a:prstClr val="white"/>
                </a:solidFill>
                <a:latin typeface="Arial"/>
              </a:rPr>
              <a:t>SpF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Espace réservé du texte 2"/>
          <p:cNvSpPr>
            <a:spLocks noGrp="1"/>
          </p:cNvSpPr>
          <p:nvPr>
            <p:ph type="body" sz="quarter" idx="4294967295"/>
          </p:nvPr>
        </p:nvSpPr>
        <p:spPr>
          <a:xfrm>
            <a:off x="719402" y="1412777"/>
            <a:ext cx="10527718" cy="4824535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just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400" dirty="0"/>
              <a:t> Présentation de la nouvelle expression des </a:t>
            </a:r>
            <a:r>
              <a:rPr lang="fr-FR" sz="2400" dirty="0" smtClean="0"/>
              <a:t>besoins </a:t>
            </a:r>
            <a:r>
              <a:rPr lang="fr-FR" sz="2400" dirty="0"/>
              <a:t>: </a:t>
            </a:r>
          </a:p>
          <a:p>
            <a:pPr lvl="1" algn="just">
              <a:buClr>
                <a:srgbClr val="FF0066"/>
              </a:buClr>
              <a:buFont typeface="Wingdings" panose="05000000000000000000" pitchFamily="2" charset="2"/>
              <a:buChar char="v"/>
            </a:pPr>
            <a:endParaRPr lang="fr-FR" sz="2000" dirty="0"/>
          </a:p>
          <a:p>
            <a:pPr marL="457200" lvl="1" indent="0" algn="just">
              <a:buClr>
                <a:srgbClr val="FF0066"/>
              </a:buClr>
              <a:buNone/>
            </a:pPr>
            <a:r>
              <a:rPr lang="fr-FR" sz="2000" b="1" dirty="0">
                <a:solidFill>
                  <a:srgbClr val="E30056"/>
                </a:solidFill>
              </a:rPr>
              <a:t>Objectifs à court terme : </a:t>
            </a:r>
          </a:p>
          <a:p>
            <a:pPr marL="914400" lvl="2" indent="0" algn="just">
              <a:buClr>
                <a:srgbClr val="FF0066"/>
              </a:buClr>
              <a:buNone/>
            </a:pPr>
            <a:r>
              <a:rPr lang="fr-FR" sz="1800" dirty="0"/>
              <a:t>Indicateurs principaux de la mission </a:t>
            </a:r>
            <a:r>
              <a:rPr lang="fr-FR" sz="1800" dirty="0" err="1"/>
              <a:t>Spares</a:t>
            </a:r>
            <a:r>
              <a:rPr lang="fr-FR" sz="1800" dirty="0"/>
              <a:t>, plus facilement reproductibles dans tous les EDSH</a:t>
            </a:r>
          </a:p>
          <a:p>
            <a:pPr marL="914400" lvl="2" indent="0" algn="just">
              <a:buClr>
                <a:srgbClr val="FF0066"/>
              </a:buClr>
              <a:buNone/>
            </a:pPr>
            <a:endParaRPr lang="fr-FR" sz="1600" b="1" cap="none" dirty="0">
              <a:solidFill>
                <a:srgbClr val="FF0066"/>
              </a:solidFill>
            </a:endParaRPr>
          </a:p>
          <a:p>
            <a:pPr marL="457200" lvl="1" indent="0" algn="just">
              <a:buClr>
                <a:srgbClr val="FF0066"/>
              </a:buClr>
              <a:buNone/>
            </a:pPr>
            <a:r>
              <a:rPr lang="fr-FR" sz="2000" b="1" dirty="0">
                <a:solidFill>
                  <a:srgbClr val="E30056"/>
                </a:solidFill>
              </a:rPr>
              <a:t>Objectifs à moyen et long termes : </a:t>
            </a:r>
          </a:p>
          <a:p>
            <a:pPr marL="914400" lvl="2" indent="0" algn="just">
              <a:buClr>
                <a:srgbClr val="FF0066"/>
              </a:buClr>
              <a:buNone/>
            </a:pPr>
            <a:r>
              <a:rPr lang="fr-FR" sz="1800" dirty="0"/>
              <a:t>Stratification plus poussée et utilisation des données individuelles. </a:t>
            </a:r>
          </a:p>
          <a:p>
            <a:pPr marL="914400" lvl="2" indent="0" algn="just">
              <a:buClr>
                <a:srgbClr val="FF0066"/>
              </a:buClr>
              <a:buNone/>
            </a:pPr>
            <a:r>
              <a:rPr lang="fr-FR" sz="1800" dirty="0"/>
              <a:t>Demandera plus de temps car tous les EDSH n’ont pas les mêmes informations accessibles, et sous la même forme. </a:t>
            </a:r>
          </a:p>
          <a:p>
            <a:pPr lvl="2" algn="just">
              <a:buClr>
                <a:srgbClr val="FF0066"/>
              </a:buClr>
              <a:buFont typeface="Wingdings" panose="05000000000000000000" pitchFamily="2" charset="2"/>
              <a:buChar char="v"/>
            </a:pPr>
            <a:endParaRPr lang="fr-FR" sz="1600" dirty="0"/>
          </a:p>
          <a:p>
            <a:pPr lvl="1" algn="just">
              <a:buClr>
                <a:srgbClr val="FF0066"/>
              </a:buClr>
              <a:buFont typeface="Wingdings" panose="05000000000000000000" pitchFamily="2" charset="2"/>
              <a:buChar char="v"/>
            </a:pPr>
            <a:endParaRPr lang="fr-FR" sz="2000" b="0" cap="none" dirty="0">
              <a:solidFill>
                <a:schemeClr val="tx1"/>
              </a:solidFill>
            </a:endParaRPr>
          </a:p>
          <a:p>
            <a:pPr algn="just"/>
            <a:endParaRPr lang="fr-FR" sz="2400" b="0" cap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0557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fr-FR" noProof="0" dirty="0">
                <a:solidFill>
                  <a:prstClr val="white"/>
                </a:solidFill>
                <a:latin typeface="Arial"/>
              </a:rPr>
              <a:t>OBJECTIFS A COURT TERME</a:t>
            </a:r>
            <a:endParaRPr kumimoji="0" lang="fr-FR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4" name="Espace réservé du texte 2"/>
          <p:cNvSpPr txBox="1">
            <a:spLocks/>
          </p:cNvSpPr>
          <p:nvPr/>
        </p:nvSpPr>
        <p:spPr>
          <a:xfrm>
            <a:off x="153345" y="1455265"/>
            <a:ext cx="12270750" cy="5370408"/>
          </a:xfrm>
          <a:prstGeom prst="rect">
            <a:avLst/>
          </a:prstGeom>
        </p:spPr>
        <p:txBody>
          <a:bodyPr vert="horz" lIns="36000" tIns="0" rIns="3600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Tx/>
              <a:buNone/>
              <a:defRPr sz="1800" b="1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sz="1600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Font typeface="Symbol" panose="05050102010706020507" pitchFamily="18" charset="2"/>
              <a:buChar char="·"/>
              <a:defRPr sz="1600" b="1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3pPr>
            <a:lvl4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Symbol" panose="05050102010706020507" pitchFamily="18" charset="2"/>
              <a:buChar char="·"/>
              <a:tabLst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88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-"/>
              <a:defRPr sz="1400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4D4D4F"/>
                </a:solidFill>
                <a:effectLst/>
                <a:uLnTx/>
                <a:uFillTx/>
                <a:ea typeface="+mn-ea"/>
                <a:cs typeface="+mn-cs"/>
              </a:rPr>
              <a:t>Reproduire les indicateurs SPARES avec les données EDSH pour validation et comparaison.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fr-FR" sz="1800" b="1" i="0" u="none" strike="noStrike" kern="1200" cap="all" spc="0" normalizeH="0" baseline="0" noProof="0" dirty="0">
                <a:ln>
                  <a:noFill/>
                </a:ln>
                <a:solidFill>
                  <a:srgbClr val="E30056"/>
                </a:solidFill>
                <a:effectLst/>
                <a:uLnTx/>
                <a:uFillTx/>
                <a:ea typeface="+mn-ea"/>
                <a:cs typeface="+mn-cs"/>
              </a:rPr>
              <a:t>Indicateurs prioritaires à reproduire : 	 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kumimoji="0" lang="fr-FR" b="1" i="0" u="none" strike="noStrike" kern="1200" cap="all" spc="0" normalizeH="0" baseline="0" noProof="0" dirty="0">
                <a:ln>
                  <a:noFill/>
                </a:ln>
                <a:solidFill>
                  <a:srgbClr val="E30056"/>
                </a:solidFill>
                <a:effectLst/>
                <a:uLnTx/>
                <a:uFillTx/>
                <a:ea typeface="+mn-ea"/>
                <a:cs typeface="+mn-cs"/>
              </a:rPr>
              <a:t> Consommation globale d’antibiotiques (délivrance/dispensation) : </a:t>
            </a:r>
          </a:p>
          <a:p>
            <a:pPr marL="742950" marR="0" lvl="1" indent="-28575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ea typeface="+mn-ea"/>
                <a:cs typeface="+mn-cs"/>
              </a:rPr>
              <a:t>Exprimée en </a:t>
            </a: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ea typeface="+mn-ea"/>
                <a:cs typeface="+mn-cs"/>
              </a:rPr>
              <a:t>Dose Définie Journalière (DDJ)/1 000 journées d’hospitalisation (JH)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ea typeface="+mn-ea"/>
                <a:cs typeface="+mn-cs"/>
              </a:rPr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ea typeface="+mn-ea"/>
                <a:cs typeface="+mn-cs"/>
              </a:rPr>
              <a:t>Basée sur les </a:t>
            </a: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ea typeface="+mn-ea"/>
                <a:cs typeface="+mn-cs"/>
              </a:rPr>
              <a:t>Unités Communes de Dispensation (UCD)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dirty="0">
                <a:solidFill>
                  <a:srgbClr val="E30056"/>
                </a:solidFill>
              </a:rPr>
              <a:t> </a:t>
            </a:r>
            <a:r>
              <a:rPr kumimoji="0" lang="fr-FR" sz="1800" b="1" i="0" u="none" strike="noStrike" kern="1200" cap="all" spc="0" normalizeH="0" baseline="0" noProof="0" dirty="0">
                <a:ln>
                  <a:noFill/>
                </a:ln>
                <a:solidFill>
                  <a:srgbClr val="E30056"/>
                </a:solidFill>
                <a:effectLst/>
                <a:uLnTx/>
                <a:uFillTx/>
                <a:ea typeface="+mn-ea"/>
                <a:cs typeface="+mn-cs"/>
              </a:rPr>
              <a:t>Consommation par antibiotique/famille : </a:t>
            </a:r>
          </a:p>
          <a:p>
            <a:pPr marL="742950" marR="0" lvl="1" indent="-28575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ea typeface="+mn-ea"/>
                <a:cs typeface="+mn-cs"/>
              </a:rPr>
              <a:t>Top 10 des antibiotiques les plus consommés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ea typeface="+mn-ea"/>
                <a:cs typeface="+mn-cs"/>
              </a:rPr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ea typeface="+mn-ea"/>
                <a:cs typeface="+mn-cs"/>
              </a:rPr>
              <a:t>Répartition par famille (ex. : </a:t>
            </a: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ea typeface="+mn-ea"/>
                <a:cs typeface="+mn-cs"/>
              </a:rPr>
              <a:t>bêta-lactamines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ea typeface="+mn-ea"/>
                <a:cs typeface="+mn-cs"/>
              </a:rPr>
              <a:t>, fluoroquinolones).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1" i="0" u="none" strike="noStrike" kern="1200" cap="all" spc="0" normalizeH="0" baseline="0" noProof="0" dirty="0">
                <a:ln>
                  <a:noFill/>
                </a:ln>
                <a:solidFill>
                  <a:srgbClr val="E30056"/>
                </a:solidFill>
                <a:effectLst/>
                <a:uLnTx/>
                <a:uFillTx/>
                <a:ea typeface="+mn-ea"/>
                <a:cs typeface="+mn-cs"/>
              </a:rPr>
              <a:t> Indicateur ECDC : Part des antibiotiques à large spectre (C3-4G, </a:t>
            </a:r>
            <a:r>
              <a:rPr kumimoji="0" lang="fr-FR" sz="1800" b="1" i="0" u="none" strike="noStrike" kern="1200" cap="all" spc="0" normalizeH="0" baseline="0" noProof="0" dirty="0" err="1">
                <a:ln>
                  <a:noFill/>
                </a:ln>
                <a:solidFill>
                  <a:srgbClr val="E30056"/>
                </a:solidFill>
                <a:effectLst/>
                <a:uLnTx/>
                <a:uFillTx/>
                <a:ea typeface="+mn-ea"/>
                <a:cs typeface="+mn-cs"/>
              </a:rPr>
              <a:t>pipéracilline-tazobactam</a:t>
            </a:r>
            <a:r>
              <a:rPr kumimoji="0" lang="fr-FR" sz="1800" b="1" i="0" u="none" strike="noStrike" kern="1200" cap="all" spc="0" normalizeH="0" baseline="0" noProof="0" dirty="0">
                <a:ln>
                  <a:noFill/>
                </a:ln>
                <a:solidFill>
                  <a:srgbClr val="E30056"/>
                </a:solidFill>
                <a:effectLst/>
                <a:uLnTx/>
                <a:uFillTx/>
                <a:ea typeface="+mn-ea"/>
                <a:cs typeface="+mn-cs"/>
              </a:rPr>
              <a:t>, carbapénèmes).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1" i="0" u="none" strike="noStrike" kern="1200" cap="all" spc="0" normalizeH="0" baseline="0" noProof="0" dirty="0">
                <a:ln>
                  <a:noFill/>
                </a:ln>
                <a:solidFill>
                  <a:srgbClr val="E30056"/>
                </a:solidFill>
                <a:effectLst/>
                <a:uLnTx/>
                <a:uFillTx/>
                <a:ea typeface="+mn-ea"/>
                <a:cs typeface="+mn-cs"/>
              </a:rPr>
              <a:t> Classification </a:t>
            </a:r>
            <a:r>
              <a:rPr kumimoji="0" lang="fr-FR" sz="1800" b="1" i="0" u="none" strike="noStrike" kern="1200" cap="all" spc="0" normalizeH="0" baseline="0" noProof="0" dirty="0" err="1">
                <a:ln>
                  <a:noFill/>
                </a:ln>
                <a:solidFill>
                  <a:srgbClr val="E30056"/>
                </a:solidFill>
                <a:effectLst/>
                <a:uLnTx/>
                <a:uFillTx/>
                <a:ea typeface="+mn-ea"/>
                <a:cs typeface="+mn-cs"/>
              </a:rPr>
              <a:t>AWaRe</a:t>
            </a:r>
            <a:r>
              <a:rPr kumimoji="0" lang="fr-FR" sz="1800" b="1" i="0" u="none" strike="noStrike" kern="1200" cap="all" spc="0" normalizeH="0" baseline="0" noProof="0" dirty="0">
                <a:ln>
                  <a:noFill/>
                </a:ln>
                <a:solidFill>
                  <a:srgbClr val="E30056"/>
                </a:solidFill>
                <a:effectLst/>
                <a:uLnTx/>
                <a:uFillTx/>
                <a:ea typeface="+mn-ea"/>
                <a:cs typeface="+mn-cs"/>
              </a:rPr>
              <a:t> (OMS) : % des groupes "Access," "Watch," et "Reserve".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1" i="0" u="none" strike="noStrike" kern="1200" cap="all" spc="0" normalizeH="0" baseline="0" noProof="0" dirty="0">
                <a:ln>
                  <a:noFill/>
                </a:ln>
                <a:solidFill>
                  <a:srgbClr val="E30056"/>
                </a:solidFill>
                <a:effectLst/>
                <a:uLnTx/>
                <a:uFillTx/>
                <a:ea typeface="+mn-ea"/>
                <a:cs typeface="+mn-cs"/>
              </a:rPr>
              <a:t> Classification SPILF : % des groupes I, II, et III</a:t>
            </a:r>
          </a:p>
          <a:p>
            <a:pPr marL="0" marR="0" lvl="0" indent="0" algn="just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srgbClr val="4D4D4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5972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fr-FR" noProof="0" dirty="0">
                <a:solidFill>
                  <a:prstClr val="white"/>
                </a:solidFill>
                <a:latin typeface="Arial"/>
              </a:rPr>
              <a:t>STRATIFICATION DES INDICATEURS</a:t>
            </a:r>
            <a:endParaRPr lang="fr-FR" sz="2400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4294967295"/>
          </p:nvPr>
        </p:nvSpPr>
        <p:spPr>
          <a:xfrm>
            <a:off x="101600" y="1703061"/>
            <a:ext cx="11076358" cy="4886423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1" i="0" u="none" strike="noStrike" kern="1200" cap="all" spc="0" normalizeH="0" baseline="0" noProof="0" dirty="0">
                <a:ln>
                  <a:noFill/>
                </a:ln>
                <a:solidFill>
                  <a:srgbClr val="E30056"/>
                </a:solidFill>
                <a:effectLst/>
                <a:uLnTx/>
                <a:uFillTx/>
                <a:ea typeface="+mn-ea"/>
                <a:cs typeface="+mn-cs"/>
              </a:rPr>
              <a:t> Variables de stratification : </a:t>
            </a:r>
          </a:p>
          <a:p>
            <a:pPr marL="742950" marR="0" lvl="1" indent="-28575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ea typeface="+mn-ea"/>
                <a:cs typeface="+mn-cs"/>
              </a:rPr>
              <a:t>Secteur clinique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ea typeface="+mn-ea"/>
                <a:cs typeface="+mn-cs"/>
              </a:rPr>
              <a:t> (ex. : réanimation, hématologie, maladies infectieuses).</a:t>
            </a:r>
          </a:p>
          <a:p>
            <a:pPr marL="742950" marR="0" lvl="1" indent="-28575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ea typeface="+mn-ea"/>
                <a:cs typeface="+mn-cs"/>
              </a:rPr>
              <a:t>Code ATC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ea typeface="+mn-ea"/>
                <a:cs typeface="+mn-cs"/>
              </a:rPr>
              <a:t> (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ea typeface="+mn-ea"/>
                <a:cs typeface="+mn-cs"/>
              </a:rPr>
              <a:t>Anatomical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ea typeface="+mn-ea"/>
                <a:cs typeface="+mn-cs"/>
              </a:rPr>
              <a:t>Therapeutic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ea typeface="+mn-ea"/>
                <a:cs typeface="+mn-cs"/>
              </a:rPr>
              <a:t> Chemical).</a:t>
            </a:r>
          </a:p>
          <a:p>
            <a:pPr marL="742950" lvl="1" indent="-285750">
              <a:lnSpc>
                <a:spcPct val="110000"/>
              </a:lnSpc>
              <a:spcBef>
                <a:spcPts val="600"/>
              </a:spcBef>
              <a:defRPr/>
            </a:pPr>
            <a:r>
              <a:rPr lang="fr-FR" sz="1800" b="1" dirty="0">
                <a:solidFill>
                  <a:srgbClr val="373739"/>
                </a:solidFill>
              </a:rPr>
              <a:t>Focus sur certaines molécules spécifiques </a:t>
            </a:r>
            <a:r>
              <a:rPr lang="fr-FR" sz="1800" dirty="0">
                <a:solidFill>
                  <a:srgbClr val="373739"/>
                </a:solidFill>
              </a:rPr>
              <a:t>(Amoxicilline – acide clavulanique (J01CR02), Amoxicilline (J01CA04), Ceftriaxone (J01DD04), </a:t>
            </a:r>
            <a:r>
              <a:rPr lang="fr-FR" sz="1800" dirty="0" err="1">
                <a:solidFill>
                  <a:srgbClr val="373739"/>
                </a:solidFill>
              </a:rPr>
              <a:t>Pipéracilline</a:t>
            </a:r>
            <a:r>
              <a:rPr lang="fr-FR" sz="1800" dirty="0">
                <a:solidFill>
                  <a:srgbClr val="373739"/>
                </a:solidFill>
              </a:rPr>
              <a:t> – </a:t>
            </a:r>
            <a:r>
              <a:rPr lang="fr-FR" sz="1800" dirty="0" err="1">
                <a:solidFill>
                  <a:srgbClr val="373739"/>
                </a:solidFill>
              </a:rPr>
              <a:t>tazobactam</a:t>
            </a:r>
            <a:r>
              <a:rPr lang="fr-FR" sz="1800" dirty="0">
                <a:solidFill>
                  <a:srgbClr val="373739"/>
                </a:solidFill>
              </a:rPr>
              <a:t> (J01CR05), Métronidazole (J01XD01), </a:t>
            </a:r>
            <a:r>
              <a:rPr lang="fr-FR" sz="1800" dirty="0" err="1">
                <a:solidFill>
                  <a:srgbClr val="373739"/>
                </a:solidFill>
              </a:rPr>
              <a:t>Lévofloxacine</a:t>
            </a:r>
            <a:r>
              <a:rPr lang="fr-FR" sz="1800" dirty="0">
                <a:solidFill>
                  <a:srgbClr val="373739"/>
                </a:solidFill>
              </a:rPr>
              <a:t> (J01MA12), </a:t>
            </a:r>
            <a:r>
              <a:rPr lang="fr-FR" sz="1800" dirty="0" err="1">
                <a:solidFill>
                  <a:srgbClr val="373739"/>
                </a:solidFill>
              </a:rPr>
              <a:t>Céfazoline</a:t>
            </a:r>
            <a:r>
              <a:rPr lang="fr-FR" sz="1800" dirty="0">
                <a:solidFill>
                  <a:srgbClr val="373739"/>
                </a:solidFill>
              </a:rPr>
              <a:t> (J01DB04), </a:t>
            </a:r>
            <a:r>
              <a:rPr lang="fr-FR" sz="1800" dirty="0" err="1">
                <a:solidFill>
                  <a:srgbClr val="373739"/>
                </a:solidFill>
              </a:rPr>
              <a:t>Céfotaxime</a:t>
            </a:r>
            <a:r>
              <a:rPr lang="fr-FR" sz="1800" dirty="0">
                <a:solidFill>
                  <a:srgbClr val="373739"/>
                </a:solidFill>
              </a:rPr>
              <a:t> (J01DD01), Cotrimoxazole (J01EE01), </a:t>
            </a:r>
            <a:r>
              <a:rPr lang="fr-FR" sz="1800" dirty="0" err="1">
                <a:solidFill>
                  <a:srgbClr val="373739"/>
                </a:solidFill>
              </a:rPr>
              <a:t>Daptomycine</a:t>
            </a:r>
            <a:r>
              <a:rPr lang="fr-FR" sz="1800" dirty="0">
                <a:solidFill>
                  <a:srgbClr val="373739"/>
                </a:solidFill>
              </a:rPr>
              <a:t> (J01XX09)) </a:t>
            </a:r>
          </a:p>
          <a:p>
            <a:pPr marL="742950" marR="0" lvl="1" indent="-28575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ea typeface="+mn-ea"/>
                <a:cs typeface="+mn-cs"/>
              </a:rPr>
              <a:t>Voie d’administration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ea typeface="+mn-ea"/>
                <a:cs typeface="+mn-cs"/>
              </a:rPr>
              <a:t> (orale, IV, etc.).</a:t>
            </a:r>
          </a:p>
          <a:p>
            <a:pPr marL="742950" marR="0" lvl="1" indent="-28575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ea typeface="+mn-ea"/>
                <a:cs typeface="+mn-cs"/>
              </a:rPr>
              <a:t>Établissement de santé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ea typeface="+mn-ea"/>
                <a:cs typeface="+mn-cs"/>
              </a:rPr>
              <a:t> et </a:t>
            </a: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ea typeface="+mn-ea"/>
                <a:cs typeface="+mn-cs"/>
              </a:rPr>
              <a:t>département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1" i="0" u="none" strike="noStrike" kern="1200" cap="all" spc="0" normalizeH="0" baseline="0" noProof="0" dirty="0">
                <a:ln>
                  <a:noFill/>
                </a:ln>
                <a:solidFill>
                  <a:srgbClr val="E30056"/>
                </a:solidFill>
                <a:effectLst/>
                <a:uLnTx/>
                <a:uFillTx/>
                <a:ea typeface="+mn-ea"/>
                <a:cs typeface="+mn-cs"/>
              </a:rPr>
              <a:t> Fréquence : </a:t>
            </a:r>
            <a:r>
              <a:rPr kumimoji="0" lang="fr-FR" sz="1800" b="1" i="0" u="none" strike="noStrike" kern="1200" cap="all" spc="0" normalizeH="0" baseline="0" noProof="0" dirty="0">
                <a:ln>
                  <a:noFill/>
                </a:ln>
                <a:solidFill>
                  <a:srgbClr val="373739"/>
                </a:solidFill>
                <a:effectLst/>
                <a:uLnTx/>
                <a:uFillTx/>
                <a:ea typeface="+mn-ea"/>
                <a:cs typeface="+mn-cs"/>
              </a:rPr>
              <a:t>Estimations mensuelles.</a:t>
            </a:r>
          </a:p>
        </p:txBody>
      </p:sp>
    </p:spTree>
    <p:extLst>
      <p:ext uri="{BB962C8B-B14F-4D97-AF65-F5344CB8AC3E}">
        <p14:creationId xmlns:p14="http://schemas.microsoft.com/office/powerpoint/2010/main" val="1235564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Objectifs à moyen terme : Granularité accrue des données</a:t>
            </a:r>
            <a:endParaRPr kumimoji="0" lang="fr-FR" sz="16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4294967295"/>
          </p:nvPr>
        </p:nvSpPr>
        <p:spPr>
          <a:xfrm>
            <a:off x="327781" y="1642631"/>
            <a:ext cx="9722935" cy="537040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1" i="0" u="none" strike="noStrike" kern="1200" cap="all" spc="0" normalizeH="0" baseline="0" noProof="0" dirty="0">
                <a:ln>
                  <a:noFill/>
                </a:ln>
                <a:solidFill>
                  <a:srgbClr val="E30056"/>
                </a:solidFill>
                <a:effectLst/>
                <a:uLnTx/>
                <a:uFillTx/>
                <a:ea typeface="+mn-ea"/>
                <a:cs typeface="+mn-cs"/>
              </a:rPr>
              <a:t> Nouveaux indicateurs utilisant des données non exploitées par SPARES : Prescriptions : 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4D4D4F"/>
                </a:solidFill>
                <a:effectLst/>
                <a:uLnTx/>
                <a:uFillTx/>
                <a:ea typeface="+mn-ea"/>
                <a:cs typeface="+mn-cs"/>
              </a:rPr>
              <a:t>Antibiotiques prescrits, exprimés en DDJ/1 000 JH ou nombre de prescriptions/1 000 JH.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1" i="0" u="none" strike="noStrike" kern="1200" cap="all" spc="0" normalizeH="0" baseline="0" noProof="0" dirty="0">
                <a:ln>
                  <a:noFill/>
                </a:ln>
                <a:solidFill>
                  <a:srgbClr val="E30056"/>
                </a:solidFill>
                <a:effectLst/>
                <a:uLnTx/>
                <a:uFillTx/>
                <a:ea typeface="+mn-ea"/>
                <a:cs typeface="+mn-cs"/>
              </a:rPr>
              <a:t> Administrations : 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4D4D4F"/>
                </a:solidFill>
                <a:effectLst/>
                <a:uLnTx/>
                <a:uFillTx/>
                <a:ea typeface="+mn-ea"/>
                <a:cs typeface="+mn-cs"/>
              </a:rPr>
              <a:t>Antibiotiques réellement administrés, exprimés en DDJ/1 000 JH.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4D4D4F"/>
                </a:solidFill>
                <a:effectLst/>
                <a:uLnTx/>
                <a:uFillTx/>
                <a:ea typeface="+mn-ea"/>
                <a:cs typeface="+mn-cs"/>
              </a:rPr>
              <a:t> Consommation globale et répartition par famille d’antibiotiques.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4D4D4F"/>
                </a:solidFill>
                <a:effectLst/>
                <a:uLnTx/>
                <a:uFillTx/>
                <a:ea typeface="+mn-ea"/>
                <a:cs typeface="+mn-cs"/>
              </a:rPr>
              <a:t> Top 10 des antibiotiques les plus consommés.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4D4D4F"/>
                </a:solidFill>
                <a:effectLst/>
                <a:uLnTx/>
                <a:uFillTx/>
                <a:ea typeface="+mn-ea"/>
                <a:cs typeface="+mn-cs"/>
              </a:rPr>
              <a:t> Indicateur ECDC : Part des antibiotiques à large spectre.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4D4D4F"/>
                </a:solidFill>
                <a:effectLst/>
                <a:uLnTx/>
                <a:uFillTx/>
                <a:ea typeface="+mn-ea"/>
                <a:cs typeface="+mn-cs"/>
              </a:rPr>
              <a:t> Classification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D4D4F"/>
                </a:solidFill>
                <a:effectLst/>
                <a:uLnTx/>
                <a:uFillTx/>
                <a:ea typeface="+mn-ea"/>
                <a:cs typeface="+mn-cs"/>
              </a:rPr>
              <a:t>AWaRe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4D4D4F"/>
                </a:solidFill>
                <a:effectLst/>
                <a:uLnTx/>
                <a:uFillTx/>
                <a:ea typeface="+mn-ea"/>
                <a:cs typeface="+mn-cs"/>
              </a:rPr>
              <a:t> (OMS) et SPILF.</a:t>
            </a:r>
          </a:p>
        </p:txBody>
      </p:sp>
    </p:spTree>
    <p:extLst>
      <p:ext uri="{BB962C8B-B14F-4D97-AF65-F5344CB8AC3E}">
        <p14:creationId xmlns:p14="http://schemas.microsoft.com/office/powerpoint/2010/main" val="735181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Objectifs à moyen terme : Nouveaux indicateurs</a:t>
            </a:r>
            <a:endParaRPr kumimoji="0" lang="fr-FR" sz="16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08AA1635-63AB-470D-A8A3-0D2F8DAE6112}"/>
              </a:ext>
            </a:extLst>
          </p:cNvPr>
          <p:cNvSpPr txBox="1">
            <a:spLocks/>
          </p:cNvSpPr>
          <p:nvPr/>
        </p:nvSpPr>
        <p:spPr>
          <a:xfrm>
            <a:off x="719403" y="1412777"/>
            <a:ext cx="6209903" cy="4824535"/>
          </a:xfrm>
          <a:prstGeom prst="rect">
            <a:avLst/>
          </a:prstGeom>
        </p:spPr>
        <p:txBody>
          <a:bodyPr vert="horz" lIns="36000" tIns="0" rIns="3600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Tx/>
              <a:buNone/>
              <a:defRPr sz="1800" b="1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sz="1600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Font typeface="Symbol" panose="05050102010706020507" pitchFamily="18" charset="2"/>
              <a:buChar char="·"/>
              <a:defRPr sz="1600" b="1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3pPr>
            <a:lvl4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Symbol" panose="05050102010706020507" pitchFamily="18" charset="2"/>
              <a:buChar char="·"/>
              <a:tabLst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88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-"/>
              <a:defRPr sz="1400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fr-FR" sz="1800" b="1" i="0" u="none" strike="noStrike" kern="1200" cap="all" spc="0" normalizeH="0" baseline="0" noProof="0" dirty="0">
                <a:ln>
                  <a:noFill/>
                </a:ln>
                <a:solidFill>
                  <a:srgbClr val="E30056"/>
                </a:solidFill>
                <a:effectLst/>
                <a:uLnTx/>
                <a:uFillTx/>
                <a:ea typeface="+mn-ea"/>
                <a:cs typeface="+mn-cs"/>
              </a:rPr>
              <a:t>Indicateurs supplémentaires : 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4D4D4F"/>
                </a:solidFill>
                <a:effectLst/>
                <a:uLnTx/>
                <a:uFillTx/>
                <a:ea typeface="+mn-ea"/>
                <a:cs typeface="+mn-cs"/>
              </a:rPr>
              <a:t>Dispensation, prescriptions et administrations :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Tendances temporelles : 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4D4D4F"/>
                </a:solidFill>
                <a:effectLst/>
                <a:uLnTx/>
                <a:uFillTx/>
                <a:ea typeface="+mn-ea"/>
                <a:cs typeface="+mn-cs"/>
              </a:rPr>
              <a:t>Évolution mensuelle des consommations (délivrance, prescriptions, administrations).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Nombre de patients ayant reçu au moins un antibiotique.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Durée moyenne et médiane des traitements.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Contexte des prescriptions (prophylactique/curatif).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Indication clinique et adéquation avec les recommandations.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1" i="0" u="none" strike="noStrike" kern="1200" cap="all" spc="0" normalizeH="0" baseline="0" noProof="0" dirty="0">
              <a:ln>
                <a:noFill/>
              </a:ln>
              <a:solidFill>
                <a:srgbClr val="E3005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6D5EF84-5A68-4F85-A9E9-6AF7A4AD512F}"/>
              </a:ext>
            </a:extLst>
          </p:cNvPr>
          <p:cNvSpPr txBox="1"/>
          <p:nvPr/>
        </p:nvSpPr>
        <p:spPr>
          <a:xfrm>
            <a:off x="7770303" y="2268709"/>
            <a:ext cx="37022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4D4D4F"/>
                </a:solidFill>
              </a:rPr>
              <a:t>Sexe et âge des patients.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4D4D4F"/>
                </a:solidFill>
              </a:rPr>
              <a:t>Spécialité du prescripteur.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4D4D4F"/>
                </a:solidFill>
              </a:rPr>
              <a:t>Service du patient.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4D4D4F"/>
                </a:solidFill>
              </a:rPr>
              <a:t>Code ATC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4D4D4F"/>
                </a:solidFill>
              </a:rPr>
              <a:t>Durée de prescription.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4D4D4F"/>
                </a:solidFill>
              </a:rPr>
              <a:t>Établissement et département.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7EFE2FE-DD54-45FC-A35B-D6AC6B8DE09E}"/>
              </a:ext>
            </a:extLst>
          </p:cNvPr>
          <p:cNvSpPr txBox="1"/>
          <p:nvPr/>
        </p:nvSpPr>
        <p:spPr>
          <a:xfrm>
            <a:off x="7630965" y="1412777"/>
            <a:ext cx="44189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cap="all" dirty="0">
                <a:solidFill>
                  <a:srgbClr val="E30056"/>
                </a:solidFill>
              </a:rPr>
              <a:t>Stratification avancée des indicateurs</a:t>
            </a:r>
          </a:p>
        </p:txBody>
      </p:sp>
    </p:spTree>
    <p:extLst>
      <p:ext uri="{BB962C8B-B14F-4D97-AF65-F5344CB8AC3E}">
        <p14:creationId xmlns:p14="http://schemas.microsoft.com/office/powerpoint/2010/main" val="3626586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èche : pentagone 8">
            <a:extLst>
              <a:ext uri="{FF2B5EF4-FFF2-40B4-BE49-F238E27FC236}">
                <a16:creationId xmlns:a16="http://schemas.microsoft.com/office/drawing/2014/main" id="{EBA06D6D-F63B-4DCD-92E5-3A59DD9CBC8E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Reproduction de la méthodologie SPARES dans </a:t>
            </a: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EDSaN</a:t>
            </a: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 : consommation antibiotiques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Espace réservé du contenu 4"/>
          <p:cNvSpPr txBox="1">
            <a:spLocks/>
          </p:cNvSpPr>
          <p:nvPr/>
        </p:nvSpPr>
        <p:spPr>
          <a:xfrm>
            <a:off x="370935" y="1682803"/>
            <a:ext cx="11415904" cy="44941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 cap="none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1800" b="1" dirty="0">
                <a:solidFill>
                  <a:srgbClr val="E30056"/>
                </a:solidFill>
              </a:rPr>
              <a:t>Construction d’une table de référence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smtClean="0">
                <a:solidFill>
                  <a:srgbClr val="373739"/>
                </a:solidFill>
              </a:rPr>
              <a:t>Listing de la pharmacie : Spécialité (+Dose unitaire) | Code ATC | Voie d’administration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smtClean="0">
                <a:solidFill>
                  <a:srgbClr val="373739"/>
                </a:solidFill>
              </a:rPr>
              <a:t>Eléments SPARES : Code ATC | Voie d’administration | Dose unitaire | DDJ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smtClean="0">
                <a:solidFill>
                  <a:srgbClr val="373739"/>
                </a:solidFill>
              </a:rPr>
              <a:t>ATC : Code ATC | Libelle ATC + hiérarchie</a:t>
            </a:r>
          </a:p>
          <a:p>
            <a:pPr lvl="1"/>
            <a:endParaRPr lang="fr-FR" dirty="0" smtClean="0"/>
          </a:p>
          <a:p>
            <a:pPr algn="l"/>
            <a:r>
              <a:rPr lang="fr-FR" sz="1800" b="1" dirty="0">
                <a:solidFill>
                  <a:srgbClr val="E30056"/>
                </a:solidFill>
              </a:rPr>
              <a:t>Traitement des données de consommation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373739"/>
                </a:solidFill>
              </a:rPr>
              <a:t>Extraction logiciel pharmacie : Spécialité | UF | Année | Nombre d’unités dispensées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373739"/>
                </a:solidFill>
              </a:rPr>
              <a:t>Jointure avec la table de référence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smtClean="0">
                <a:solidFill>
                  <a:srgbClr val="373739"/>
                </a:solidFill>
              </a:rPr>
              <a:t>Regroupement des nombres d’unités </a:t>
            </a:r>
            <a:r>
              <a:rPr lang="fr-FR" dirty="0">
                <a:solidFill>
                  <a:srgbClr val="373739"/>
                </a:solidFill>
              </a:rPr>
              <a:t>dispensées </a:t>
            </a:r>
            <a:r>
              <a:rPr lang="fr-FR" dirty="0" smtClean="0">
                <a:solidFill>
                  <a:srgbClr val="373739"/>
                </a:solidFill>
              </a:rPr>
              <a:t>par : </a:t>
            </a:r>
            <a:r>
              <a:rPr lang="fr-FR" dirty="0">
                <a:solidFill>
                  <a:srgbClr val="373739"/>
                </a:solidFill>
              </a:rPr>
              <a:t>C</a:t>
            </a:r>
            <a:r>
              <a:rPr lang="fr-FR" dirty="0" smtClean="0">
                <a:solidFill>
                  <a:srgbClr val="373739"/>
                </a:solidFill>
              </a:rPr>
              <a:t>ode ATC/Voie d’administration/Dose unitaire/Année</a:t>
            </a:r>
          </a:p>
          <a:p>
            <a:pPr lvl="1"/>
            <a:endParaRPr lang="fr-FR" dirty="0" smtClean="0"/>
          </a:p>
          <a:p>
            <a:pPr algn="l"/>
            <a:r>
              <a:rPr lang="fr-FR" sz="1800" b="1" dirty="0">
                <a:solidFill>
                  <a:srgbClr val="E30056"/>
                </a:solidFill>
              </a:rPr>
              <a:t>Activité administrative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smtClean="0">
                <a:solidFill>
                  <a:srgbClr val="373739"/>
                </a:solidFill>
              </a:rPr>
              <a:t>Extraction depuis le logiciel des mouvements : Année | UF | Nombre de Journées d’hospitalisation (JH)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smtClean="0">
                <a:solidFill>
                  <a:srgbClr val="373739"/>
                </a:solidFill>
              </a:rPr>
              <a:t>Regroupement par Année</a:t>
            </a:r>
          </a:p>
        </p:txBody>
      </p:sp>
    </p:spTree>
    <p:extLst>
      <p:ext uri="{BB962C8B-B14F-4D97-AF65-F5344CB8AC3E}">
        <p14:creationId xmlns:p14="http://schemas.microsoft.com/office/powerpoint/2010/main" val="4226273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èche : pentagone 8">
            <a:extLst>
              <a:ext uri="{FF2B5EF4-FFF2-40B4-BE49-F238E27FC236}">
                <a16:creationId xmlns:a16="http://schemas.microsoft.com/office/drawing/2014/main" id="{EBA06D6D-F63B-4DCD-92E5-3A59DD9CBC8E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smtClean="0">
                <a:solidFill>
                  <a:prstClr val="white"/>
                </a:solidFill>
                <a:latin typeface="Arial"/>
              </a:rPr>
              <a:t>Présentation de la t</a:t>
            </a: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able finale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78" y="1374389"/>
            <a:ext cx="11100518" cy="540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943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èche : pentagone 8">
            <a:extLst>
              <a:ext uri="{FF2B5EF4-FFF2-40B4-BE49-F238E27FC236}">
                <a16:creationId xmlns:a16="http://schemas.microsoft.com/office/drawing/2014/main" id="{EBA06D6D-F63B-4DCD-92E5-3A59DD9CBC8E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Consommation antibiotiques du CHU de Rouen en 2023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3108399" y="1302009"/>
            <a:ext cx="56852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/>
              <a:t>Répartition des dispensations par ATC pour l'année 2023 (en DDJ)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52" t="6017" r="24580" b="8454"/>
          <a:stretch/>
        </p:blipFill>
        <p:spPr>
          <a:xfrm>
            <a:off x="3338394" y="1640563"/>
            <a:ext cx="5225274" cy="520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232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èche : pentagone 8">
            <a:extLst>
              <a:ext uri="{FF2B5EF4-FFF2-40B4-BE49-F238E27FC236}">
                <a16:creationId xmlns:a16="http://schemas.microsoft.com/office/drawing/2014/main" id="{EBA06D6D-F63B-4DCD-92E5-3A59DD9CBC8E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Evolution par classe d’antibiotique et année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08" y="1365016"/>
            <a:ext cx="10656389" cy="549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474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èche : pentagone 8">
            <a:extLst>
              <a:ext uri="{FF2B5EF4-FFF2-40B4-BE49-F238E27FC236}">
                <a16:creationId xmlns:a16="http://schemas.microsoft.com/office/drawing/2014/main" id="{EBA06D6D-F63B-4DCD-92E5-3A59DD9CBC8E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Evolution de la consommation des ATB pour tout l’établissement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66" y="1371601"/>
            <a:ext cx="10016024" cy="5432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583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>
                <a:solidFill>
                  <a:prstClr val="white"/>
                </a:solidFill>
                <a:latin typeface="Arial"/>
              </a:rPr>
              <a:t>LA PAROLE AU GT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438923" y="1879397"/>
            <a:ext cx="11560629" cy="384720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noProof="0" dirty="0">
                <a:solidFill>
                  <a:prstClr val="black"/>
                </a:solidFill>
                <a:cs typeface="Arial" panose="020B0604020202020204" pitchFamily="34" charset="0"/>
              </a:rPr>
              <a:t>Discussion autour de l’EB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noProof="0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rPr>
              <a:t>Autres besoins non-couverts</a:t>
            </a:r>
            <a:r>
              <a:rPr kumimoji="0" lang="fr-FR" sz="16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rPr>
              <a:t>, sujets d’intérêt pour les CNR</a:t>
            </a:r>
            <a:r>
              <a:rPr lang="fr-FR" sz="1600" dirty="0">
                <a:solidFill>
                  <a:prstClr val="black"/>
                </a:solidFill>
                <a:cs typeface="Arial" panose="020B0604020202020204" pitchFamily="34" charset="0"/>
              </a:rPr>
              <a:t>, cliniciens, biologistes, pharmaciens ?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tabLst/>
              <a:defRPr/>
            </a:pPr>
            <a:endParaRPr kumimoji="0" lang="fr-FR" sz="1600" b="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noProof="0" dirty="0">
                <a:solidFill>
                  <a:prstClr val="black"/>
                </a:solidFill>
                <a:cs typeface="Arial" panose="020B0604020202020204" pitchFamily="34" charset="0"/>
              </a:rPr>
              <a:t>Application des </a:t>
            </a:r>
            <a:r>
              <a:rPr lang="fr-FR" sz="1600" b="1" noProof="0" dirty="0">
                <a:solidFill>
                  <a:prstClr val="black"/>
                </a:solidFill>
                <a:cs typeface="Arial" panose="020B0604020202020204" pitchFamily="34" charset="0"/>
              </a:rPr>
              <a:t>filtres activité SPARES ou consommation totale </a:t>
            </a:r>
            <a:r>
              <a:rPr lang="fr-FR" sz="1600" noProof="0" dirty="0">
                <a:solidFill>
                  <a:prstClr val="black"/>
                </a:solidFill>
                <a:cs typeface="Arial" panose="020B0604020202020204" pitchFamily="34" charset="0"/>
              </a:rPr>
              <a:t>des ESH ? </a:t>
            </a:r>
            <a:r>
              <a:rPr lang="fr-FR" sz="1600" b="1" dirty="0">
                <a:solidFill>
                  <a:prstClr val="black"/>
                </a:solidFill>
                <a:cs typeface="Arial" panose="020B0604020202020204" pitchFamily="34" charset="0"/>
              </a:rPr>
              <a:t>Consommation totale par spécialité</a:t>
            </a:r>
            <a:r>
              <a:rPr lang="fr-FR" sz="1600" dirty="0">
                <a:solidFill>
                  <a:prstClr val="black"/>
                </a:solidFill>
                <a:cs typeface="Arial" panose="020B0604020202020204" pitchFamily="34" charset="0"/>
              </a:rPr>
              <a:t> ? </a:t>
            </a:r>
            <a:r>
              <a:rPr lang="fr-FR" sz="1600" b="1" dirty="0">
                <a:solidFill>
                  <a:prstClr val="black"/>
                </a:solidFill>
                <a:cs typeface="Arial" panose="020B0604020202020204" pitchFamily="34" charset="0"/>
              </a:rPr>
              <a:t>Exhaustivité de la liste des spécialités </a:t>
            </a:r>
            <a:r>
              <a:rPr lang="fr-FR" sz="1600" dirty="0">
                <a:solidFill>
                  <a:prstClr val="black"/>
                </a:solidFill>
                <a:cs typeface="Arial" panose="020B0604020202020204" pitchFamily="34" charset="0"/>
              </a:rPr>
              <a:t>?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dirty="0">
                <a:solidFill>
                  <a:prstClr val="black"/>
                </a:solidFill>
                <a:cs typeface="Arial" panose="020B0604020202020204" pitchFamily="34" charset="0"/>
              </a:rPr>
              <a:t>Possibilité de rendre une </a:t>
            </a:r>
            <a:r>
              <a:rPr lang="fr-FR" sz="1600" b="1" dirty="0">
                <a:solidFill>
                  <a:prstClr val="black"/>
                </a:solidFill>
                <a:cs typeface="Arial" panose="020B0604020202020204" pitchFamily="34" charset="0"/>
              </a:rPr>
              <a:t>activité à l’échelle de la consommation </a:t>
            </a:r>
            <a:r>
              <a:rPr lang="fr-FR" sz="1600" dirty="0">
                <a:solidFill>
                  <a:prstClr val="black"/>
                </a:solidFill>
                <a:cs typeface="Arial" panose="020B0604020202020204" pitchFamily="34" charset="0"/>
              </a:rPr>
              <a:t>plutôt que la délivrance au niveau de la PUI par les EDS 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dirty="0" smtClean="0">
                <a:solidFill>
                  <a:prstClr val="black"/>
                </a:solidFill>
                <a:cs typeface="Arial" panose="020B0604020202020204" pitchFamily="34" charset="0"/>
              </a:rPr>
              <a:t>Périmètre : Est-ce </a:t>
            </a:r>
            <a:r>
              <a:rPr lang="fr-FR" sz="1600" dirty="0">
                <a:solidFill>
                  <a:prstClr val="black"/>
                </a:solidFill>
                <a:cs typeface="Arial" panose="020B0604020202020204" pitchFamily="34" charset="0"/>
              </a:rPr>
              <a:t>qu’on inclut les EHPAD dans cette surveillance 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dirty="0">
                <a:solidFill>
                  <a:prstClr val="black"/>
                </a:solidFill>
                <a:cs typeface="Arial" panose="020B0604020202020204" pitchFamily="34" charset="0"/>
              </a:rPr>
              <a:t>Indicateurs liés aux recommandations et aux bonnes pratiques 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dirty="0">
                <a:solidFill>
                  <a:prstClr val="black"/>
                </a:solidFill>
                <a:cs typeface="Arial" panose="020B0604020202020204" pitchFamily="34" charset="0"/>
              </a:rPr>
              <a:t>…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96184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6156" y="3315877"/>
            <a:ext cx="9696812" cy="1296145"/>
          </a:xfrm>
        </p:spPr>
        <p:txBody>
          <a:bodyPr>
            <a:noAutofit/>
          </a:bodyPr>
          <a:lstStyle/>
          <a:p>
            <a:pPr algn="ctr"/>
            <a:r>
              <a:rPr lang="fr-FR" sz="4800" dirty="0">
                <a:solidFill>
                  <a:schemeClr val="accent5">
                    <a:lumMod val="75000"/>
                  </a:schemeClr>
                </a:solidFill>
              </a:rPr>
              <a:t>INDICATEURS résistance bactérienne aux antibiotiques</a:t>
            </a:r>
          </a:p>
        </p:txBody>
      </p:sp>
    </p:spTree>
    <p:extLst>
      <p:ext uri="{BB962C8B-B14F-4D97-AF65-F5344CB8AC3E}">
        <p14:creationId xmlns:p14="http://schemas.microsoft.com/office/powerpoint/2010/main" val="23388604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>
                <a:solidFill>
                  <a:prstClr val="white"/>
                </a:solidFill>
                <a:latin typeface="Arial"/>
              </a:rPr>
              <a:t>SpF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Espace réservé du texte 2"/>
          <p:cNvSpPr>
            <a:spLocks noGrp="1"/>
          </p:cNvSpPr>
          <p:nvPr>
            <p:ph type="body" sz="quarter" idx="4294967295"/>
          </p:nvPr>
        </p:nvSpPr>
        <p:spPr>
          <a:xfrm>
            <a:off x="719402" y="1412777"/>
            <a:ext cx="10527718" cy="4824535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just">
              <a:buClr>
                <a:srgbClr val="FF0066"/>
              </a:buClr>
              <a:buFont typeface="Wingdings" panose="05000000000000000000" pitchFamily="2" charset="2"/>
              <a:buChar char="v"/>
            </a:pPr>
            <a:r>
              <a:rPr lang="fr-FR" sz="2400" dirty="0"/>
              <a:t> Présentation de la nouvelle expression </a:t>
            </a:r>
            <a:r>
              <a:rPr lang="fr-FR" sz="2400"/>
              <a:t>des </a:t>
            </a:r>
            <a:r>
              <a:rPr lang="fr-FR" sz="2400" smtClean="0"/>
              <a:t>besoins </a:t>
            </a:r>
            <a:r>
              <a:rPr lang="fr-FR" sz="2400" dirty="0"/>
              <a:t>: </a:t>
            </a:r>
          </a:p>
          <a:p>
            <a:pPr lvl="1" algn="just">
              <a:buClr>
                <a:srgbClr val="FF0066"/>
              </a:buClr>
              <a:buFont typeface="Wingdings" panose="05000000000000000000" pitchFamily="2" charset="2"/>
              <a:buChar char="v"/>
            </a:pPr>
            <a:endParaRPr lang="fr-FR" sz="2000" dirty="0"/>
          </a:p>
          <a:p>
            <a:pPr marL="457200" lvl="1" indent="0" algn="just">
              <a:buClr>
                <a:srgbClr val="FF0066"/>
              </a:buClr>
              <a:buNone/>
            </a:pPr>
            <a:r>
              <a:rPr lang="fr-FR" sz="2000" b="1" dirty="0">
                <a:solidFill>
                  <a:srgbClr val="E30056"/>
                </a:solidFill>
              </a:rPr>
              <a:t>Objectifs à court terme : </a:t>
            </a:r>
          </a:p>
          <a:p>
            <a:pPr marL="914400" lvl="2" indent="0" algn="just">
              <a:buClr>
                <a:srgbClr val="FF0066"/>
              </a:buClr>
              <a:buNone/>
            </a:pPr>
            <a:r>
              <a:rPr lang="fr-FR" sz="1800" dirty="0"/>
              <a:t>Indicateurs principaux de la mission </a:t>
            </a:r>
            <a:r>
              <a:rPr lang="fr-FR" sz="1800" dirty="0" err="1"/>
              <a:t>Spares</a:t>
            </a:r>
            <a:r>
              <a:rPr lang="fr-FR" sz="1800" dirty="0"/>
              <a:t>, plus facilement reproductibles dans tous les EDSH</a:t>
            </a:r>
          </a:p>
          <a:p>
            <a:pPr marL="914400" lvl="2" indent="0" algn="just">
              <a:buClr>
                <a:srgbClr val="FF0066"/>
              </a:buClr>
              <a:buNone/>
            </a:pPr>
            <a:endParaRPr lang="fr-FR" sz="1600" b="1" cap="none" dirty="0">
              <a:solidFill>
                <a:srgbClr val="FF0066"/>
              </a:solidFill>
            </a:endParaRPr>
          </a:p>
          <a:p>
            <a:pPr marL="457200" lvl="1" indent="0" algn="just">
              <a:buClr>
                <a:srgbClr val="FF0066"/>
              </a:buClr>
              <a:buNone/>
            </a:pPr>
            <a:r>
              <a:rPr lang="fr-FR" sz="2000" b="1" dirty="0">
                <a:solidFill>
                  <a:srgbClr val="E30056"/>
                </a:solidFill>
              </a:rPr>
              <a:t>Objectifs à moyen et long termes : </a:t>
            </a:r>
          </a:p>
          <a:p>
            <a:pPr marL="914400" lvl="2" indent="0" algn="just">
              <a:buClr>
                <a:srgbClr val="FF0066"/>
              </a:buClr>
              <a:buNone/>
            </a:pPr>
            <a:r>
              <a:rPr lang="fr-FR" sz="1800" dirty="0"/>
              <a:t>Stratification plus poussée et utilisation des données individuelles. </a:t>
            </a:r>
          </a:p>
          <a:p>
            <a:pPr marL="914400" lvl="2" indent="0" algn="just">
              <a:buClr>
                <a:srgbClr val="FF0066"/>
              </a:buClr>
              <a:buNone/>
            </a:pPr>
            <a:r>
              <a:rPr lang="fr-FR" sz="1800" dirty="0"/>
              <a:t>Demandera plus de temps car tous les EDSH n’ont pas les mêmes informations accessibles, et sous la même forme. </a:t>
            </a:r>
          </a:p>
          <a:p>
            <a:pPr lvl="2" algn="just">
              <a:buClr>
                <a:srgbClr val="FF0066"/>
              </a:buClr>
              <a:buFont typeface="Wingdings" panose="05000000000000000000" pitchFamily="2" charset="2"/>
              <a:buChar char="v"/>
            </a:pPr>
            <a:endParaRPr lang="fr-FR" sz="1600" dirty="0"/>
          </a:p>
          <a:p>
            <a:pPr lvl="1" algn="just">
              <a:buClr>
                <a:srgbClr val="FF0066"/>
              </a:buClr>
              <a:buFont typeface="Wingdings" panose="05000000000000000000" pitchFamily="2" charset="2"/>
              <a:buChar char="v"/>
            </a:pPr>
            <a:endParaRPr lang="fr-FR" sz="2000" b="0" cap="none" dirty="0">
              <a:solidFill>
                <a:schemeClr val="tx1"/>
              </a:solidFill>
            </a:endParaRPr>
          </a:p>
          <a:p>
            <a:pPr algn="just"/>
            <a:endParaRPr lang="fr-FR" sz="2400" b="0" cap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26724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>
                <a:solidFill>
                  <a:prstClr val="white"/>
                </a:solidFill>
                <a:latin typeface="Arial"/>
              </a:rPr>
              <a:t>SpF</a:t>
            </a:r>
            <a:r>
              <a:rPr lang="fr-FR" noProof="0" dirty="0">
                <a:solidFill>
                  <a:prstClr val="white"/>
                </a:solidFill>
                <a:latin typeface="Arial"/>
              </a:rPr>
              <a:t> – BESOINS A COURT TERME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4873" y="1288473"/>
            <a:ext cx="11369963" cy="1748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fr-FR" sz="2000" b="1" dirty="0">
                <a:solidFill>
                  <a:srgbClr val="FF0066"/>
                </a:solidFill>
              </a:rPr>
              <a:t>Reproduction de certains indicateurs </a:t>
            </a:r>
            <a:r>
              <a:rPr lang="fr-FR" sz="2000" b="1" dirty="0" err="1">
                <a:solidFill>
                  <a:srgbClr val="FF0066"/>
                </a:solidFill>
              </a:rPr>
              <a:t>Spares</a:t>
            </a:r>
            <a:r>
              <a:rPr lang="fr-FR" sz="2000" b="1" dirty="0">
                <a:solidFill>
                  <a:srgbClr val="FF0066"/>
                </a:solidFill>
              </a:rPr>
              <a:t>:</a:t>
            </a:r>
            <a:endParaRPr lang="fr-FR" sz="1400" dirty="0">
              <a:solidFill>
                <a:srgbClr val="4D4D4F"/>
              </a:solidFill>
            </a:endParaRPr>
          </a:p>
          <a:p>
            <a:pPr lvl="0" algn="just">
              <a:lnSpc>
                <a:spcPct val="110000"/>
              </a:lnSpc>
              <a:spcBef>
                <a:spcPts val="1200"/>
              </a:spcBef>
            </a:pPr>
            <a:endParaRPr lang="fr-FR" sz="1050" dirty="0">
              <a:solidFill>
                <a:srgbClr val="4D4D4F"/>
              </a:solidFill>
            </a:endParaRPr>
          </a:p>
          <a:p>
            <a:pPr lvl="0" algn="just">
              <a:lnSpc>
                <a:spcPct val="110000"/>
              </a:lnSpc>
              <a:spcBef>
                <a:spcPts val="1200"/>
              </a:spcBef>
            </a:pPr>
            <a:endParaRPr lang="fr-FR" sz="1050" dirty="0">
              <a:solidFill>
                <a:srgbClr val="4D4D4F"/>
              </a:solidFill>
            </a:endParaRPr>
          </a:p>
          <a:p>
            <a:pPr lvl="0" algn="just">
              <a:lnSpc>
                <a:spcPct val="110000"/>
              </a:lnSpc>
              <a:spcBef>
                <a:spcPts val="1200"/>
              </a:spcBef>
            </a:pPr>
            <a:endParaRPr lang="fr-FR" sz="1050" dirty="0">
              <a:solidFill>
                <a:srgbClr val="4D4D4F"/>
              </a:solidFill>
            </a:endParaRPr>
          </a:p>
          <a:p>
            <a:pPr lvl="0" algn="just">
              <a:lnSpc>
                <a:spcPct val="110000"/>
              </a:lnSpc>
              <a:spcBef>
                <a:spcPts val="1200"/>
              </a:spcBef>
            </a:pPr>
            <a:endParaRPr lang="fr-FR" sz="1050" dirty="0">
              <a:solidFill>
                <a:srgbClr val="4D4D4F"/>
              </a:solidFill>
            </a:endParaRP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A938649B-A40E-4A0B-BF42-E6A4E38D8EC7}"/>
              </a:ext>
            </a:extLst>
          </p:cNvPr>
          <p:cNvGrpSpPr/>
          <p:nvPr/>
        </p:nvGrpSpPr>
        <p:grpSpPr>
          <a:xfrm>
            <a:off x="545038" y="2124014"/>
            <a:ext cx="4081284" cy="3132499"/>
            <a:chOff x="4782059" y="1828800"/>
            <a:chExt cx="4081284" cy="3132499"/>
          </a:xfrm>
        </p:grpSpPr>
        <p:sp>
          <p:nvSpPr>
            <p:cNvPr id="2" name="Rectangle : coins arrondis 1">
              <a:extLst>
                <a:ext uri="{FF2B5EF4-FFF2-40B4-BE49-F238E27FC236}">
                  <a16:creationId xmlns:a16="http://schemas.microsoft.com/office/drawing/2014/main" id="{D04D9943-3B45-479F-A0C9-C929725F2042}"/>
                </a:ext>
              </a:extLst>
            </p:cNvPr>
            <p:cNvSpPr/>
            <p:nvPr/>
          </p:nvSpPr>
          <p:spPr>
            <a:xfrm>
              <a:off x="4789284" y="1828800"/>
              <a:ext cx="4074059" cy="3132499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D74AB89A-926A-4BCC-999A-5F142634DC45}"/>
                </a:ext>
              </a:extLst>
            </p:cNvPr>
            <p:cNvSpPr txBox="1"/>
            <p:nvPr/>
          </p:nvSpPr>
          <p:spPr>
            <a:xfrm>
              <a:off x="4782059" y="1866649"/>
              <a:ext cx="4081284" cy="30567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ysClr val="windowText" lastClr="000000"/>
                  </a:solidFill>
                </a:rPr>
                <a:t>Micro-organismes</a:t>
              </a:r>
            </a:p>
            <a:p>
              <a:pPr lvl="0" algn="just">
                <a:lnSpc>
                  <a:spcPct val="110000"/>
                </a:lnSpc>
              </a:pPr>
              <a:r>
                <a:rPr lang="fr-FR" dirty="0">
                  <a:solidFill>
                    <a:srgbClr val="4D4D4F"/>
                  </a:solidFill>
                </a:rPr>
                <a:t>- </a:t>
              </a:r>
              <a:r>
                <a:rPr lang="fr-FR" sz="1800" i="1" dirty="0">
                  <a:solidFill>
                    <a:srgbClr val="000000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Staphylococcus aureus</a:t>
              </a:r>
              <a:endParaRPr lang="fr-FR" i="1" dirty="0"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lvl="0" algn="just">
                <a:lnSpc>
                  <a:spcPct val="110000"/>
                </a:lnSpc>
              </a:pPr>
              <a:r>
                <a:rPr lang="fr-FR" sz="1800" dirty="0">
                  <a:solidFill>
                    <a:srgbClr val="000000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- </a:t>
              </a:r>
              <a:r>
                <a:rPr lang="fr-FR" sz="1800" dirty="0" err="1">
                  <a:solidFill>
                    <a:srgbClr val="000000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Entérobacterales</a:t>
              </a:r>
              <a:r>
                <a:rPr lang="fr-FR" sz="1800" dirty="0">
                  <a:solidFill>
                    <a:srgbClr val="000000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toutes espèces</a:t>
              </a:r>
            </a:p>
            <a:p>
              <a:pPr lvl="0" algn="just">
                <a:lnSpc>
                  <a:spcPct val="110000"/>
                </a:lnSpc>
              </a:pPr>
              <a:r>
                <a:rPr lang="fr-FR" sz="1800" i="1" dirty="0">
                  <a:solidFill>
                    <a:srgbClr val="000000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- Escherichia coli</a:t>
              </a:r>
            </a:p>
            <a:p>
              <a:pPr lvl="0" algn="just">
                <a:lnSpc>
                  <a:spcPct val="110000"/>
                </a:lnSpc>
              </a:pPr>
              <a:r>
                <a:rPr lang="fr-FR" i="1" dirty="0">
                  <a:solidFill>
                    <a:srgbClr val="000000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- </a:t>
              </a:r>
              <a:r>
                <a:rPr lang="fr-FR" sz="1800" i="1" dirty="0">
                  <a:solidFill>
                    <a:srgbClr val="000000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Klebsiella </a:t>
              </a:r>
              <a:r>
                <a:rPr lang="fr-FR" sz="1800" i="1" dirty="0" err="1">
                  <a:solidFill>
                    <a:srgbClr val="000000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pneumoniae</a:t>
              </a:r>
              <a:endParaRPr lang="fr-FR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R="897890" lvl="0" algn="just">
                <a:lnSpc>
                  <a:spcPct val="107000"/>
                </a:lnSpc>
              </a:pPr>
              <a:r>
                <a:rPr lang="fr-FR" sz="1800" i="1" dirty="0">
                  <a:solidFill>
                    <a:srgbClr val="000000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- Enterobacter </a:t>
              </a:r>
              <a:r>
                <a:rPr lang="fr-FR" sz="1800" i="1" dirty="0" err="1">
                  <a:solidFill>
                    <a:srgbClr val="000000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cloacae</a:t>
              </a:r>
              <a:r>
                <a:rPr lang="fr-FR" sz="1800" i="1" dirty="0">
                  <a:solidFill>
                    <a:srgbClr val="000000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fr-FR" sz="1800" dirty="0" err="1">
                  <a:solidFill>
                    <a:srgbClr val="000000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complex</a:t>
              </a:r>
              <a:r>
                <a:rPr lang="fr-FR" sz="1800" dirty="0">
                  <a:solidFill>
                    <a:srgbClr val="000000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</a:p>
            <a:p>
              <a:pPr marR="897890" lvl="0" algn="just">
                <a:lnSpc>
                  <a:spcPct val="107000"/>
                </a:lnSpc>
              </a:pPr>
              <a:r>
                <a:rPr lang="fr-FR" sz="1800" i="1" dirty="0">
                  <a:solidFill>
                    <a:srgbClr val="000000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- Enterococcus faecium</a:t>
              </a:r>
              <a:endParaRPr lang="fr-FR" dirty="0"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R="897890" lvl="0" algn="just">
                <a:lnSpc>
                  <a:spcPct val="107000"/>
                </a:lnSpc>
              </a:pPr>
              <a:r>
                <a:rPr lang="fr-FR" sz="1800" i="1" dirty="0">
                  <a:solidFill>
                    <a:srgbClr val="000000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- Enterococcus faecalis</a:t>
              </a:r>
              <a:endParaRPr lang="fr-FR" dirty="0"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R="897890" lvl="0" algn="just">
                <a:lnSpc>
                  <a:spcPct val="107000"/>
                </a:lnSpc>
              </a:pPr>
              <a:r>
                <a:rPr lang="fr-FR" sz="1800" i="1" dirty="0">
                  <a:solidFill>
                    <a:srgbClr val="000000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- Acinetobacter </a:t>
              </a:r>
              <a:r>
                <a:rPr lang="fr-FR" sz="1800" i="1" dirty="0" err="1">
                  <a:solidFill>
                    <a:srgbClr val="000000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baumannii</a:t>
              </a:r>
              <a:r>
                <a:rPr lang="fr-FR" sz="1800" i="1" dirty="0">
                  <a:solidFill>
                    <a:srgbClr val="000000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.</a:t>
              </a:r>
              <a:endParaRPr lang="fr-FR" dirty="0"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R="897890" lvl="0" algn="just">
                <a:lnSpc>
                  <a:spcPct val="107000"/>
                </a:lnSpc>
              </a:pPr>
              <a:r>
                <a:rPr lang="fr-FR" sz="1800" i="1" dirty="0">
                  <a:solidFill>
                    <a:srgbClr val="000000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- Pseudomonas </a:t>
              </a:r>
              <a:r>
                <a:rPr lang="fr-FR" sz="1800" i="1" dirty="0" err="1">
                  <a:solidFill>
                    <a:srgbClr val="000000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aeruginosa</a:t>
              </a:r>
              <a:endParaRPr lang="fr-FR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A7D2B34D-A11A-4AF5-97F4-18604EA2BBFD}"/>
              </a:ext>
            </a:extLst>
          </p:cNvPr>
          <p:cNvGrpSpPr/>
          <p:nvPr/>
        </p:nvGrpSpPr>
        <p:grpSpPr>
          <a:xfrm>
            <a:off x="4920877" y="2123386"/>
            <a:ext cx="7078625" cy="3132499"/>
            <a:chOff x="193140" y="1862750"/>
            <a:chExt cx="7078625" cy="31324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ZoneTexte 7">
                  <a:extLst>
                    <a:ext uri="{FF2B5EF4-FFF2-40B4-BE49-F238E27FC236}">
                      <a16:creationId xmlns:a16="http://schemas.microsoft.com/office/drawing/2014/main" id="{19432DED-1275-474F-91B3-84AEFDC42469}"/>
                    </a:ext>
                  </a:extLst>
                </p:cNvPr>
                <p:cNvSpPr txBox="1"/>
                <p:nvPr/>
              </p:nvSpPr>
              <p:spPr>
                <a:xfrm>
                  <a:off x="193140" y="2307780"/>
                  <a:ext cx="7078624" cy="26211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 algn="just">
                    <a:lnSpc>
                      <a:spcPct val="107000"/>
                    </a:lnSpc>
                  </a:pPr>
                  <a:endParaRPr lang="fr-FR" sz="700" dirty="0">
                    <a:solidFill>
                      <a:srgbClr val="4D4D4F"/>
                    </a:solidFill>
                  </a:endParaRPr>
                </a:p>
                <a:p>
                  <a:pPr lvl="0" algn="just">
                    <a:lnSpc>
                      <a:spcPct val="107000"/>
                    </a:lnSpc>
                  </a:pPr>
                  <a:r>
                    <a:rPr lang="fr-FR" dirty="0">
                      <a:solidFill>
                        <a:srgbClr val="4D4D4F"/>
                      </a:solidFill>
                    </a:rPr>
                    <a:t>Proportion de résistance : </a:t>
                  </a:r>
                </a:p>
                <a:p>
                  <a:pPr lvl="0" algn="just">
                    <a:lnSpc>
                      <a:spcPct val="107000"/>
                    </a:lnSpc>
                    <a:spcBef>
                      <a:spcPts val="1200"/>
                    </a:spcBef>
                    <a:spcAft>
                      <a:spcPts val="1200"/>
                    </a:spcAft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fr-FR" sz="1600" i="1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𝑑𝑒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𝑠𝑜𝑢𝑐h𝑒𝑠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𝑑𝑢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𝑚𝑖𝑐𝑟𝑜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𝑜𝑟𝑔𝑎𝑛𝑖𝑠𝑚𝑒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é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𝑠𝑖𝑠𝑡𝑎𝑛𝑡𝑒𝑠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 à 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𝑢𝑛𝑒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𝑐𝑙𝑎𝑠𝑠𝑒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𝐴𝑇𝐵</m:t>
                            </m:r>
                          </m:num>
                          <m:den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𝑑𝑒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𝑠𝑜𝑢𝑐h𝑒𝑠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𝑡𝑒𝑠𝑡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é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𝑒𝑠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𝑝𝑜𝑢𝑟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𝑐𝑒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𝑚𝑖𝑐𝑟𝑜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𝑜𝑟𝑔𝑎𝑛𝑖𝑠𝑚𝑒</m:t>
                            </m:r>
                          </m:den>
                        </m:f>
                      </m:oMath>
                    </m:oMathPara>
                  </a14:m>
                  <a:endParaRPr lang="fr-FR" dirty="0">
                    <a:solidFill>
                      <a:srgbClr val="4D4D4F"/>
                    </a:solidFill>
                  </a:endParaRPr>
                </a:p>
                <a:p>
                  <a:pPr lvl="0" algn="just">
                    <a:lnSpc>
                      <a:spcPct val="107000"/>
                    </a:lnSpc>
                  </a:pPr>
                  <a:endParaRPr lang="fr-FR" sz="1000" dirty="0">
                    <a:solidFill>
                      <a:srgbClr val="4D4D4F"/>
                    </a:solidFill>
                  </a:endParaRPr>
                </a:p>
                <a:p>
                  <a:pPr lvl="0" algn="just">
                    <a:lnSpc>
                      <a:spcPct val="107000"/>
                    </a:lnSpc>
                  </a:pPr>
                  <a:r>
                    <a:rPr lang="fr-FR" dirty="0">
                      <a:solidFill>
                        <a:srgbClr val="4D4D4F"/>
                      </a:solidFill>
                    </a:rPr>
                    <a:t>Densité d’incidence : </a:t>
                  </a:r>
                </a:p>
                <a:p>
                  <a:pPr lvl="0" algn="just">
                    <a:lnSpc>
                      <a:spcPct val="107000"/>
                    </a:lnSpc>
                    <a:spcBef>
                      <a:spcPts val="1200"/>
                    </a:spcBef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fr-FR" sz="1600" i="1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𝑑𝑒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𝑠𝑜𝑢𝑐h𝑒𝑠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𝑑𝑢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𝑚𝑖𝑐𝑟𝑜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𝑜𝑟𝑔𝑎𝑛𝑖𝑠𝑚𝑒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é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𝑠𝑖𝑠𝑡𝑎𝑛𝑡𝑒𝑠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 à 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𝑢𝑛𝑒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𝑐𝑙𝑎𝑠𝑠𝑒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𝐴𝑇𝐵</m:t>
                            </m:r>
                          </m:num>
                          <m:den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𝑡𝑜𝑡𝑎𝑙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𝑑𝑒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𝑗𝑜𝑢𝑟𝑛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é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𝑒𝑠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fr-FR" sz="1600" i="1">
                                    <a:solidFill>
                                      <a:srgbClr val="4D4D4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1600">
                                    <a:solidFill>
                                      <a:srgbClr val="4D4D4F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fr-FR" sz="1600">
                                    <a:solidFill>
                                      <a:srgbClr val="4D4D4F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h𝑜𝑠𝑝𝑖𝑡𝑎𝑙𝑖𝑠𝑎𝑡𝑖𝑜𝑛</m:t>
                            </m:r>
                            <m:r>
                              <a:rPr lang="fr-FR" sz="1600">
                                <a:solidFill>
                                  <a:srgbClr val="4D4D4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den>
                        </m:f>
                        <m:r>
                          <a:rPr lang="fr-FR" sz="1600">
                            <a:solidFill>
                              <a:srgbClr val="4D4D4F"/>
                            </a:solidFill>
                            <a:latin typeface="Cambria Math" panose="02040503050406030204" pitchFamily="18" charset="0"/>
                          </a:rPr>
                          <m:t>∗1000 </m:t>
                        </m:r>
                      </m:oMath>
                    </m:oMathPara>
                  </a14:m>
                  <a:endParaRPr lang="fr-FR" sz="1600" dirty="0">
                    <a:solidFill>
                      <a:srgbClr val="4D4D4F"/>
                    </a:solidFill>
                  </a:endParaRPr>
                </a:p>
                <a:p>
                  <a:endParaRPr lang="fr-FR" dirty="0"/>
                </a:p>
              </p:txBody>
            </p:sp>
          </mc:Choice>
          <mc:Fallback xmlns="">
            <p:sp>
              <p:nvSpPr>
                <p:cNvPr id="8" name="ZoneTexte 7">
                  <a:extLst>
                    <a:ext uri="{FF2B5EF4-FFF2-40B4-BE49-F238E27FC236}">
                      <a16:creationId xmlns:a16="http://schemas.microsoft.com/office/drawing/2014/main" id="{19432DED-1275-474F-91B3-84AEFDC424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140" y="2307780"/>
                  <a:ext cx="7078624" cy="2621102"/>
                </a:xfrm>
                <a:prstGeom prst="rect">
                  <a:avLst/>
                </a:prstGeom>
                <a:blipFill>
                  <a:blip r:embed="rId2"/>
                  <a:stretch>
                    <a:fillRect l="-68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BD79D72C-89BF-4250-8245-CDD7BA903ADD}"/>
                </a:ext>
              </a:extLst>
            </p:cNvPr>
            <p:cNvGrpSpPr/>
            <p:nvPr/>
          </p:nvGrpSpPr>
          <p:grpSpPr>
            <a:xfrm>
              <a:off x="205672" y="1862750"/>
              <a:ext cx="7066093" cy="3132499"/>
              <a:chOff x="4789284" y="1828800"/>
              <a:chExt cx="4074059" cy="3132499"/>
            </a:xfrm>
          </p:grpSpPr>
          <p:sp>
            <p:nvSpPr>
              <p:cNvPr id="11" name="Rectangle : coins arrondis 10">
                <a:extLst>
                  <a:ext uri="{FF2B5EF4-FFF2-40B4-BE49-F238E27FC236}">
                    <a16:creationId xmlns:a16="http://schemas.microsoft.com/office/drawing/2014/main" id="{BD5EF6D9-9770-4E70-895F-E9F9BAC8DC6F}"/>
                  </a:ext>
                </a:extLst>
              </p:cNvPr>
              <p:cNvSpPr/>
              <p:nvPr/>
            </p:nvSpPr>
            <p:spPr>
              <a:xfrm>
                <a:off x="4789284" y="1828800"/>
                <a:ext cx="4074059" cy="3132499"/>
              </a:xfrm>
              <a:prstGeom prst="roundRect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4EE2067F-EA8E-49F7-A70F-C13728B31F6C}"/>
                  </a:ext>
                </a:extLst>
              </p:cNvPr>
              <p:cNvSpPr txBox="1"/>
              <p:nvPr/>
            </p:nvSpPr>
            <p:spPr>
              <a:xfrm>
                <a:off x="5029133" y="1866649"/>
                <a:ext cx="38342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Indicateurs</a:t>
                </a:r>
                <a:endParaRPr lang="fr-FR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6" name="ZoneTexte 15">
            <a:extLst>
              <a:ext uri="{FF2B5EF4-FFF2-40B4-BE49-F238E27FC236}">
                <a16:creationId xmlns:a16="http://schemas.microsoft.com/office/drawing/2014/main" id="{226A36DB-0AAC-4F14-AAA3-68477A810547}"/>
              </a:ext>
            </a:extLst>
          </p:cNvPr>
          <p:cNvSpPr txBox="1"/>
          <p:nvPr/>
        </p:nvSpPr>
        <p:spPr>
          <a:xfrm>
            <a:off x="8700974" y="2161235"/>
            <a:ext cx="3241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/>
              <a:t>Pour tout prélèvement clinique</a:t>
            </a:r>
          </a:p>
          <a:p>
            <a:pPr algn="r"/>
            <a:r>
              <a:rPr lang="fr-FR" dirty="0"/>
              <a:t>Et hémocultures 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E828C93B-AC8E-4CC4-8B38-5BAFAA643412}"/>
              </a:ext>
            </a:extLst>
          </p:cNvPr>
          <p:cNvSpPr/>
          <p:nvPr/>
        </p:nvSpPr>
        <p:spPr>
          <a:xfrm>
            <a:off x="8758362" y="2123386"/>
            <a:ext cx="3241191" cy="690955"/>
          </a:xfrm>
          <a:custGeom>
            <a:avLst/>
            <a:gdLst>
              <a:gd name="connsiteX0" fmla="*/ 0 w 3241139"/>
              <a:gd name="connsiteY0" fmla="*/ 115161 h 690955"/>
              <a:gd name="connsiteX1" fmla="*/ 115161 w 3241139"/>
              <a:gd name="connsiteY1" fmla="*/ 0 h 690955"/>
              <a:gd name="connsiteX2" fmla="*/ 3125978 w 3241139"/>
              <a:gd name="connsiteY2" fmla="*/ 0 h 690955"/>
              <a:gd name="connsiteX3" fmla="*/ 3241139 w 3241139"/>
              <a:gd name="connsiteY3" fmla="*/ 115161 h 690955"/>
              <a:gd name="connsiteX4" fmla="*/ 3241139 w 3241139"/>
              <a:gd name="connsiteY4" fmla="*/ 575794 h 690955"/>
              <a:gd name="connsiteX5" fmla="*/ 3125978 w 3241139"/>
              <a:gd name="connsiteY5" fmla="*/ 690955 h 690955"/>
              <a:gd name="connsiteX6" fmla="*/ 115161 w 3241139"/>
              <a:gd name="connsiteY6" fmla="*/ 690955 h 690955"/>
              <a:gd name="connsiteX7" fmla="*/ 0 w 3241139"/>
              <a:gd name="connsiteY7" fmla="*/ 575794 h 690955"/>
              <a:gd name="connsiteX8" fmla="*/ 0 w 3241139"/>
              <a:gd name="connsiteY8" fmla="*/ 115161 h 690955"/>
              <a:gd name="connsiteX0" fmla="*/ 0 w 3241139"/>
              <a:gd name="connsiteY0" fmla="*/ 115161 h 690955"/>
              <a:gd name="connsiteX1" fmla="*/ 115161 w 3241139"/>
              <a:gd name="connsiteY1" fmla="*/ 0 h 690955"/>
              <a:gd name="connsiteX2" fmla="*/ 2801513 w 3241139"/>
              <a:gd name="connsiteY2" fmla="*/ 0 h 690955"/>
              <a:gd name="connsiteX3" fmla="*/ 3241139 w 3241139"/>
              <a:gd name="connsiteY3" fmla="*/ 115161 h 690955"/>
              <a:gd name="connsiteX4" fmla="*/ 3241139 w 3241139"/>
              <a:gd name="connsiteY4" fmla="*/ 575794 h 690955"/>
              <a:gd name="connsiteX5" fmla="*/ 3125978 w 3241139"/>
              <a:gd name="connsiteY5" fmla="*/ 690955 h 690955"/>
              <a:gd name="connsiteX6" fmla="*/ 115161 w 3241139"/>
              <a:gd name="connsiteY6" fmla="*/ 690955 h 690955"/>
              <a:gd name="connsiteX7" fmla="*/ 0 w 3241139"/>
              <a:gd name="connsiteY7" fmla="*/ 575794 h 690955"/>
              <a:gd name="connsiteX8" fmla="*/ 0 w 3241139"/>
              <a:gd name="connsiteY8" fmla="*/ 115161 h 690955"/>
              <a:gd name="connsiteX0" fmla="*/ 0 w 3241139"/>
              <a:gd name="connsiteY0" fmla="*/ 115161 h 690955"/>
              <a:gd name="connsiteX1" fmla="*/ 115161 w 3241139"/>
              <a:gd name="connsiteY1" fmla="*/ 0 h 690955"/>
              <a:gd name="connsiteX2" fmla="*/ 2801513 w 3241139"/>
              <a:gd name="connsiteY2" fmla="*/ 0 h 690955"/>
              <a:gd name="connsiteX3" fmla="*/ 3241139 w 3241139"/>
              <a:gd name="connsiteY3" fmla="*/ 115161 h 690955"/>
              <a:gd name="connsiteX4" fmla="*/ 3241139 w 3241139"/>
              <a:gd name="connsiteY4" fmla="*/ 575794 h 690955"/>
              <a:gd name="connsiteX5" fmla="*/ 3125978 w 3241139"/>
              <a:gd name="connsiteY5" fmla="*/ 690955 h 690955"/>
              <a:gd name="connsiteX6" fmla="*/ 115161 w 3241139"/>
              <a:gd name="connsiteY6" fmla="*/ 690955 h 690955"/>
              <a:gd name="connsiteX7" fmla="*/ 0 w 3241139"/>
              <a:gd name="connsiteY7" fmla="*/ 575794 h 690955"/>
              <a:gd name="connsiteX8" fmla="*/ 0 w 3241139"/>
              <a:gd name="connsiteY8" fmla="*/ 115161 h 690955"/>
              <a:gd name="connsiteX0" fmla="*/ 0 w 3248513"/>
              <a:gd name="connsiteY0" fmla="*/ 115161 h 690955"/>
              <a:gd name="connsiteX1" fmla="*/ 115161 w 3248513"/>
              <a:gd name="connsiteY1" fmla="*/ 0 h 690955"/>
              <a:gd name="connsiteX2" fmla="*/ 2801513 w 3248513"/>
              <a:gd name="connsiteY2" fmla="*/ 0 h 690955"/>
              <a:gd name="connsiteX3" fmla="*/ 3248513 w 3248513"/>
              <a:gd name="connsiteY3" fmla="*/ 451916 h 690955"/>
              <a:gd name="connsiteX4" fmla="*/ 3241139 w 3248513"/>
              <a:gd name="connsiteY4" fmla="*/ 575794 h 690955"/>
              <a:gd name="connsiteX5" fmla="*/ 3125978 w 3248513"/>
              <a:gd name="connsiteY5" fmla="*/ 690955 h 690955"/>
              <a:gd name="connsiteX6" fmla="*/ 115161 w 3248513"/>
              <a:gd name="connsiteY6" fmla="*/ 690955 h 690955"/>
              <a:gd name="connsiteX7" fmla="*/ 0 w 3248513"/>
              <a:gd name="connsiteY7" fmla="*/ 575794 h 690955"/>
              <a:gd name="connsiteX8" fmla="*/ 0 w 3248513"/>
              <a:gd name="connsiteY8" fmla="*/ 115161 h 690955"/>
              <a:gd name="connsiteX0" fmla="*/ 0 w 3248513"/>
              <a:gd name="connsiteY0" fmla="*/ 115161 h 690955"/>
              <a:gd name="connsiteX1" fmla="*/ 115161 w 3248513"/>
              <a:gd name="connsiteY1" fmla="*/ 0 h 690955"/>
              <a:gd name="connsiteX2" fmla="*/ 2801513 w 3248513"/>
              <a:gd name="connsiteY2" fmla="*/ 0 h 690955"/>
              <a:gd name="connsiteX3" fmla="*/ 3248513 w 3248513"/>
              <a:gd name="connsiteY3" fmla="*/ 451916 h 690955"/>
              <a:gd name="connsiteX4" fmla="*/ 3241139 w 3248513"/>
              <a:gd name="connsiteY4" fmla="*/ 575794 h 690955"/>
              <a:gd name="connsiteX5" fmla="*/ 3125978 w 3248513"/>
              <a:gd name="connsiteY5" fmla="*/ 690955 h 690955"/>
              <a:gd name="connsiteX6" fmla="*/ 115161 w 3248513"/>
              <a:gd name="connsiteY6" fmla="*/ 690955 h 690955"/>
              <a:gd name="connsiteX7" fmla="*/ 0 w 3248513"/>
              <a:gd name="connsiteY7" fmla="*/ 575794 h 690955"/>
              <a:gd name="connsiteX8" fmla="*/ 0 w 3248513"/>
              <a:gd name="connsiteY8" fmla="*/ 115161 h 690955"/>
              <a:gd name="connsiteX0" fmla="*/ 0 w 3248513"/>
              <a:gd name="connsiteY0" fmla="*/ 115161 h 690955"/>
              <a:gd name="connsiteX1" fmla="*/ 115161 w 3248513"/>
              <a:gd name="connsiteY1" fmla="*/ 0 h 690955"/>
              <a:gd name="connsiteX2" fmla="*/ 2801513 w 3248513"/>
              <a:gd name="connsiteY2" fmla="*/ 0 h 690955"/>
              <a:gd name="connsiteX3" fmla="*/ 3248513 w 3248513"/>
              <a:gd name="connsiteY3" fmla="*/ 451916 h 690955"/>
              <a:gd name="connsiteX4" fmla="*/ 3241139 w 3248513"/>
              <a:gd name="connsiteY4" fmla="*/ 575794 h 690955"/>
              <a:gd name="connsiteX5" fmla="*/ 3125978 w 3248513"/>
              <a:gd name="connsiteY5" fmla="*/ 690955 h 690955"/>
              <a:gd name="connsiteX6" fmla="*/ 115161 w 3248513"/>
              <a:gd name="connsiteY6" fmla="*/ 690955 h 690955"/>
              <a:gd name="connsiteX7" fmla="*/ 0 w 3248513"/>
              <a:gd name="connsiteY7" fmla="*/ 575794 h 690955"/>
              <a:gd name="connsiteX8" fmla="*/ 0 w 3248513"/>
              <a:gd name="connsiteY8" fmla="*/ 115161 h 690955"/>
              <a:gd name="connsiteX0" fmla="*/ 0 w 3241139"/>
              <a:gd name="connsiteY0" fmla="*/ 115161 h 690955"/>
              <a:gd name="connsiteX1" fmla="*/ 115161 w 3241139"/>
              <a:gd name="connsiteY1" fmla="*/ 0 h 690955"/>
              <a:gd name="connsiteX2" fmla="*/ 2801513 w 3241139"/>
              <a:gd name="connsiteY2" fmla="*/ 0 h 690955"/>
              <a:gd name="connsiteX3" fmla="*/ 3236223 w 3241139"/>
              <a:gd name="connsiteY3" fmla="*/ 449458 h 690955"/>
              <a:gd name="connsiteX4" fmla="*/ 3241139 w 3241139"/>
              <a:gd name="connsiteY4" fmla="*/ 575794 h 690955"/>
              <a:gd name="connsiteX5" fmla="*/ 3125978 w 3241139"/>
              <a:gd name="connsiteY5" fmla="*/ 690955 h 690955"/>
              <a:gd name="connsiteX6" fmla="*/ 115161 w 3241139"/>
              <a:gd name="connsiteY6" fmla="*/ 690955 h 690955"/>
              <a:gd name="connsiteX7" fmla="*/ 0 w 3241139"/>
              <a:gd name="connsiteY7" fmla="*/ 575794 h 690955"/>
              <a:gd name="connsiteX8" fmla="*/ 0 w 3241139"/>
              <a:gd name="connsiteY8" fmla="*/ 115161 h 690955"/>
              <a:gd name="connsiteX0" fmla="*/ 0 w 3243597"/>
              <a:gd name="connsiteY0" fmla="*/ 115161 h 690955"/>
              <a:gd name="connsiteX1" fmla="*/ 115161 w 3243597"/>
              <a:gd name="connsiteY1" fmla="*/ 0 h 690955"/>
              <a:gd name="connsiteX2" fmla="*/ 2801513 w 3243597"/>
              <a:gd name="connsiteY2" fmla="*/ 0 h 690955"/>
              <a:gd name="connsiteX3" fmla="*/ 3243597 w 3243597"/>
              <a:gd name="connsiteY3" fmla="*/ 447000 h 690955"/>
              <a:gd name="connsiteX4" fmla="*/ 3241139 w 3243597"/>
              <a:gd name="connsiteY4" fmla="*/ 575794 h 690955"/>
              <a:gd name="connsiteX5" fmla="*/ 3125978 w 3243597"/>
              <a:gd name="connsiteY5" fmla="*/ 690955 h 690955"/>
              <a:gd name="connsiteX6" fmla="*/ 115161 w 3243597"/>
              <a:gd name="connsiteY6" fmla="*/ 690955 h 690955"/>
              <a:gd name="connsiteX7" fmla="*/ 0 w 3243597"/>
              <a:gd name="connsiteY7" fmla="*/ 575794 h 690955"/>
              <a:gd name="connsiteX8" fmla="*/ 0 w 3243597"/>
              <a:gd name="connsiteY8" fmla="*/ 115161 h 690955"/>
              <a:gd name="connsiteX0" fmla="*/ 0 w 3241191"/>
              <a:gd name="connsiteY0" fmla="*/ 115161 h 690955"/>
              <a:gd name="connsiteX1" fmla="*/ 115161 w 3241191"/>
              <a:gd name="connsiteY1" fmla="*/ 0 h 690955"/>
              <a:gd name="connsiteX2" fmla="*/ 2801513 w 3241191"/>
              <a:gd name="connsiteY2" fmla="*/ 0 h 690955"/>
              <a:gd name="connsiteX3" fmla="*/ 3233765 w 3241191"/>
              <a:gd name="connsiteY3" fmla="*/ 439626 h 690955"/>
              <a:gd name="connsiteX4" fmla="*/ 3241139 w 3241191"/>
              <a:gd name="connsiteY4" fmla="*/ 575794 h 690955"/>
              <a:gd name="connsiteX5" fmla="*/ 3125978 w 3241191"/>
              <a:gd name="connsiteY5" fmla="*/ 690955 h 690955"/>
              <a:gd name="connsiteX6" fmla="*/ 115161 w 3241191"/>
              <a:gd name="connsiteY6" fmla="*/ 690955 h 690955"/>
              <a:gd name="connsiteX7" fmla="*/ 0 w 3241191"/>
              <a:gd name="connsiteY7" fmla="*/ 575794 h 690955"/>
              <a:gd name="connsiteX8" fmla="*/ 0 w 3241191"/>
              <a:gd name="connsiteY8" fmla="*/ 115161 h 690955"/>
              <a:gd name="connsiteX0" fmla="*/ 0 w 3241191"/>
              <a:gd name="connsiteY0" fmla="*/ 115161 h 690955"/>
              <a:gd name="connsiteX1" fmla="*/ 115161 w 3241191"/>
              <a:gd name="connsiteY1" fmla="*/ 0 h 690955"/>
              <a:gd name="connsiteX2" fmla="*/ 2801513 w 3241191"/>
              <a:gd name="connsiteY2" fmla="*/ 0 h 690955"/>
              <a:gd name="connsiteX3" fmla="*/ 3233765 w 3241191"/>
              <a:gd name="connsiteY3" fmla="*/ 439626 h 690955"/>
              <a:gd name="connsiteX4" fmla="*/ 3241139 w 3241191"/>
              <a:gd name="connsiteY4" fmla="*/ 575794 h 690955"/>
              <a:gd name="connsiteX5" fmla="*/ 3125978 w 3241191"/>
              <a:gd name="connsiteY5" fmla="*/ 690955 h 690955"/>
              <a:gd name="connsiteX6" fmla="*/ 115161 w 3241191"/>
              <a:gd name="connsiteY6" fmla="*/ 690955 h 690955"/>
              <a:gd name="connsiteX7" fmla="*/ 0 w 3241191"/>
              <a:gd name="connsiteY7" fmla="*/ 575794 h 690955"/>
              <a:gd name="connsiteX8" fmla="*/ 0 w 3241191"/>
              <a:gd name="connsiteY8" fmla="*/ 115161 h 690955"/>
              <a:gd name="connsiteX0" fmla="*/ 0 w 3241191"/>
              <a:gd name="connsiteY0" fmla="*/ 115161 h 690955"/>
              <a:gd name="connsiteX1" fmla="*/ 115161 w 3241191"/>
              <a:gd name="connsiteY1" fmla="*/ 0 h 690955"/>
              <a:gd name="connsiteX2" fmla="*/ 2801513 w 3241191"/>
              <a:gd name="connsiteY2" fmla="*/ 0 h 690955"/>
              <a:gd name="connsiteX3" fmla="*/ 3233765 w 3241191"/>
              <a:gd name="connsiteY3" fmla="*/ 439626 h 690955"/>
              <a:gd name="connsiteX4" fmla="*/ 3241139 w 3241191"/>
              <a:gd name="connsiteY4" fmla="*/ 575794 h 690955"/>
              <a:gd name="connsiteX5" fmla="*/ 3125978 w 3241191"/>
              <a:gd name="connsiteY5" fmla="*/ 690955 h 690955"/>
              <a:gd name="connsiteX6" fmla="*/ 115161 w 3241191"/>
              <a:gd name="connsiteY6" fmla="*/ 690955 h 690955"/>
              <a:gd name="connsiteX7" fmla="*/ 0 w 3241191"/>
              <a:gd name="connsiteY7" fmla="*/ 575794 h 690955"/>
              <a:gd name="connsiteX8" fmla="*/ 0 w 3241191"/>
              <a:gd name="connsiteY8" fmla="*/ 115161 h 690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41191" h="690955">
                <a:moveTo>
                  <a:pt x="0" y="115161"/>
                </a:moveTo>
                <a:cubicBezTo>
                  <a:pt x="0" y="51559"/>
                  <a:pt x="51559" y="0"/>
                  <a:pt x="115161" y="0"/>
                </a:cubicBezTo>
                <a:lnTo>
                  <a:pt x="2801513" y="0"/>
                </a:lnTo>
                <a:cubicBezTo>
                  <a:pt x="3024889" y="66368"/>
                  <a:pt x="3179686" y="172005"/>
                  <a:pt x="3233765" y="439626"/>
                </a:cubicBezTo>
                <a:cubicBezTo>
                  <a:pt x="3232946" y="482557"/>
                  <a:pt x="3241958" y="532863"/>
                  <a:pt x="3241139" y="575794"/>
                </a:cubicBezTo>
                <a:cubicBezTo>
                  <a:pt x="3241139" y="639396"/>
                  <a:pt x="3189580" y="690955"/>
                  <a:pt x="3125978" y="690955"/>
                </a:cubicBezTo>
                <a:lnTo>
                  <a:pt x="115161" y="690955"/>
                </a:lnTo>
                <a:cubicBezTo>
                  <a:pt x="51559" y="690955"/>
                  <a:pt x="0" y="639396"/>
                  <a:pt x="0" y="575794"/>
                </a:cubicBezTo>
                <a:lnTo>
                  <a:pt x="0" y="115161"/>
                </a:lnTo>
                <a:close/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C2F9B78-D287-4DA8-B32C-050D50365324}"/>
              </a:ext>
            </a:extLst>
          </p:cNvPr>
          <p:cNvSpPr txBox="1"/>
          <p:nvPr/>
        </p:nvSpPr>
        <p:spPr>
          <a:xfrm>
            <a:off x="661852" y="5834744"/>
            <a:ext cx="2492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Temporalité : mensuelle </a:t>
            </a:r>
          </a:p>
        </p:txBody>
      </p:sp>
    </p:spTree>
    <p:extLst>
      <p:ext uri="{BB962C8B-B14F-4D97-AF65-F5344CB8AC3E}">
        <p14:creationId xmlns:p14="http://schemas.microsoft.com/office/powerpoint/2010/main" val="9631407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>
                <a:solidFill>
                  <a:prstClr val="white"/>
                </a:solidFill>
                <a:latin typeface="Arial"/>
              </a:rPr>
              <a:t>SpF</a:t>
            </a:r>
            <a:r>
              <a:rPr lang="fr-FR" noProof="0" dirty="0">
                <a:solidFill>
                  <a:prstClr val="white"/>
                </a:solidFill>
                <a:latin typeface="Arial"/>
              </a:rPr>
              <a:t> – BESOINS A COURT TERME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9599" y="1610188"/>
            <a:ext cx="10492510" cy="386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000" dirty="0"/>
              <a:t>En complément, Indicateurs de la </a:t>
            </a:r>
            <a:r>
              <a:rPr lang="fr-FR" sz="2000" dirty="0">
                <a:solidFill>
                  <a:srgbClr val="FF0066"/>
                </a:solidFill>
              </a:rPr>
              <a:t>Stratégie Nationale </a:t>
            </a:r>
            <a:r>
              <a:rPr lang="fr-FR" sz="2000" dirty="0"/>
              <a:t>de prévention des infections et de l’antibiorésistance</a:t>
            </a:r>
          </a:p>
          <a:p>
            <a:pPr algn="just"/>
            <a:endParaRPr lang="fr-FR" sz="2000" dirty="0"/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DI </a:t>
            </a:r>
            <a:r>
              <a:rPr lang="fr-FR" sz="2000" i="1" dirty="0"/>
              <a:t>K. pneumoniae </a:t>
            </a:r>
            <a:r>
              <a:rPr lang="fr-FR" sz="2000" dirty="0"/>
              <a:t>résistants aux C3G (BLSE)/1 000 JH, tous prélèvements à visée diagnostique 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DI toutes Entérobacterales productrices de carbapénémases / 1 000 JH, tous prélèvements à visée diagnostique 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DI toutes Entérobacterales productrices de BLSE / 1 000 JH, tous prélèvements à visée diagnostique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% souches productrices de </a:t>
            </a:r>
            <a:r>
              <a:rPr lang="fr-FR" sz="2000" dirty="0" err="1"/>
              <a:t>carbapénémases</a:t>
            </a:r>
            <a:r>
              <a:rPr lang="fr-FR" sz="2000" dirty="0"/>
              <a:t> chez </a:t>
            </a:r>
            <a:r>
              <a:rPr lang="fr-FR" sz="2000" i="1" dirty="0"/>
              <a:t>K. </a:t>
            </a:r>
            <a:r>
              <a:rPr lang="fr-FR" sz="2000" i="1" dirty="0" err="1"/>
              <a:t>pneumoniae</a:t>
            </a:r>
            <a:r>
              <a:rPr lang="fr-FR" sz="2000" i="1" dirty="0"/>
              <a:t> </a:t>
            </a:r>
            <a:r>
              <a:rPr lang="fr-FR" sz="2000" dirty="0"/>
              <a:t>isolés d’hémocultures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/>
              <a:t>% souches résistantes à la vancomycine chez </a:t>
            </a:r>
            <a:r>
              <a:rPr lang="fr-FR" sz="2000" i="1" dirty="0"/>
              <a:t>E. faecium </a:t>
            </a:r>
            <a:r>
              <a:rPr lang="fr-FR" sz="2000" dirty="0"/>
              <a:t>isolés d’hémocultures </a:t>
            </a:r>
          </a:p>
        </p:txBody>
      </p:sp>
    </p:spTree>
    <p:extLst>
      <p:ext uri="{BB962C8B-B14F-4D97-AF65-F5344CB8AC3E}">
        <p14:creationId xmlns:p14="http://schemas.microsoft.com/office/powerpoint/2010/main" val="29758246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>
                <a:solidFill>
                  <a:prstClr val="white"/>
                </a:solidFill>
                <a:latin typeface="Arial"/>
              </a:rPr>
              <a:t>SpF</a:t>
            </a:r>
            <a:r>
              <a:rPr lang="fr-FR" noProof="0" dirty="0">
                <a:solidFill>
                  <a:prstClr val="white"/>
                </a:solidFill>
                <a:latin typeface="Arial"/>
              </a:rPr>
              <a:t> – BESOINS A MOYEN TERME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texte 2"/>
              <p:cNvSpPr>
                <a:spLocks noGrp="1"/>
              </p:cNvSpPr>
              <p:nvPr>
                <p:ph type="body" sz="quarter" idx="4294967295"/>
              </p:nvPr>
            </p:nvSpPr>
            <p:spPr>
              <a:xfrm>
                <a:off x="789336" y="1384663"/>
                <a:ext cx="10762304" cy="5199018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/>
              <a:p>
                <a:pPr marL="0" indent="0" algn="just">
                  <a:spcAft>
                    <a:spcPts val="600"/>
                  </a:spcAft>
                  <a:buNone/>
                </a:pPr>
                <a:r>
                  <a:rPr lang="fr-FR" sz="2000" b="1" cap="none" dirty="0">
                    <a:solidFill>
                      <a:srgbClr val="FF0066"/>
                    </a:solidFill>
                  </a:rPr>
                  <a:t>Nouvel indicateur de densité d’incidence : </a:t>
                </a:r>
                <a:r>
                  <a:rPr lang="fr-FR" sz="1800" b="1" i="1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Densité d’incidence en nb de souches / 1 000 admissions</a:t>
                </a:r>
                <a:endParaRPr lang="fr-FR" sz="17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0" algn="just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7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fr-FR" sz="17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𝑛𝑜𝑚𝑏𝑟𝑒</m:t>
                          </m:r>
                          <m:r>
                            <a:rPr lang="fr-FR" sz="17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fr-FR" sz="17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𝑑𝑒</m:t>
                          </m:r>
                          <m:r>
                            <a:rPr lang="fr-FR" sz="17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fr-FR" sz="17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𝑠𝑜𝑢𝑐h𝑒𝑠</m:t>
                          </m:r>
                          <m:r>
                            <a:rPr lang="fr-FR" sz="17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fr-FR" sz="17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𝑑𝑢</m:t>
                          </m:r>
                          <m:r>
                            <a:rPr lang="fr-FR" sz="17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fr-FR" sz="17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𝑚𝑖𝑐𝑟𝑜</m:t>
                          </m:r>
                          <m:r>
                            <a:rPr lang="fr-FR" sz="17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fr-FR" sz="17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𝑜𝑟𝑔𝑎𝑛𝑖𝑠𝑚𝑒</m:t>
                          </m:r>
                          <m:r>
                            <a:rPr lang="fr-FR" sz="17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fr-FR" sz="17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𝑟</m:t>
                          </m:r>
                          <m:r>
                            <a:rPr lang="fr-FR" sz="17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é</m:t>
                          </m:r>
                          <m:r>
                            <a:rPr lang="fr-FR" sz="17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𝑠𝑖𝑠𝑡𝑎𝑛𝑡𝑒𝑠</m:t>
                          </m:r>
                          <m:r>
                            <a:rPr lang="fr-FR" sz="17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à </m:t>
                          </m:r>
                          <m:r>
                            <a:rPr lang="fr-FR" sz="17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𝑢𝑛𝑒</m:t>
                          </m:r>
                          <m:r>
                            <a:rPr lang="fr-FR" sz="17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fr-FR" sz="17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𝑐𝑙𝑎𝑠𝑠𝑒</m:t>
                          </m:r>
                          <m:r>
                            <a:rPr lang="fr-FR" sz="17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fr-FR" sz="17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fr-FR" sz="17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′</m:t>
                          </m:r>
                          <m:r>
                            <a:rPr lang="fr-FR" sz="17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𝐴𝑇𝐵</m:t>
                          </m:r>
                        </m:num>
                        <m:den>
                          <m:r>
                            <a:rPr lang="fr-FR" sz="17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𝑛𝑜𝑚𝑏𝑟𝑒</m:t>
                          </m:r>
                          <m:r>
                            <a:rPr lang="fr-FR" sz="17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fr-FR" sz="17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𝑡𝑜𝑡𝑎𝑙</m:t>
                          </m:r>
                          <m:r>
                            <a:rPr lang="fr-FR" sz="17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fr-FR" sz="17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fr-FR" sz="17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′</m:t>
                          </m:r>
                          <m:r>
                            <a:rPr lang="fr-FR" sz="17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𝑎𝑑𝑚𝑖𝑠𝑠𝑖𝑜𝑛𝑠</m:t>
                          </m:r>
                        </m:den>
                      </m:f>
                      <m:r>
                        <a:rPr lang="fr-FR" sz="17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∗1000</m:t>
                      </m:r>
                    </m:oMath>
                  </m:oMathPara>
                </a14:m>
                <a:endParaRPr lang="fr-FR" sz="17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fr-FR" sz="1600" b="1" cap="none" dirty="0">
                  <a:solidFill>
                    <a:srgbClr val="FF0066"/>
                  </a:solidFill>
                </a:endParaRPr>
              </a:p>
              <a:p>
                <a:pPr marL="0" indent="0" algn="just">
                  <a:buNone/>
                </a:pPr>
                <a:r>
                  <a:rPr lang="fr-FR" sz="2000" b="1" cap="none" dirty="0">
                    <a:solidFill>
                      <a:srgbClr val="FF0066"/>
                    </a:solidFill>
                  </a:rPr>
                  <a:t>Stratification des indicateurs </a:t>
                </a:r>
                <a:r>
                  <a:rPr lang="fr-FR" sz="2000" b="1" dirty="0">
                    <a:solidFill>
                      <a:srgbClr val="FF0066"/>
                    </a:solidFill>
                  </a:rPr>
                  <a:t>à </a:t>
                </a:r>
                <a:r>
                  <a:rPr lang="fr-FR" sz="2000" b="1" cap="none" dirty="0">
                    <a:solidFill>
                      <a:srgbClr val="FF0066"/>
                    </a:solidFill>
                  </a:rPr>
                  <a:t>court et moyen terme par </a:t>
                </a:r>
                <a:r>
                  <a:rPr lang="fr-FR" sz="2000" b="0" cap="none" dirty="0">
                    <a:solidFill>
                      <a:srgbClr val="FF0066"/>
                    </a:solidFill>
                  </a:rPr>
                  <a:t>: </a:t>
                </a:r>
              </a:p>
              <a:p>
                <a:pPr marL="900000" algn="just">
                  <a:spcBef>
                    <a:spcPts val="0"/>
                  </a:spcBef>
                </a:pPr>
                <a:endParaRPr lang="fr-FR" sz="2000" b="0" cap="none" dirty="0">
                  <a:solidFill>
                    <a:schemeClr val="tx1"/>
                  </a:solidFill>
                </a:endParaRPr>
              </a:p>
              <a:p>
                <a:pPr marL="900000" algn="just">
                  <a:lnSpc>
                    <a:spcPct val="100000"/>
                  </a:lnSpc>
                  <a:spcBef>
                    <a:spcPts val="0"/>
                  </a:spcBef>
                  <a:buClr>
                    <a:srgbClr val="FF0066"/>
                  </a:buClr>
                  <a:buFont typeface="Wingdings" panose="05000000000000000000" pitchFamily="2" charset="2"/>
                  <a:buChar char="v"/>
                </a:pPr>
                <a:r>
                  <a:rPr lang="fr-FR" sz="2000" dirty="0"/>
                  <a:t>	      â</a:t>
                </a:r>
                <a:r>
                  <a:rPr lang="fr-FR" sz="2000" b="0" cap="none" dirty="0">
                    <a:solidFill>
                      <a:schemeClr val="tx1"/>
                    </a:solidFill>
                  </a:rPr>
                  <a:t>ge, </a:t>
                </a:r>
              </a:p>
              <a:p>
                <a:pPr marL="900000" algn="just">
                  <a:lnSpc>
                    <a:spcPct val="100000"/>
                  </a:lnSpc>
                  <a:spcBef>
                    <a:spcPts val="0"/>
                  </a:spcBef>
                </a:pPr>
                <a:endParaRPr lang="fr-FR" sz="400" b="0" cap="none" dirty="0">
                  <a:solidFill>
                    <a:schemeClr val="tx1"/>
                  </a:solidFill>
                </a:endParaRPr>
              </a:p>
              <a:p>
                <a:pPr marL="900000" algn="just">
                  <a:lnSpc>
                    <a:spcPct val="100000"/>
                  </a:lnSpc>
                  <a:spcBef>
                    <a:spcPts val="0"/>
                  </a:spcBef>
                  <a:buClr>
                    <a:srgbClr val="FF0066"/>
                  </a:buClr>
                  <a:buFont typeface="Wingdings" panose="05000000000000000000" pitchFamily="2" charset="2"/>
                  <a:buChar char="v"/>
                </a:pPr>
                <a:r>
                  <a:rPr lang="fr-FR" sz="2000" b="0" cap="none" dirty="0">
                    <a:solidFill>
                      <a:schemeClr val="tx1"/>
                    </a:solidFill>
                  </a:rPr>
                  <a:t>	      sexe, </a:t>
                </a:r>
              </a:p>
              <a:p>
                <a:pPr marL="900000" algn="just">
                  <a:lnSpc>
                    <a:spcPct val="100000"/>
                  </a:lnSpc>
                  <a:spcBef>
                    <a:spcPts val="0"/>
                  </a:spcBef>
                  <a:buClr>
                    <a:srgbClr val="FF0066"/>
                  </a:buClr>
                  <a:buFont typeface="Wingdings" panose="05000000000000000000" pitchFamily="2" charset="2"/>
                  <a:buChar char="v"/>
                </a:pPr>
                <a:endParaRPr lang="fr-FR" sz="400" b="0" cap="none" dirty="0">
                  <a:solidFill>
                    <a:schemeClr val="tx1"/>
                  </a:solidFill>
                </a:endParaRPr>
              </a:p>
              <a:p>
                <a:pPr marL="900000" algn="just">
                  <a:lnSpc>
                    <a:spcPct val="100000"/>
                  </a:lnSpc>
                  <a:spcBef>
                    <a:spcPts val="0"/>
                  </a:spcBef>
                  <a:buClr>
                    <a:srgbClr val="FF0066"/>
                  </a:buClr>
                  <a:buFont typeface="Wingdings" panose="05000000000000000000" pitchFamily="2" charset="2"/>
                  <a:buChar char="v"/>
                </a:pPr>
                <a:r>
                  <a:rPr lang="fr-FR" sz="2000" b="0" cap="none" dirty="0">
                    <a:solidFill>
                      <a:schemeClr val="tx1"/>
                    </a:solidFill>
                  </a:rPr>
                  <a:t>	      type d’infection,</a:t>
                </a:r>
              </a:p>
              <a:p>
                <a:pPr marL="900000" algn="just">
                  <a:lnSpc>
                    <a:spcPct val="100000"/>
                  </a:lnSpc>
                  <a:spcBef>
                    <a:spcPts val="0"/>
                  </a:spcBef>
                  <a:buClr>
                    <a:srgbClr val="FF0066"/>
                  </a:buClr>
                  <a:buFont typeface="Wingdings" panose="05000000000000000000" pitchFamily="2" charset="2"/>
                  <a:buChar char="v"/>
                </a:pPr>
                <a:endParaRPr lang="fr-FR" sz="400" b="0" cap="none" dirty="0">
                  <a:solidFill>
                    <a:schemeClr val="tx1"/>
                  </a:solidFill>
                </a:endParaRPr>
              </a:p>
              <a:p>
                <a:pPr marL="900000" algn="just">
                  <a:lnSpc>
                    <a:spcPct val="100000"/>
                  </a:lnSpc>
                  <a:spcBef>
                    <a:spcPts val="0"/>
                  </a:spcBef>
                  <a:buClr>
                    <a:srgbClr val="FF0066"/>
                  </a:buClr>
                  <a:buFont typeface="Wingdings" panose="05000000000000000000" pitchFamily="2" charset="2"/>
                  <a:buChar char="v"/>
                </a:pPr>
                <a:r>
                  <a:rPr lang="fr-FR" sz="2000" b="0" cap="none" dirty="0">
                    <a:solidFill>
                      <a:schemeClr val="tx1"/>
                    </a:solidFill>
                  </a:rPr>
                  <a:t>	      site de prélèvement, </a:t>
                </a:r>
              </a:p>
              <a:p>
                <a:pPr marL="900000" algn="just">
                  <a:lnSpc>
                    <a:spcPct val="100000"/>
                  </a:lnSpc>
                  <a:spcBef>
                    <a:spcPts val="0"/>
                  </a:spcBef>
                  <a:buClr>
                    <a:srgbClr val="FF0066"/>
                  </a:buClr>
                  <a:buFont typeface="Wingdings" panose="05000000000000000000" pitchFamily="2" charset="2"/>
                  <a:buChar char="v"/>
                </a:pPr>
                <a:endParaRPr lang="fr-FR" sz="400" b="0" cap="none" dirty="0">
                  <a:solidFill>
                    <a:schemeClr val="tx1"/>
                  </a:solidFill>
                </a:endParaRPr>
              </a:p>
              <a:p>
                <a:pPr marL="900000" algn="just">
                  <a:lnSpc>
                    <a:spcPct val="100000"/>
                  </a:lnSpc>
                  <a:spcBef>
                    <a:spcPts val="0"/>
                  </a:spcBef>
                  <a:buClr>
                    <a:srgbClr val="FF0066"/>
                  </a:buClr>
                  <a:buFont typeface="Wingdings" panose="05000000000000000000" pitchFamily="2" charset="2"/>
                  <a:buChar char="v"/>
                </a:pPr>
                <a:r>
                  <a:rPr lang="fr-FR" sz="2000" b="0" cap="none" dirty="0">
                    <a:solidFill>
                      <a:schemeClr val="tx1"/>
                    </a:solidFill>
                  </a:rPr>
                  <a:t>	      secteur d’activité, </a:t>
                </a:r>
              </a:p>
              <a:p>
                <a:pPr marL="900000" algn="just">
                  <a:lnSpc>
                    <a:spcPct val="100000"/>
                  </a:lnSpc>
                  <a:spcBef>
                    <a:spcPts val="0"/>
                  </a:spcBef>
                  <a:buClr>
                    <a:srgbClr val="FF0066"/>
                  </a:buClr>
                  <a:buFont typeface="Wingdings" panose="05000000000000000000" pitchFamily="2" charset="2"/>
                  <a:buChar char="v"/>
                </a:pPr>
                <a:endParaRPr lang="fr-FR" sz="400" b="0" cap="none" dirty="0">
                  <a:solidFill>
                    <a:schemeClr val="tx1"/>
                  </a:solidFill>
                </a:endParaRPr>
              </a:p>
              <a:p>
                <a:pPr marL="900000" algn="just">
                  <a:lnSpc>
                    <a:spcPct val="100000"/>
                  </a:lnSpc>
                  <a:spcBef>
                    <a:spcPts val="0"/>
                  </a:spcBef>
                  <a:buClr>
                    <a:srgbClr val="FF0066"/>
                  </a:buClr>
                  <a:buFont typeface="Wingdings" panose="05000000000000000000" pitchFamily="2" charset="2"/>
                  <a:buChar char="v"/>
                </a:pPr>
                <a:r>
                  <a:rPr lang="fr-FR" sz="2000" b="0" cap="none" dirty="0">
                    <a:solidFill>
                      <a:schemeClr val="tx1"/>
                    </a:solidFill>
                  </a:rPr>
                  <a:t>	      établissement, département de l’établissement, </a:t>
                </a:r>
              </a:p>
              <a:p>
                <a:pPr marL="900000" algn="just">
                  <a:lnSpc>
                    <a:spcPct val="100000"/>
                  </a:lnSpc>
                  <a:spcBef>
                    <a:spcPts val="0"/>
                  </a:spcBef>
                  <a:buClr>
                    <a:srgbClr val="FF0066"/>
                  </a:buClr>
                  <a:buFont typeface="Wingdings" panose="05000000000000000000" pitchFamily="2" charset="2"/>
                  <a:buChar char="v"/>
                </a:pPr>
                <a:endParaRPr lang="fr-FR" sz="400" b="0" cap="none" dirty="0">
                  <a:solidFill>
                    <a:schemeClr val="tx1"/>
                  </a:solidFill>
                </a:endParaRPr>
              </a:p>
              <a:p>
                <a:pPr marL="900000" algn="just">
                  <a:lnSpc>
                    <a:spcPct val="100000"/>
                  </a:lnSpc>
                  <a:spcBef>
                    <a:spcPts val="0"/>
                  </a:spcBef>
                  <a:buClr>
                    <a:srgbClr val="FF0066"/>
                  </a:buClr>
                  <a:buFont typeface="Wingdings" panose="05000000000000000000" pitchFamily="2" charset="2"/>
                  <a:buChar char="v"/>
                </a:pPr>
                <a:r>
                  <a:rPr lang="fr-FR" sz="2000" b="0" cap="none" dirty="0">
                    <a:solidFill>
                      <a:schemeClr val="tx1"/>
                    </a:solidFill>
                  </a:rPr>
                  <a:t>	      date de prélèvement (mois ou trimestre) </a:t>
                </a:r>
              </a:p>
              <a:p>
                <a:pPr marL="671400" indent="0" algn="just">
                  <a:lnSpc>
                    <a:spcPct val="100000"/>
                  </a:lnSpc>
                  <a:spcBef>
                    <a:spcPts val="0"/>
                  </a:spcBef>
                  <a:buClr>
                    <a:srgbClr val="FF0066"/>
                  </a:buClr>
                  <a:buNone/>
                </a:pPr>
                <a:endParaRPr lang="fr-FR" sz="2000" b="0" cap="none" dirty="0">
                  <a:solidFill>
                    <a:schemeClr val="tx1"/>
                  </a:solidFill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fr-FR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66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% de résistance et densité d’incidence pour les nouvelles molécules d’antibiotiques</a:t>
                </a:r>
                <a:r>
                  <a:rPr kumimoji="0" lang="fr-FR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66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(</a:t>
                </a:r>
                <a:r>
                  <a:rPr kumimoji="0" lang="fr-FR" sz="2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0066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evolutif</a:t>
                </a:r>
                <a:r>
                  <a:rPr kumimoji="0" lang="fr-FR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66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selon les </a:t>
                </a:r>
                <a:r>
                  <a:rPr kumimoji="0" lang="fr-FR" sz="2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0066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beosins</a:t>
                </a:r>
                <a:r>
                  <a:rPr kumimoji="0" lang="fr-FR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66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du moment, liste mise à jour lorsque nécessaire)</a:t>
                </a:r>
              </a:p>
            </p:txBody>
          </p:sp>
        </mc:Choice>
        <mc:Fallback xmlns="">
          <p:sp>
            <p:nvSpPr>
              <p:cNvPr id="3" name="Espace réservé du text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4294967295"/>
              </p:nvPr>
            </p:nvSpPr>
            <p:spPr>
              <a:xfrm>
                <a:off x="789336" y="1384663"/>
                <a:ext cx="10762304" cy="5199018"/>
              </a:xfrm>
              <a:prstGeom prst="rect">
                <a:avLst/>
              </a:prstGeom>
              <a:blipFill>
                <a:blip r:embed="rId2"/>
                <a:stretch>
                  <a:fillRect l="-510" t="-1524" r="-51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36023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>
                <a:solidFill>
                  <a:prstClr val="white"/>
                </a:solidFill>
                <a:latin typeface="Arial"/>
              </a:rPr>
              <a:t>SpF</a:t>
            </a:r>
            <a:r>
              <a:rPr lang="fr-FR" noProof="0" dirty="0">
                <a:solidFill>
                  <a:prstClr val="white"/>
                </a:solidFill>
                <a:latin typeface="Arial"/>
              </a:rPr>
              <a:t> – BESOINS A LONG TERME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ce réservé du texte 2"/>
              <p:cNvSpPr txBox="1">
                <a:spLocks/>
              </p:cNvSpPr>
              <p:nvPr/>
            </p:nvSpPr>
            <p:spPr>
              <a:xfrm>
                <a:off x="245576" y="1459344"/>
                <a:ext cx="11500307" cy="5099397"/>
              </a:xfrm>
              <a:prstGeom prst="rect">
                <a:avLst/>
              </a:prstGeom>
            </p:spPr>
            <p:txBody>
              <a:bodyPr vert="horz" lIns="36000" tIns="0" rIns="3600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10000"/>
                  </a:lnSpc>
                  <a:spcBef>
                    <a:spcPts val="1200"/>
                  </a:spcBef>
                  <a:buFontTx/>
                  <a:buNone/>
                  <a:defRPr sz="1800" b="1" kern="1200" cap="all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buFontTx/>
                  <a:buNone/>
                  <a:defRPr sz="1600" kern="1200">
                    <a:solidFill>
                      <a:srgbClr val="373739"/>
                    </a:solidFill>
                    <a:latin typeface="+mn-lt"/>
                    <a:ea typeface="+mn-ea"/>
                    <a:cs typeface="+mn-cs"/>
                  </a:defRPr>
                </a:lvl2pPr>
                <a:lvl3pPr marL="144000" indent="-144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buClr>
                    <a:schemeClr val="tx2"/>
                  </a:buClr>
                  <a:buFont typeface="Symbol" panose="05050102010706020507" pitchFamily="18" charset="2"/>
                  <a:buChar char="·"/>
                  <a:defRPr sz="1600" b="1" kern="1200">
                    <a:solidFill>
                      <a:srgbClr val="373739"/>
                    </a:solidFill>
                    <a:latin typeface="+mn-lt"/>
                    <a:ea typeface="+mn-ea"/>
                    <a:cs typeface="+mn-cs"/>
                  </a:defRPr>
                </a:lvl3pPr>
                <a:lvl4pPr marL="144000" indent="-144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buFont typeface="Symbol" panose="05050102010706020507" pitchFamily="18" charset="2"/>
                  <a:buChar char="·"/>
                  <a:tabLst/>
                  <a:defRPr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88000" indent="-144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buFont typeface="Arial" panose="020B0604020202020204" pitchFamily="34" charset="0"/>
                  <a:buChar char="-"/>
                  <a:defRPr sz="1400" kern="1200">
                    <a:solidFill>
                      <a:srgbClr val="373739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30056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PCC: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Surveillance des bonnes pratiques de prescription des précautions complémentaires contacts (PCC) après isolement d’une BMR (</a:t>
                </a:r>
                <a:r>
                  <a:rPr kumimoji="0" lang="fr-FR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E. coli </a:t>
                </a:r>
                <a:r>
                  <a: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et </a:t>
                </a:r>
                <a:r>
                  <a:rPr kumimoji="0" lang="fr-FR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Klebsielles</a:t>
                </a:r>
                <a:r>
                  <a: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et </a:t>
                </a:r>
                <a:r>
                  <a:rPr kumimoji="0" lang="fr-FR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A. </a:t>
                </a:r>
                <a:r>
                  <a:rPr kumimoji="0" lang="fr-FR" sz="1800" b="0" i="1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Baumannii</a:t>
                </a:r>
                <a:r>
                  <a:rPr kumimoji="0" lang="fr-FR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:r>
                  <a: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résistantes aux carbapénèmes). L’indicateur demandé est le pourcentage de PCC prescrits après isolement de BMR 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fr-F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𝑛𝑜𝑚𝑏𝑟𝑒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𝑑𝑒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é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𝑗𝑜𝑢𝑟𝑠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𝑜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ù 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𝑙𝑒𝑠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𝑃𝐶𝐶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𝑜𝑛𝑡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é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é 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𝑝𝑟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é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𝑠𝑐𝑟𝑖𝑡𝑒𝑠</m:t>
                          </m:r>
                        </m:num>
                        <m:den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𝑛𝑜𝑚𝑏𝑟𝑒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𝑑𝑒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é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𝑗𝑜𝑢𝑟𝑠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𝑜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ù 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𝑢𝑛𝑒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𝑖𝑛𝑓𝑒𝑐𝑡𝑖𝑜𝑛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à 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𝐵𝑀𝑅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é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é 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𝑖𝑑𝑒𝑛𝑡𝑖𝑓𝑖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é</m:t>
                          </m:r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4D4D4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𝑒</m:t>
                          </m:r>
                        </m:den>
                      </m:f>
                    </m:oMath>
                  </m:oMathPara>
                </a14:m>
                <a:endParaRPr kumimoji="0" 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D4D4F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 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30056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Echec thérapeutique : </a:t>
                </a:r>
                <a:r>
                  <a: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nombre de cas où le patient revient pour une infection déjà prise en charge / 1000 JH.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500" b="0" i="0" u="none" strike="noStrike" kern="1200" cap="none" spc="0" normalizeH="0" baseline="0" noProof="0" dirty="0">
                  <a:ln>
                    <a:noFill/>
                  </a:ln>
                  <a:solidFill>
                    <a:srgbClr val="4D4D4F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30056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Stratifications sur données individuelles plus précises : </a:t>
                </a:r>
                <a:r>
                  <a: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/>
                </a:r>
                <a:br>
                  <a: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</a:br>
                <a:r>
                  <a: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- </a:t>
                </a:r>
                <a:r>
                  <a:rPr lang="fr-FR" b="0" cap="none" dirty="0">
                    <a:solidFill>
                      <a:srgbClr val="4D4D4F"/>
                    </a:solidFill>
                  </a:rPr>
                  <a:t>caractéristiques des patients (comorbidités, etc.), </a:t>
                </a:r>
                <a:br>
                  <a:rPr lang="fr-FR" b="0" cap="none" dirty="0">
                    <a:solidFill>
                      <a:srgbClr val="4D4D4F"/>
                    </a:solidFill>
                  </a:rPr>
                </a:br>
                <a:r>
                  <a:rPr lang="fr-FR" b="0" cap="none" dirty="0">
                    <a:solidFill>
                      <a:srgbClr val="4D4D4F"/>
                    </a:solidFill>
                  </a:rPr>
                  <a:t>- caractéristiques de l’infection (infection nosocomiale ou non, infection sur site opératoire, présence de cathéter, gravité),</a:t>
                </a:r>
                <a:br>
                  <a:rPr lang="fr-FR" b="0" cap="none" dirty="0">
                    <a:solidFill>
                      <a:srgbClr val="4D4D4F"/>
                    </a:solidFill>
                  </a:rPr>
                </a:br>
                <a:r>
                  <a:rPr lang="fr-FR" b="0" cap="none" dirty="0">
                    <a:solidFill>
                      <a:srgbClr val="4D4D4F"/>
                    </a:solidFill>
                  </a:rPr>
                  <a:t>- traitement (traitement antibiotique associé [oui / non, et classe]), réévaluation du traitement à J3 et J7) </a:t>
                </a:r>
                <a:br>
                  <a:rPr lang="fr-FR" b="0" cap="none" dirty="0">
                    <a:solidFill>
                      <a:srgbClr val="4D4D4F"/>
                    </a:solidFill>
                  </a:rPr>
                </a:br>
                <a:r>
                  <a:rPr lang="fr-FR" b="0" cap="none" dirty="0">
                    <a:solidFill>
                      <a:srgbClr val="4D4D4F"/>
                    </a:solidFill>
                  </a:rPr>
                  <a:t>- caractéristiques du séjour (durée &lt; ou &gt; à 7 jours, …)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fr-FR" sz="500" b="0" cap="none" dirty="0">
                  <a:solidFill>
                    <a:srgbClr val="4D4D4F"/>
                  </a:solidFill>
                </a:endParaRPr>
              </a:p>
              <a:p>
                <a:pPr algn="just">
                  <a:defRPr/>
                </a:pPr>
                <a:r>
                  <a:rPr kumimoji="0" lang="fr-FR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30056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Corrélation entre résistance et consommation : </a:t>
                </a:r>
                <a:r>
                  <a: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Consommation d’antibiotiques dans les 3, 6 mois ou l’année avant l’infection (utilisation du SNDS par exemple)  </a:t>
                </a:r>
              </a:p>
              <a:p>
                <a:pPr marL="285750" marR="0" lvl="0" indent="-285750" algn="just" defTabSz="914400" rtl="0" eaLnBrk="1" fontAlgn="auto" latinLnBrk="0" hangingPunct="1">
                  <a:lnSpc>
                    <a:spcPct val="11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D4D4F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Espace réservé du text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76" y="1459344"/>
                <a:ext cx="11500307" cy="5099397"/>
              </a:xfrm>
              <a:prstGeom prst="rect">
                <a:avLst/>
              </a:prstGeom>
              <a:blipFill>
                <a:blip r:embed="rId2"/>
                <a:stretch>
                  <a:fillRect l="-901" t="-1314" r="-1272" b="-155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83875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>
                <a:solidFill>
                  <a:prstClr val="white"/>
                </a:solidFill>
                <a:latin typeface="Arial"/>
              </a:rPr>
              <a:t>IDENTIFICATION DES BESOINS PAR </a:t>
            </a:r>
            <a:r>
              <a:rPr lang="fr-FR" noProof="0" dirty="0" err="1">
                <a:solidFill>
                  <a:prstClr val="white"/>
                </a:solidFill>
                <a:latin typeface="Arial"/>
              </a:rPr>
              <a:t>SpF</a:t>
            </a:r>
            <a:r>
              <a:rPr lang="fr-FR" noProof="0" dirty="0">
                <a:solidFill>
                  <a:prstClr val="white"/>
                </a:solidFill>
                <a:latin typeface="Arial"/>
              </a:rPr>
              <a:t> – BESOINS A LONG TERME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Espace réservé du texte 2"/>
          <p:cNvSpPr txBox="1">
            <a:spLocks/>
          </p:cNvSpPr>
          <p:nvPr/>
        </p:nvSpPr>
        <p:spPr>
          <a:xfrm>
            <a:off x="221722" y="1459344"/>
            <a:ext cx="11500307" cy="5099397"/>
          </a:xfrm>
          <a:prstGeom prst="rect">
            <a:avLst/>
          </a:prstGeom>
        </p:spPr>
        <p:txBody>
          <a:bodyPr vert="horz" lIns="36000" tIns="0" rIns="3600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Tx/>
              <a:buNone/>
              <a:defRPr sz="1800" b="1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sz="1600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Font typeface="Symbol" panose="05050102010706020507" pitchFamily="18" charset="2"/>
              <a:buChar char="·"/>
              <a:defRPr sz="1600" b="1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3pPr>
            <a:lvl4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Symbol" panose="05050102010706020507" pitchFamily="18" charset="2"/>
              <a:buChar char="·"/>
              <a:tabLst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88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-"/>
              <a:defRPr sz="1400" kern="1200">
                <a:solidFill>
                  <a:srgbClr val="37373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cap="none" dirty="0">
                <a:solidFill>
                  <a:srgbClr val="E30056"/>
                </a:solidFill>
              </a:rPr>
              <a:t>Indicateur sur la colonisation BHRe et EPC </a:t>
            </a: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E30056"/>
                </a:solidFill>
                <a:effectLst/>
                <a:uLnTx/>
                <a:uFillTx/>
                <a:ea typeface="+mn-ea"/>
                <a:cs typeface="+mn-cs"/>
              </a:rPr>
              <a:t>: </a:t>
            </a:r>
            <a:b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E30056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lang="fr-FR" b="0" cap="none" dirty="0">
                <a:solidFill>
                  <a:srgbClr val="4D4D4F"/>
                </a:solidFill>
              </a:rPr>
              <a:t>Problématique du biais induit par les pratiques : nombre de dépistages et % de dépistages positifs dépendent de la politique de l’établissement. </a:t>
            </a:r>
            <a:br>
              <a:rPr lang="fr-FR" b="0" cap="none" dirty="0">
                <a:solidFill>
                  <a:srgbClr val="4D4D4F"/>
                </a:solidFill>
              </a:rPr>
            </a:br>
            <a:r>
              <a:rPr lang="fr-FR" b="0" cap="none" dirty="0">
                <a:solidFill>
                  <a:srgbClr val="4D4D4F"/>
                </a:solidFill>
              </a:rPr>
              <a:t>Suggestion : nombre d’épisode avec cas secondaire(s)?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b="0" cap="none" dirty="0">
              <a:solidFill>
                <a:srgbClr val="4D4D4F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b="0" cap="none" dirty="0">
              <a:solidFill>
                <a:srgbClr val="4D4D4F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cap="none" dirty="0">
                <a:solidFill>
                  <a:srgbClr val="E30056"/>
                </a:solidFill>
              </a:rPr>
              <a:t>Indicateur One </a:t>
            </a:r>
            <a:r>
              <a:rPr lang="fr-FR" cap="none" dirty="0" err="1">
                <a:solidFill>
                  <a:srgbClr val="E30056"/>
                </a:solidFill>
              </a:rPr>
              <a:t>Health</a:t>
            </a:r>
            <a:r>
              <a:rPr lang="fr-FR" cap="none" dirty="0">
                <a:solidFill>
                  <a:srgbClr val="E30056"/>
                </a:solidFill>
              </a:rPr>
              <a:t> </a:t>
            </a: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E30056"/>
                </a:solidFill>
                <a:effectLst/>
                <a:uLnTx/>
                <a:uFillTx/>
                <a:ea typeface="+mn-ea"/>
                <a:cs typeface="+mn-cs"/>
              </a:rPr>
              <a:t>: </a:t>
            </a:r>
            <a:r>
              <a:rPr lang="fr-FR" b="0" cap="none" dirty="0">
                <a:solidFill>
                  <a:srgbClr val="4D4D4F"/>
                </a:solidFill>
              </a:rPr>
              <a:t>proportion de souches pan-sensibles chez les bactéries E. coli (sensibles à 5 classes d’antibiotiques : </a:t>
            </a:r>
            <a:r>
              <a:rPr lang="fr-FR" b="0" cap="none" dirty="0" err="1">
                <a:solidFill>
                  <a:srgbClr val="4D4D4F"/>
                </a:solidFill>
              </a:rPr>
              <a:t>aminopénicillines</a:t>
            </a:r>
            <a:r>
              <a:rPr lang="fr-FR" b="0" cap="none" dirty="0">
                <a:solidFill>
                  <a:srgbClr val="4D4D4F"/>
                </a:solidFill>
              </a:rPr>
              <a:t>, C3G, fluoroquinolones, aminoglycosides, et sulfamides).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cap="none" dirty="0">
                <a:solidFill>
                  <a:srgbClr val="4D4D4F"/>
                </a:solidFill>
              </a:rPr>
              <a:t>Semble peu adapté aux CHU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4D4D4F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18504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èche : pentagone 8">
            <a:extLst>
              <a:ext uri="{FF2B5EF4-FFF2-40B4-BE49-F238E27FC236}">
                <a16:creationId xmlns:a16="http://schemas.microsoft.com/office/drawing/2014/main" id="{EBA06D6D-F63B-4DCD-92E5-3A59DD9CBC8E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Evolution par classe d’antibiotique et année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Espace réservé du contenu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44435"/>
            <a:ext cx="12052857" cy="2807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2391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èche : pentagone 8">
            <a:extLst>
              <a:ext uri="{FF2B5EF4-FFF2-40B4-BE49-F238E27FC236}">
                <a16:creationId xmlns:a16="http://schemas.microsoft.com/office/drawing/2014/main" id="{EBA06D6D-F63B-4DCD-92E5-3A59DD9CBC8E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Dédoublonnage</a:t>
            </a: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 (1)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Espace réservé du contenu 2"/>
          <p:cNvSpPr txBox="1">
            <a:spLocks/>
          </p:cNvSpPr>
          <p:nvPr/>
        </p:nvSpPr>
        <p:spPr>
          <a:xfrm>
            <a:off x="452387" y="1636295"/>
            <a:ext cx="10901413" cy="30223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 cap="none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 smtClean="0">
                <a:solidFill>
                  <a:srgbClr val="373739"/>
                </a:solidFill>
              </a:rPr>
              <a:t>La logique de </a:t>
            </a:r>
            <a:r>
              <a:rPr lang="fr-FR" dirty="0" err="1" smtClean="0">
                <a:solidFill>
                  <a:srgbClr val="373739"/>
                </a:solidFill>
              </a:rPr>
              <a:t>dédoublonnage</a:t>
            </a:r>
            <a:r>
              <a:rPr lang="fr-FR" dirty="0" smtClean="0">
                <a:solidFill>
                  <a:srgbClr val="373739"/>
                </a:solidFill>
              </a:rPr>
              <a:t> SPARES peut se résumer de la façon suivante :</a:t>
            </a:r>
          </a:p>
          <a:p>
            <a:pPr algn="l"/>
            <a:r>
              <a:rPr lang="fr-FR" dirty="0" smtClean="0">
                <a:solidFill>
                  <a:srgbClr val="373739"/>
                </a:solidFill>
              </a:rPr>
              <a:t>Si pour une même bactérie :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dirty="0" smtClean="0">
                <a:solidFill>
                  <a:srgbClr val="373739"/>
                </a:solidFill>
              </a:rPr>
              <a:t>on a testé les mêmes </a:t>
            </a:r>
            <a:r>
              <a:rPr lang="fr-FR" dirty="0" err="1" smtClean="0">
                <a:solidFill>
                  <a:srgbClr val="373739"/>
                </a:solidFill>
              </a:rPr>
              <a:t>ATBs</a:t>
            </a:r>
            <a:r>
              <a:rPr lang="fr-FR" dirty="0" smtClean="0">
                <a:solidFill>
                  <a:srgbClr val="373739"/>
                </a:solidFill>
              </a:rPr>
              <a:t> et obtenu les mêmes résultats </a:t>
            </a:r>
            <a:r>
              <a:rPr lang="fr-FR" dirty="0" smtClean="0">
                <a:solidFill>
                  <a:srgbClr val="373739"/>
                </a:solidFill>
                <a:sym typeface="Wingdings" panose="05000000000000000000" pitchFamily="2" charset="2"/>
              </a:rPr>
              <a:t></a:t>
            </a:r>
            <a:r>
              <a:rPr lang="fr-FR" dirty="0" smtClean="0">
                <a:solidFill>
                  <a:srgbClr val="373739"/>
                </a:solidFill>
              </a:rPr>
              <a:t> on considère que c'est la même souche </a:t>
            </a:r>
            <a:r>
              <a:rPr lang="fr-FR" dirty="0" smtClean="0">
                <a:solidFill>
                  <a:srgbClr val="373739"/>
                </a:solidFill>
                <a:sym typeface="Wingdings" panose="05000000000000000000" pitchFamily="2" charset="2"/>
              </a:rPr>
              <a:t></a:t>
            </a:r>
            <a:r>
              <a:rPr lang="fr-FR" dirty="0" smtClean="0">
                <a:solidFill>
                  <a:srgbClr val="373739"/>
                </a:solidFill>
              </a:rPr>
              <a:t> garder le plus ancien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dirty="0" smtClean="0">
                <a:solidFill>
                  <a:srgbClr val="373739"/>
                </a:solidFill>
              </a:rPr>
              <a:t>on a un test plus complet qu'un autre et que la partie commune est identique </a:t>
            </a:r>
            <a:r>
              <a:rPr lang="fr-FR" dirty="0" smtClean="0">
                <a:solidFill>
                  <a:srgbClr val="373739"/>
                </a:solidFill>
                <a:sym typeface="Wingdings" panose="05000000000000000000" pitchFamily="2" charset="2"/>
              </a:rPr>
              <a:t></a:t>
            </a:r>
            <a:r>
              <a:rPr lang="fr-FR" dirty="0" smtClean="0">
                <a:solidFill>
                  <a:srgbClr val="373739"/>
                </a:solidFill>
              </a:rPr>
              <a:t> on considère que c'est la même souche </a:t>
            </a:r>
            <a:r>
              <a:rPr lang="fr-FR" dirty="0" smtClean="0">
                <a:solidFill>
                  <a:srgbClr val="373739"/>
                </a:solidFill>
                <a:sym typeface="Wingdings" panose="05000000000000000000" pitchFamily="2" charset="2"/>
              </a:rPr>
              <a:t></a:t>
            </a:r>
            <a:r>
              <a:rPr lang="fr-FR" dirty="0" smtClean="0">
                <a:solidFill>
                  <a:srgbClr val="373739"/>
                </a:solidFill>
              </a:rPr>
              <a:t> garder le plus complet</a:t>
            </a:r>
          </a:p>
          <a:p>
            <a:pPr algn="l"/>
            <a:endParaRPr lang="fr-FR" dirty="0" smtClean="0">
              <a:solidFill>
                <a:srgbClr val="373739"/>
              </a:solidFill>
            </a:endParaRPr>
          </a:p>
          <a:p>
            <a:pPr algn="l"/>
            <a:r>
              <a:rPr lang="fr-FR" b="1" dirty="0" smtClean="0">
                <a:solidFill>
                  <a:srgbClr val="373739"/>
                </a:solidFill>
              </a:rPr>
              <a:t>Souche</a:t>
            </a:r>
            <a:r>
              <a:rPr lang="fr-FR" dirty="0" smtClean="0">
                <a:solidFill>
                  <a:srgbClr val="373739"/>
                </a:solidFill>
              </a:rPr>
              <a:t> = </a:t>
            </a:r>
            <a:r>
              <a:rPr lang="fr-FR" i="1" dirty="0" smtClean="0">
                <a:solidFill>
                  <a:srgbClr val="373739"/>
                </a:solidFill>
              </a:rPr>
              <a:t>sous-population d'une espèce bactérienne avec des caractéristiques de résistance </a:t>
            </a:r>
            <a:r>
              <a:rPr lang="fr-FR" i="1" dirty="0" err="1" smtClean="0">
                <a:solidFill>
                  <a:srgbClr val="373739"/>
                </a:solidFill>
              </a:rPr>
              <a:t>péculiaires</a:t>
            </a:r>
            <a:endParaRPr lang="fr-FR" i="1" dirty="0" smtClean="0">
              <a:solidFill>
                <a:srgbClr val="373739"/>
              </a:solidFill>
            </a:endParaRPr>
          </a:p>
          <a:p>
            <a:pPr algn="l"/>
            <a:endParaRPr lang="fr-FR" dirty="0" smtClean="0">
              <a:solidFill>
                <a:srgbClr val="373739"/>
              </a:solidFill>
            </a:endParaRPr>
          </a:p>
          <a:p>
            <a:pPr algn="l"/>
            <a:r>
              <a:rPr lang="fr-FR" dirty="0" smtClean="0">
                <a:solidFill>
                  <a:srgbClr val="373739"/>
                </a:solidFill>
              </a:rPr>
              <a:t>Cela implique que dans notre contexte </a:t>
            </a:r>
            <a:r>
              <a:rPr lang="fr-FR" i="1" dirty="0" smtClean="0">
                <a:solidFill>
                  <a:srgbClr val="373739"/>
                </a:solidFill>
              </a:rPr>
              <a:t>une souche est définie par son antibiogramme</a:t>
            </a:r>
            <a:r>
              <a:rPr lang="fr-FR" dirty="0" smtClean="0">
                <a:solidFill>
                  <a:srgbClr val="373739"/>
                </a:solidFill>
              </a:rPr>
              <a:t>.</a:t>
            </a:r>
            <a:endParaRPr lang="en-GB" dirty="0">
              <a:solidFill>
                <a:srgbClr val="37373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37859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èche : pentagone 8">
            <a:extLst>
              <a:ext uri="{FF2B5EF4-FFF2-40B4-BE49-F238E27FC236}">
                <a16:creationId xmlns:a16="http://schemas.microsoft.com/office/drawing/2014/main" id="{EBA06D6D-F63B-4DCD-92E5-3A59DD9CBC8E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err="1" smtClean="0">
                <a:solidFill>
                  <a:prstClr val="white"/>
                </a:solidFill>
                <a:latin typeface="Arial"/>
              </a:rPr>
              <a:t>Dédoublonnage</a:t>
            </a: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 (2)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Espace réservé du contenu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07" y="1321938"/>
            <a:ext cx="10387842" cy="545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1127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èche : pentagone 8">
            <a:extLst>
              <a:ext uri="{FF2B5EF4-FFF2-40B4-BE49-F238E27FC236}">
                <a16:creationId xmlns:a16="http://schemas.microsoft.com/office/drawing/2014/main" id="{EBA06D6D-F63B-4DCD-92E5-3A59DD9CBC8E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Création de la table de résistances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Espace réservé du contenu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497" y="1783063"/>
            <a:ext cx="6331303" cy="4777256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222183" y="2342727"/>
            <a:ext cx="41842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Nous revenons ensuite au format long</a:t>
            </a:r>
            <a:r>
              <a:rPr lang="en-GB" dirty="0" smtClean="0"/>
              <a:t> </a:t>
            </a:r>
            <a:r>
              <a:rPr lang="en-GB" dirty="0" err="1" smtClean="0"/>
              <a:t>afin</a:t>
            </a:r>
            <a:r>
              <a:rPr lang="en-GB" dirty="0" smtClean="0"/>
              <a:t> de </a:t>
            </a:r>
            <a:r>
              <a:rPr lang="en-GB" dirty="0" err="1" smtClean="0"/>
              <a:t>pouvoir</a:t>
            </a:r>
            <a:r>
              <a:rPr lang="en-GB" dirty="0" smtClean="0"/>
              <a:t> </a:t>
            </a:r>
            <a:r>
              <a:rPr lang="en-GB" dirty="0" err="1" smtClean="0"/>
              <a:t>créer</a:t>
            </a:r>
            <a:r>
              <a:rPr lang="en-GB" dirty="0" smtClean="0"/>
              <a:t> un tableau des </a:t>
            </a:r>
            <a:r>
              <a:rPr lang="en-GB" dirty="0" err="1" smtClean="0"/>
              <a:t>résistances</a:t>
            </a:r>
            <a:r>
              <a:rPr lang="en-GB" dirty="0" smtClean="0"/>
              <a:t>.</a:t>
            </a:r>
          </a:p>
          <a:p>
            <a:endParaRPr lang="it-IT" dirty="0"/>
          </a:p>
          <a:p>
            <a:r>
              <a:rPr lang="it-IT" dirty="0" smtClean="0"/>
              <a:t>Le format long est la base idéal pour la création de graphes.</a:t>
            </a:r>
          </a:p>
        </p:txBody>
      </p:sp>
    </p:spTree>
    <p:extLst>
      <p:ext uri="{BB962C8B-B14F-4D97-AF65-F5344CB8AC3E}">
        <p14:creationId xmlns:p14="http://schemas.microsoft.com/office/powerpoint/2010/main" val="14536493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èche : pentagone 8">
            <a:extLst>
              <a:ext uri="{FF2B5EF4-FFF2-40B4-BE49-F238E27FC236}">
                <a16:creationId xmlns:a16="http://schemas.microsoft.com/office/drawing/2014/main" id="{EBA06D6D-F63B-4DCD-92E5-3A59DD9CBC8E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 smtClean="0">
                <a:solidFill>
                  <a:prstClr val="white"/>
                </a:solidFill>
                <a:latin typeface="Arial"/>
              </a:rPr>
              <a:t>% résistance aux antibiotiques – extrait CHU de Rouen année 2024 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45" y="1910059"/>
            <a:ext cx="11226099" cy="4227683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7209323" y="1405288"/>
            <a:ext cx="36287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*ces résultats correspondent à un premier test qui met en évidence des anomalies qui sont en cours d’exploration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015789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8">
            <a:extLst>
              <a:ext uri="{FF2B5EF4-FFF2-40B4-BE49-F238E27FC236}">
                <a16:creationId xmlns:a16="http://schemas.microsoft.com/office/drawing/2014/main" id="{C5E3E226-8735-3747-A57E-5B64A8EF4C12}"/>
              </a:ext>
            </a:extLst>
          </p:cNvPr>
          <p:cNvSpPr/>
          <p:nvPr/>
        </p:nvSpPr>
        <p:spPr>
          <a:xfrm>
            <a:off x="-1" y="369891"/>
            <a:ext cx="10116590" cy="918582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>
                <a:solidFill>
                  <a:prstClr val="white"/>
                </a:solidFill>
                <a:latin typeface="Arial"/>
              </a:rPr>
              <a:t>LA PAROLE AU GT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438923" y="1879397"/>
            <a:ext cx="11560629" cy="2369880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noProof="0" dirty="0">
                <a:solidFill>
                  <a:prstClr val="black"/>
                </a:solidFill>
                <a:cs typeface="Arial" panose="020B0604020202020204" pitchFamily="34" charset="0"/>
              </a:rPr>
              <a:t>Discussion autour de l’EB :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noProof="0" dirty="0">
                <a:solidFill>
                  <a:prstClr val="black"/>
                </a:solidFill>
                <a:cs typeface="Arial" panose="020B0604020202020204" pitchFamily="34" charset="0"/>
              </a:rPr>
              <a:t>Selon la faisabilité, </a:t>
            </a:r>
            <a:r>
              <a:rPr lang="fr-FR" sz="1600" dirty="0">
                <a:solidFill>
                  <a:prstClr val="black"/>
                </a:solidFill>
                <a:cs typeface="Arial" panose="020B0604020202020204" pitchFamily="34" charset="0"/>
              </a:rPr>
              <a:t>pertinence de passer l’indicateur PCC en objectif « moyen terme »</a:t>
            </a:r>
          </a:p>
          <a:p>
            <a:pPr marL="742950" lvl="1" indent="-285750">
              <a:buClr>
                <a:srgbClr val="DC246A"/>
              </a:buClr>
              <a:buFont typeface="Wingdings" panose="05000000000000000000" pitchFamily="2" charset="2"/>
              <a:buChar char="v"/>
              <a:defRPr/>
            </a:pPr>
            <a:r>
              <a:rPr lang="fr-FR" sz="1600" noProof="0" dirty="0" smtClean="0">
                <a:solidFill>
                  <a:prstClr val="black"/>
                </a:solidFill>
                <a:cs typeface="Arial" panose="020B0604020202020204" pitchFamily="34" charset="0"/>
              </a:rPr>
              <a:t>Réflexion </a:t>
            </a:r>
            <a:r>
              <a:rPr lang="fr-FR" sz="1600" noProof="0" dirty="0">
                <a:solidFill>
                  <a:prstClr val="black"/>
                </a:solidFill>
                <a:cs typeface="Arial" panose="020B0604020202020204" pitchFamily="34" charset="0"/>
              </a:rPr>
              <a:t>sur les potentiels indicateurs liés à la colonisation / dépistage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noProof="0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fr-FR" sz="1600" dirty="0">
                <a:solidFill>
                  <a:prstClr val="black"/>
                </a:solidFill>
                <a:cs typeface="Arial" panose="020B0604020202020204" pitchFamily="34" charset="0"/>
              </a:rPr>
              <a:t>Hiérarchisation des besoins à moyen et long termes</a:t>
            </a:r>
            <a:endParaRPr lang="fr-FR" sz="1600" noProof="0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lang="fr-FR" sz="1600" noProof="0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fr-FR" sz="1600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rPr>
              <a:t>Autres besoins non-couverts</a:t>
            </a:r>
            <a:r>
              <a:rPr kumimoji="0" lang="fr-FR" sz="16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Arial" panose="020B0604020202020204" pitchFamily="34" charset="0"/>
              </a:rPr>
              <a:t>, sujets d’intérêt pour les CNR</a:t>
            </a:r>
            <a:r>
              <a:rPr lang="fr-FR" sz="1600" dirty="0">
                <a:solidFill>
                  <a:prstClr val="black"/>
                </a:solidFill>
                <a:cs typeface="Arial" panose="020B0604020202020204" pitchFamily="34" charset="0"/>
              </a:rPr>
              <a:t>, cliniciens, biologistes 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46A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88017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D24F3BD8-D7F5-4792-AE1D-F029C1BAA0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354073"/>
              </p:ext>
            </p:extLst>
          </p:nvPr>
        </p:nvGraphicFramePr>
        <p:xfrm>
          <a:off x="209724" y="133032"/>
          <a:ext cx="5754848" cy="6794945"/>
        </p:xfrm>
        <a:graphic>
          <a:graphicData uri="http://schemas.openxmlformats.org/drawingml/2006/table">
            <a:tbl>
              <a:tblPr firstRow="1" firstCol="1" bandRow="1"/>
              <a:tblGrid>
                <a:gridCol w="1379072">
                  <a:extLst>
                    <a:ext uri="{9D8B030D-6E8A-4147-A177-3AD203B41FA5}">
                      <a16:colId xmlns:a16="http://schemas.microsoft.com/office/drawing/2014/main" val="4117982260"/>
                    </a:ext>
                  </a:extLst>
                </a:gridCol>
                <a:gridCol w="1379072">
                  <a:extLst>
                    <a:ext uri="{9D8B030D-6E8A-4147-A177-3AD203B41FA5}">
                      <a16:colId xmlns:a16="http://schemas.microsoft.com/office/drawing/2014/main" val="3535997627"/>
                    </a:ext>
                  </a:extLst>
                </a:gridCol>
                <a:gridCol w="1379072">
                  <a:extLst>
                    <a:ext uri="{9D8B030D-6E8A-4147-A177-3AD203B41FA5}">
                      <a16:colId xmlns:a16="http://schemas.microsoft.com/office/drawing/2014/main" val="3843064618"/>
                    </a:ext>
                  </a:extLst>
                </a:gridCol>
                <a:gridCol w="527063">
                  <a:extLst>
                    <a:ext uri="{9D8B030D-6E8A-4147-A177-3AD203B41FA5}">
                      <a16:colId xmlns:a16="http://schemas.microsoft.com/office/drawing/2014/main" val="2498833918"/>
                    </a:ext>
                  </a:extLst>
                </a:gridCol>
                <a:gridCol w="1090569">
                  <a:extLst>
                    <a:ext uri="{9D8B030D-6E8A-4147-A177-3AD203B41FA5}">
                      <a16:colId xmlns:a16="http://schemas.microsoft.com/office/drawing/2014/main" val="3290810976"/>
                    </a:ext>
                  </a:extLst>
                </a:gridCol>
              </a:tblGrid>
              <a:tr h="1343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Groupe d’antibiotiques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Antibiotiques considérés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Calcul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Résultat rendu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8590216"/>
                  </a:ext>
                </a:extLst>
              </a:tr>
              <a:tr h="323299">
                <a:tc grid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 b="1" i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Staphylococcus aureus   ;   Toutes </a:t>
                      </a:r>
                      <a:r>
                        <a:rPr lang="fr-FR" sz="1200" b="1" i="1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Entorobacterales</a:t>
                      </a:r>
                      <a:r>
                        <a:rPr lang="fr-FR" sz="1200" b="1" i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;    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 b="1" i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Escherichia coli ;   </a:t>
                      </a:r>
                      <a:r>
                        <a:rPr lang="en-US" sz="1200" b="1" i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Klebsiella pneumoniae ;    Enterobacter cloacae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complex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110239"/>
                  </a:ext>
                </a:extLst>
              </a:tr>
              <a:tr h="89556">
                <a:tc row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Fluoroquinolones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Ofloxacine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Lévofloxacine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Moxifloxacine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Ciprofloxacine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 moins une molécule sur les 4 est rendue R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38969"/>
                  </a:ext>
                </a:extLst>
              </a:tr>
              <a:tr h="8955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Aucune fluoroquinolone n’est renseignée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Ø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Ø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398636"/>
                  </a:ext>
                </a:extLst>
              </a:tr>
              <a:tr h="8955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Autres situations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237523"/>
                  </a:ext>
                </a:extLst>
              </a:tr>
              <a:tr h="257870">
                <a:tc grid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 b="1" i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Toutes </a:t>
                      </a:r>
                      <a:r>
                        <a:rPr lang="fr-FR" sz="1200" b="1" i="1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Enterobactérales</a:t>
                      </a:r>
                      <a:r>
                        <a:rPr lang="fr-FR" sz="1200" b="1" i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;    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 b="1" i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Escherichia coli;    Klebsiella </a:t>
                      </a:r>
                      <a:r>
                        <a:rPr lang="fr-FR" sz="1200" b="1" i="1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pneumoniae</a:t>
                      </a:r>
                      <a:r>
                        <a:rPr lang="fr-FR" sz="1200" b="1" i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;    </a:t>
                      </a:r>
                      <a:r>
                        <a:rPr lang="en-US" sz="1200" b="1" i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Enterobacter cloacae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complex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64462"/>
                  </a:ext>
                </a:extLst>
              </a:tr>
              <a:tr h="89556">
                <a:tc row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C3G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Céfotaxime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Ceftazidime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Ceftriaxone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 moins une molécule sur les 3 est rendue R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6081540"/>
                  </a:ext>
                </a:extLst>
              </a:tr>
              <a:tr h="8955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Aucune C3G n’est renseignée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Ø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8322014"/>
                  </a:ext>
                </a:extLst>
              </a:tr>
              <a:tr h="8955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Autres situations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160929"/>
                  </a:ext>
                </a:extLst>
              </a:tr>
              <a:tr h="257870">
                <a:tc grid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 b="1" i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Toutes </a:t>
                      </a:r>
                      <a:r>
                        <a:rPr lang="fr-FR" sz="1200" b="1" i="1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Enterobacterales</a:t>
                      </a:r>
                      <a:r>
                        <a:rPr lang="fr-FR" sz="1200" b="1" i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; 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 b="1" i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Escherichia coli;    Klebsiella </a:t>
                      </a:r>
                      <a:r>
                        <a:rPr lang="fr-FR" sz="1200" b="1" i="1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pneumoniae</a:t>
                      </a:r>
                      <a:r>
                        <a:rPr lang="fr-FR" sz="1200" b="1" i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;    </a:t>
                      </a:r>
                      <a:r>
                        <a:rPr lang="en-US" sz="1200" b="1" i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Enterobacter cloacae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complex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781548"/>
                  </a:ext>
                </a:extLst>
              </a:tr>
              <a:tr h="89556">
                <a:tc row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Carbapénèmes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Ertapénème</a:t>
                      </a:r>
                      <a:b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</a:b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Imipénème</a:t>
                      </a:r>
                      <a:b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</a:b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Méropénème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 moins une molécule sur les 3 est rendue R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6800340"/>
                  </a:ext>
                </a:extLst>
              </a:tr>
              <a:tr h="8955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Aucun des 3 carbapénèmes n’est renseigné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Ø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754747"/>
                  </a:ext>
                </a:extLst>
              </a:tr>
              <a:tr h="8955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Autres situations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9298961"/>
                  </a:ext>
                </a:extLst>
              </a:tr>
              <a:tr h="89556">
                <a:tc grid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 i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Staphylococcus</a:t>
                      </a:r>
                      <a:r>
                        <a:rPr lang="en-US" sz="1100" b="1" i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aureus</a:t>
                      </a:r>
                      <a:endParaRPr lang="fr-F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fr-F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368468"/>
                  </a:ext>
                </a:extLst>
              </a:tr>
              <a:tr h="89556">
                <a:tc row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Méticilline (SARM)</a:t>
                      </a:r>
                      <a:endParaRPr lang="fr-F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Cefoxitine</a:t>
                      </a:r>
                      <a:endParaRPr lang="fr-F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Oxacilline</a:t>
                      </a:r>
                      <a:endParaRPr lang="fr-F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fr-FR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 moins une molécule sur les 2 est rendue R</a:t>
                      </a:r>
                      <a:endParaRPr lang="fr-F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</a:t>
                      </a:r>
                      <a:endParaRPr lang="fr-F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fr-F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2605813"/>
                  </a:ext>
                </a:extLst>
              </a:tr>
              <a:tr h="8955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Aucun des 2 molécule n’est renseignée</a:t>
                      </a:r>
                      <a:endParaRPr lang="fr-F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Ø</a:t>
                      </a:r>
                      <a:endParaRPr lang="fr-F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fr-F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8393887"/>
                  </a:ext>
                </a:extLst>
              </a:tr>
              <a:tr h="8955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Autres situations</a:t>
                      </a:r>
                      <a:endParaRPr lang="fr-F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</a:t>
                      </a:r>
                      <a:endParaRPr lang="fr-F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fr-F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1262978"/>
                  </a:ext>
                </a:extLst>
              </a:tr>
            </a:tbl>
          </a:graphicData>
        </a:graphic>
      </p:graphicFrame>
      <p:sp>
        <p:nvSpPr>
          <p:cNvPr id="10" name="Rectangle 4">
            <a:extLst>
              <a:ext uri="{FF2B5EF4-FFF2-40B4-BE49-F238E27FC236}">
                <a16:creationId xmlns:a16="http://schemas.microsoft.com/office/drawing/2014/main" id="{9EFA7D3A-0F0F-47F7-8DDD-EBC68E7C5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9563" y="17811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4CD8EBDF-D248-4083-AA4E-7AB9331BB4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397686"/>
              </p:ext>
            </p:extLst>
          </p:nvPr>
        </p:nvGraphicFramePr>
        <p:xfrm>
          <a:off x="6442745" y="133031"/>
          <a:ext cx="5539530" cy="6747040"/>
        </p:xfrm>
        <a:graphic>
          <a:graphicData uri="http://schemas.openxmlformats.org/drawingml/2006/table">
            <a:tbl>
              <a:tblPr firstRow="1" firstCol="1" bandRow="1"/>
              <a:tblGrid>
                <a:gridCol w="1281339">
                  <a:extLst>
                    <a:ext uri="{9D8B030D-6E8A-4147-A177-3AD203B41FA5}">
                      <a16:colId xmlns:a16="http://schemas.microsoft.com/office/drawing/2014/main" val="4117982260"/>
                    </a:ext>
                  </a:extLst>
                </a:gridCol>
                <a:gridCol w="1281339">
                  <a:extLst>
                    <a:ext uri="{9D8B030D-6E8A-4147-A177-3AD203B41FA5}">
                      <a16:colId xmlns:a16="http://schemas.microsoft.com/office/drawing/2014/main" val="3535997627"/>
                    </a:ext>
                  </a:extLst>
                </a:gridCol>
                <a:gridCol w="2021507">
                  <a:extLst>
                    <a:ext uri="{9D8B030D-6E8A-4147-A177-3AD203B41FA5}">
                      <a16:colId xmlns:a16="http://schemas.microsoft.com/office/drawing/2014/main" val="3843064618"/>
                    </a:ext>
                  </a:extLst>
                </a:gridCol>
                <a:gridCol w="955345">
                  <a:extLst>
                    <a:ext uri="{9D8B030D-6E8A-4147-A177-3AD203B41FA5}">
                      <a16:colId xmlns:a16="http://schemas.microsoft.com/office/drawing/2014/main" val="1198947236"/>
                    </a:ext>
                  </a:extLst>
                </a:gridCol>
              </a:tblGrid>
              <a:tr h="4227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Groupe d’antibiotiques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Antibiotiques considérés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Calcul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Résultat rendu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8590216"/>
                  </a:ext>
                </a:extLst>
              </a:tr>
              <a:tr h="205000"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 i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Enterococcus faecalis ;    Enterococcus faecium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963134"/>
                  </a:ext>
                </a:extLst>
              </a:tr>
              <a:tr h="422756">
                <a:tc row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Béta-lactamines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Amoxicilline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ampicilline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 moins une molécule sur les 2 est rendue R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901343"/>
                  </a:ext>
                </a:extLst>
              </a:tr>
              <a:tr h="42275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Aucun des 2 molécules n’est renseigné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Ø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827453"/>
                  </a:ext>
                </a:extLst>
              </a:tr>
              <a:tr h="2050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Autres situations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667506"/>
                  </a:ext>
                </a:extLst>
              </a:tr>
              <a:tr h="422756">
                <a:tc row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Glycopeptides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Vancomycine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Teicoplanine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 moins une molécule sur les 2 est rendue R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45133"/>
                  </a:ext>
                </a:extLst>
              </a:tr>
              <a:tr h="42275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Aucun des 2 molécules n’est renseigné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Ø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9076033"/>
                  </a:ext>
                </a:extLst>
              </a:tr>
              <a:tr h="2050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Autres situations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0110596"/>
                  </a:ext>
                </a:extLst>
              </a:tr>
              <a:tr h="205000"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 i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Pseudomonas aeruginosa ;     Acinetobacter </a:t>
                      </a:r>
                      <a:r>
                        <a:rPr lang="en-US" sz="1200" b="1" i="1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baumannii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528935"/>
                  </a:ext>
                </a:extLst>
              </a:tr>
              <a:tr h="422756">
                <a:tc row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Carbapénèmes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Imipénème</a:t>
                      </a:r>
                      <a:b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</a:b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Méropénème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 moins une molécule sur les 2 est rendue R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0187851"/>
                  </a:ext>
                </a:extLst>
              </a:tr>
              <a:tr h="42275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Aucun des 2 molécules n’est renseigné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Ø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763763"/>
                  </a:ext>
                </a:extLst>
              </a:tr>
              <a:tr h="2050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Autres situations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236191"/>
                  </a:ext>
                </a:extLst>
              </a:tr>
              <a:tr h="205000">
                <a:tc rowSpan="1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Béta-lactamines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3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La molécule est rendue R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0173231"/>
                  </a:ext>
                </a:extLst>
              </a:tr>
              <a:tr h="42275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Pipéracilline - tazobactam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Non renseigné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Ø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5349886"/>
                  </a:ext>
                </a:extLst>
              </a:tr>
              <a:tr h="2050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Autres situations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4830071"/>
                  </a:ext>
                </a:extLst>
              </a:tr>
              <a:tr h="2050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La molécule est rendue R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2938116"/>
                  </a:ext>
                </a:extLst>
              </a:tr>
              <a:tr h="2050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Ceftazidime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Non renseigné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Ø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1869388"/>
                  </a:ext>
                </a:extLst>
              </a:tr>
              <a:tr h="2050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Autres situations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3266825"/>
                  </a:ext>
                </a:extLst>
              </a:tr>
              <a:tr h="2050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La molécule est rendue R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8427482"/>
                  </a:ext>
                </a:extLst>
              </a:tr>
              <a:tr h="2050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Céfépime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Non renseigné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Ø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653219"/>
                  </a:ext>
                </a:extLst>
              </a:tr>
              <a:tr h="2050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Autres situations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1264618"/>
                  </a:ext>
                </a:extLst>
              </a:tr>
              <a:tr h="2050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La molécule est rendue R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493183"/>
                  </a:ext>
                </a:extLst>
              </a:tr>
              <a:tr h="2050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Imipenem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Non renseigné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Ø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350206"/>
                  </a:ext>
                </a:extLst>
              </a:tr>
              <a:tr h="2050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Autres situations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447" marR="2844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1339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1766688"/>
      </p:ext>
    </p:extLst>
  </p:cSld>
  <p:clrMapOvr>
    <a:masterClrMapping/>
  </p:clrMapOvr>
</p:sld>
</file>

<file path=ppt/theme/theme1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PF_PPT_Test-v3">
  <a:themeElements>
    <a:clrScheme name="SPF PPT_Couleurs">
      <a:dk1>
        <a:srgbClr val="4D4D4F"/>
      </a:dk1>
      <a:lt1>
        <a:sysClr val="window" lastClr="FFFFFF"/>
      </a:lt1>
      <a:dk2>
        <a:srgbClr val="E30056"/>
      </a:dk2>
      <a:lt2>
        <a:srgbClr val="EEECE1"/>
      </a:lt2>
      <a:accent1>
        <a:srgbClr val="E30056"/>
      </a:accent1>
      <a:accent2>
        <a:srgbClr val="3C2782"/>
      </a:accent2>
      <a:accent3>
        <a:srgbClr val="00A5D5"/>
      </a:accent3>
      <a:accent4>
        <a:srgbClr val="004192"/>
      </a:accent4>
      <a:accent5>
        <a:srgbClr val="8D003A"/>
      </a:accent5>
      <a:accent6>
        <a:srgbClr val="4D4D4F"/>
      </a:accent6>
      <a:hlink>
        <a:srgbClr val="E30056"/>
      </a:hlink>
      <a:folHlink>
        <a:srgbClr val="E30056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lIns="36000" tIns="0" rIns="36000" bIns="0" rtlCol="0">
        <a:spAutoFit/>
      </a:bodyPr>
      <a:lstStyle>
        <a:defPPr>
          <a:defRPr sz="1300" smtClean="0">
            <a:solidFill>
              <a:schemeClr val="accent6"/>
            </a:solidFill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4258</TotalTime>
  <Words>3142</Words>
  <Application>Microsoft Office PowerPoint</Application>
  <PresentationFormat>Grand écran</PresentationFormat>
  <Paragraphs>432</Paragraphs>
  <Slides>34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34</vt:i4>
      </vt:variant>
    </vt:vector>
  </HeadingPairs>
  <TitlesOfParts>
    <vt:vector size="43" baseType="lpstr">
      <vt:lpstr>Arial</vt:lpstr>
      <vt:lpstr>Calibri</vt:lpstr>
      <vt:lpstr>Calibri Light</vt:lpstr>
      <vt:lpstr>Cambria Math</vt:lpstr>
      <vt:lpstr>Symbol</vt:lpstr>
      <vt:lpstr>Times New Roman</vt:lpstr>
      <vt:lpstr>Wingdings</vt:lpstr>
      <vt:lpstr>1_Thème Office</vt:lpstr>
      <vt:lpstr>1_SPF_PPT_Test-v3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INDICATEURS CONSOMMATION ANTIBIOTIQUES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INDICATEURS résistance bactérienne aux antibiotiques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CHU de Rouen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CATHERINE, Solenn</dc:creator>
  <cp:lastModifiedBy>CATHERINE, Solenn</cp:lastModifiedBy>
  <cp:revision>150</cp:revision>
  <dcterms:created xsi:type="dcterms:W3CDTF">2025-05-27T08:33:37Z</dcterms:created>
  <dcterms:modified xsi:type="dcterms:W3CDTF">2025-12-08T15:52:13Z</dcterms:modified>
</cp:coreProperties>
</file>