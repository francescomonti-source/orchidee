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60" r:id="rId3"/>
    <p:sldId id="262" r:id="rId4"/>
    <p:sldId id="258" r:id="rId5"/>
    <p:sldId id="261" r:id="rId6"/>
    <p:sldId id="263" r:id="rId7"/>
    <p:sldId id="264" r:id="rId8"/>
    <p:sldId id="257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7D87"/>
    <a:srgbClr val="DC2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0-49B8-A3E0-DE08BC7C4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266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8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53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78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43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73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82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55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37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739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067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70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99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50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50367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921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0925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graphicFrame>
        <p:nvGraphicFramePr>
          <p:cNvPr id="4" name="Graphique 3"/>
          <p:cNvGraphicFramePr/>
          <p:nvPr userDrawn="1">
            <p:extLst/>
          </p:nvPr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297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EC69-96B3-4BFA-99CA-EAE663A7833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28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/>
              <a:t>Titre de la </a:t>
            </a:r>
            <a:r>
              <a:rPr lang="fr-FR" dirty="0" err="1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rgbClr val="4D4D4F"/>
                </a:solidFill>
              </a:rPr>
              <a:pPr algn="r"/>
              <a:t>‹N°›</a:t>
            </a:fld>
            <a:endParaRPr lang="fr-FR" sz="750" b="1" dirty="0">
              <a:solidFill>
                <a:srgbClr val="4D4D4F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66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6183" y="1660447"/>
            <a:ext cx="10236369" cy="4682164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Federated</a:t>
            </a:r>
            <a:r>
              <a:rPr lang="fr-FR" sz="2400" dirty="0"/>
              <a:t> model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/>
              <a:t>Common </a:t>
            </a:r>
            <a:r>
              <a:rPr lang="fr-FR" sz="2400" dirty="0" err="1"/>
              <a:t>methods</a:t>
            </a:r>
            <a:r>
              <a:rPr lang="fr-FR" sz="2400" dirty="0"/>
              <a:t>, </a:t>
            </a:r>
            <a:r>
              <a:rPr lang="fr-FR" sz="2400" dirty="0" err="1"/>
              <a:t>alignment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international, at least </a:t>
            </a:r>
            <a:r>
              <a:rPr lang="fr-FR" sz="2400" dirty="0" err="1"/>
              <a:t>European</a:t>
            </a:r>
            <a:r>
              <a:rPr lang="fr-FR" sz="2400" dirty="0"/>
              <a:t>, standards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Responsiveness</a:t>
            </a:r>
            <a:r>
              <a:rPr lang="fr-FR" sz="2400" dirty="0"/>
              <a:t> to </a:t>
            </a:r>
            <a:r>
              <a:rPr lang="fr-FR" sz="2400" dirty="0" err="1"/>
              <a:t>decision</a:t>
            </a:r>
            <a:r>
              <a:rPr lang="fr-FR" sz="2400" dirty="0"/>
              <a:t> </a:t>
            </a:r>
            <a:r>
              <a:rPr lang="fr-FR" sz="2400" dirty="0" err="1"/>
              <a:t>makers</a:t>
            </a:r>
            <a:r>
              <a:rPr lang="fr-FR" sz="2400" dirty="0"/>
              <a:t>’ </a:t>
            </a:r>
            <a:r>
              <a:rPr lang="fr-FR" sz="2400" dirty="0" err="1"/>
              <a:t>needs</a:t>
            </a:r>
            <a:r>
              <a:rPr lang="fr-FR" sz="2400" dirty="0"/>
              <a:t> (public </a:t>
            </a:r>
            <a:r>
              <a:rPr lang="fr-FR" sz="2400" dirty="0" err="1"/>
              <a:t>health</a:t>
            </a:r>
            <a:r>
              <a:rPr lang="fr-FR" sz="2400" dirty="0"/>
              <a:t> objective)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Feasibility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Generalisability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Parsimonious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Reactivity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/>
              <a:t>Excellent </a:t>
            </a:r>
            <a:r>
              <a:rPr lang="fr-FR" sz="2400" dirty="0" err="1"/>
              <a:t>metrologic</a:t>
            </a:r>
            <a:r>
              <a:rPr lang="fr-FR" sz="2400" dirty="0"/>
              <a:t> </a:t>
            </a:r>
            <a:r>
              <a:rPr lang="fr-FR" sz="2400" dirty="0" err="1"/>
              <a:t>properties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/>
              <a:t>Open data/information/science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2400" dirty="0" err="1"/>
              <a:t>Incorporating</a:t>
            </a:r>
            <a:r>
              <a:rPr lang="fr-FR" sz="2400" dirty="0"/>
              <a:t> </a:t>
            </a:r>
            <a:r>
              <a:rPr lang="fr-FR" sz="2400" dirty="0" err="1"/>
              <a:t>lessons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local </a:t>
            </a:r>
            <a:r>
              <a:rPr lang="fr-FR" sz="2400" dirty="0" err="1"/>
              <a:t>experience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prstClr val="white"/>
                </a:solidFill>
                <a:latin typeface="Arial"/>
              </a:rPr>
              <a:t>ORCHIDEE – KEY PRINCIPLES FOR POC IN HOSPITAL-BASED EPIDEMIOLOGICAL SURVEILLANCE : PRAGMATIC AND CONCRETE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213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23" y="1305100"/>
            <a:ext cx="10534439" cy="5164358"/>
          </a:xfrm>
          <a:prstGeom prst="rect">
            <a:avLst/>
          </a:prstGeom>
        </p:spPr>
      </p:pic>
      <p:sp>
        <p:nvSpPr>
          <p:cNvPr id="7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78451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prstClr val="white"/>
                </a:solidFill>
                <a:latin typeface="Arial"/>
              </a:rPr>
              <a:t>CONSORTIUM OF 29 ENTITIES, INCLUDING 25 UNIVERSITY HOSPITALS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363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4991" y="2209087"/>
            <a:ext cx="11184020" cy="3626448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Sustainable national hospital-based epidemiological surveillance system for SARI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Sustainable national hospital-based epidemiological surveillance system for at least one other priority topic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Ability to automatically identify risk factors, determinants, or comorbidities (age, sex, social determinants, chronic disease conditions, etc.) across different hospital sectors</a:t>
            </a:r>
            <a:endParaRPr lang="fr-FR" sz="2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prstClr val="white"/>
                </a:solidFill>
                <a:latin typeface="Arial"/>
              </a:rPr>
              <a:t>ORCHIDEE – WP2 POC : CONTRIBUTION AT THE END OF THE PROJECT (4Y) </a:t>
            </a:r>
          </a:p>
          <a:p>
            <a:r>
              <a:rPr lang="fr-FR" dirty="0" smtClean="0">
                <a:solidFill>
                  <a:prstClr val="white"/>
                </a:solidFill>
                <a:latin typeface="Arial"/>
              </a:rPr>
              <a:t>TO THE NATIONAL EPIDEMIOLOGICAL SYSTEM, INCREASED COMPLEXITY OVERT TIME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186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86764"/>
            <a:ext cx="5436096" cy="523221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latin typeface="Arial"/>
            </a:endParaRPr>
          </a:p>
        </p:txBody>
      </p:sp>
      <p:sp>
        <p:nvSpPr>
          <p:cNvPr id="11" name="Flèche : pentagone 23">
            <a:extLst>
              <a:ext uri="{FF2B5EF4-FFF2-40B4-BE49-F238E27FC236}">
                <a16:creationId xmlns:a16="http://schemas.microsoft.com/office/drawing/2014/main" id="{EBCC5B83-D9F2-675D-4D87-2053BC9745AB}"/>
              </a:ext>
            </a:extLst>
          </p:cNvPr>
          <p:cNvSpPr/>
          <p:nvPr/>
        </p:nvSpPr>
        <p:spPr>
          <a:xfrm>
            <a:off x="0" y="854517"/>
            <a:ext cx="4211960" cy="52322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  <a:latin typeface="Arial"/>
            </a:endParaRP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169683" y="714098"/>
            <a:ext cx="5914449" cy="553701"/>
          </a:xfrm>
        </p:spPr>
        <p:txBody>
          <a:bodyPr/>
          <a:lstStyle/>
          <a:p>
            <a:pPr algn="l"/>
            <a:r>
              <a:rPr lang="fr-FR" sz="1800" b="0" u="none" cap="none" dirty="0">
                <a:solidFill>
                  <a:schemeClr val="bg1"/>
                </a:solidFill>
              </a:rPr>
              <a:t>POC </a:t>
            </a:r>
            <a:r>
              <a:rPr lang="fr-FR" sz="1800" b="0" u="none" cap="none" dirty="0" err="1">
                <a:solidFill>
                  <a:schemeClr val="bg1"/>
                </a:solidFill>
              </a:rPr>
              <a:t>Antimicrobial</a:t>
            </a:r>
            <a:r>
              <a:rPr lang="fr-FR" sz="1800" b="0" u="none" cap="none" dirty="0">
                <a:solidFill>
                  <a:schemeClr val="bg1"/>
                </a:solidFill>
              </a:rPr>
              <a:t> </a:t>
            </a:r>
            <a:r>
              <a:rPr lang="fr-FR" sz="1800" b="0" u="none" cap="none" dirty="0" err="1">
                <a:solidFill>
                  <a:schemeClr val="bg1"/>
                </a:solidFill>
              </a:rPr>
              <a:t>resistance</a:t>
            </a:r>
            <a:endParaRPr lang="fr-FR" sz="1800" b="0" u="none" cap="none" dirty="0">
              <a:solidFill>
                <a:schemeClr val="bg1"/>
              </a:solidFill>
            </a:endParaRPr>
          </a:p>
        </p:txBody>
      </p:sp>
      <p:graphicFrame>
        <p:nvGraphicFramePr>
          <p:cNvPr id="13" name="Espace réservé du contenu 3">
            <a:extLst>
              <a:ext uri="{FF2B5EF4-FFF2-40B4-BE49-F238E27FC236}">
                <a16:creationId xmlns:a16="http://schemas.microsoft.com/office/drawing/2014/main" id="{BA7E1FE0-FE2D-458E-BB81-EF3722109C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8149979"/>
              </p:ext>
            </p:extLst>
          </p:nvPr>
        </p:nvGraphicFramePr>
        <p:xfrm>
          <a:off x="2680859" y="1920240"/>
          <a:ext cx="6794974" cy="4176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991">
                  <a:extLst>
                    <a:ext uri="{9D8B030D-6E8A-4147-A177-3AD203B41FA5}">
                      <a16:colId xmlns:a16="http://schemas.microsoft.com/office/drawing/2014/main" val="311937963"/>
                    </a:ext>
                  </a:extLst>
                </a:gridCol>
                <a:gridCol w="2524377">
                  <a:extLst>
                    <a:ext uri="{9D8B030D-6E8A-4147-A177-3AD203B41FA5}">
                      <a16:colId xmlns:a16="http://schemas.microsoft.com/office/drawing/2014/main" val="1597347594"/>
                    </a:ext>
                  </a:extLst>
                </a:gridCol>
                <a:gridCol w="2005606">
                  <a:extLst>
                    <a:ext uri="{9D8B030D-6E8A-4147-A177-3AD203B41FA5}">
                      <a16:colId xmlns:a16="http://schemas.microsoft.com/office/drawing/2014/main" val="3711812415"/>
                    </a:ext>
                  </a:extLst>
                </a:gridCol>
              </a:tblGrid>
              <a:tr h="496116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Steps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Leaders/composition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Status</a:t>
                      </a:r>
                      <a:r>
                        <a:rPr lang="fr-FR" sz="1600" dirty="0"/>
                        <a:t>, by Nov. 26,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19160"/>
                  </a:ext>
                </a:extLst>
              </a:tr>
              <a:tr h="798665">
                <a:tc>
                  <a:txBody>
                    <a:bodyPr/>
                    <a:lstStyle/>
                    <a:p>
                      <a:r>
                        <a:rPr lang="fr-FR" sz="1400" dirty="0"/>
                        <a:t>Co-leaders DWH : </a:t>
                      </a:r>
                      <a:r>
                        <a:rPr lang="fr-FR" sz="1400" dirty="0" err="1"/>
                        <a:t>informatician</a:t>
                      </a:r>
                      <a:r>
                        <a:rPr lang="fr-FR" sz="1400" dirty="0"/>
                        <a:t>(s) + </a:t>
                      </a:r>
                      <a:r>
                        <a:rPr lang="fr-FR" sz="1400" dirty="0" err="1"/>
                        <a:t>epidemiologiste</a:t>
                      </a:r>
                      <a:r>
                        <a:rPr lang="fr-FR" sz="1400" dirty="0"/>
                        <a:t>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Stefan </a:t>
                      </a:r>
                      <a:r>
                        <a:rPr lang="fr-FR" sz="1400" dirty="0" err="1">
                          <a:solidFill>
                            <a:schemeClr val="tx1"/>
                          </a:solidFill>
                        </a:rPr>
                        <a:t>Darmoni</a:t>
                      </a:r>
                      <a:r>
                        <a:rPr lang="fr-FR" sz="1400" baseline="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fr-FR" sz="1400" baseline="0" dirty="0" err="1">
                          <a:solidFill>
                            <a:schemeClr val="tx1"/>
                          </a:solidFill>
                        </a:rPr>
                        <a:t>Solenn</a:t>
                      </a:r>
                      <a:r>
                        <a:rPr lang="fr-FR" sz="1400" baseline="0" dirty="0">
                          <a:solidFill>
                            <a:schemeClr val="tx1"/>
                          </a:solidFill>
                        </a:rPr>
                        <a:t> Catherine / Jean-Philippe Leroy / Julien Grosjean (CHU Rouen)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Names</a:t>
                      </a:r>
                      <a:r>
                        <a:rPr lang="fr-FR" sz="1400" dirty="0"/>
                        <a:t> to </a:t>
                      </a:r>
                      <a:r>
                        <a:rPr lang="fr-FR" sz="1400" dirty="0" err="1"/>
                        <a:t>be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completed</a:t>
                      </a:r>
                      <a:r>
                        <a:rPr lang="fr-FR" sz="1400" dirty="0"/>
                        <a:t> (EPI)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607721"/>
                  </a:ext>
                </a:extLst>
              </a:tr>
              <a:tr h="798665">
                <a:tc>
                  <a:txBody>
                    <a:bodyPr/>
                    <a:lstStyle/>
                    <a:p>
                      <a:r>
                        <a:rPr lang="fr-FR" sz="1400" dirty="0"/>
                        <a:t>Représentatives </a:t>
                      </a:r>
                      <a:r>
                        <a:rPr lang="fr-FR" sz="1400" dirty="0" err="1"/>
                        <a:t>SpF</a:t>
                      </a:r>
                      <a:r>
                        <a:rPr lang="fr-FR" sz="1400" dirty="0"/>
                        <a:t>-N and </a:t>
                      </a:r>
                      <a:r>
                        <a:rPr lang="fr-FR" sz="1400" dirty="0" err="1"/>
                        <a:t>SpF</a:t>
                      </a:r>
                      <a:r>
                        <a:rPr lang="fr-FR" sz="1400" dirty="0"/>
                        <a:t>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Ghaya</a:t>
                      </a: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 </a:t>
                      </a:r>
                      <a:r>
                        <a:rPr lang="fr-F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Hmidene</a:t>
                      </a: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Marion </a:t>
                      </a:r>
                      <a:r>
                        <a:rPr lang="fr-F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Opatowski</a:t>
                      </a: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SpF</a:t>
                      </a: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-N  DMI)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Names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1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SpF</a:t>
                      </a:r>
                      <a:r>
                        <a:rPr lang="fr-FR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-R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661391"/>
                  </a:ext>
                </a:extLst>
              </a:tr>
              <a:tr h="798665">
                <a:tc>
                  <a:txBody>
                    <a:bodyPr/>
                    <a:lstStyle/>
                    <a:p>
                      <a:r>
                        <a:rPr lang="fr-FR" sz="1400" dirty="0"/>
                        <a:t>Mission-</a:t>
                      </a:r>
                      <a:r>
                        <a:rPr lang="fr-FR" sz="1400" dirty="0" err="1"/>
                        <a:t>driven</a:t>
                      </a:r>
                      <a:r>
                        <a:rPr lang="fr-FR" sz="1400" dirty="0"/>
                        <a:t> institutions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Catherine </a:t>
                      </a:r>
                      <a:r>
                        <a:rPr lang="fr-F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Dumartin</a:t>
                      </a:r>
                      <a:r>
                        <a:rPr lang="fr-FR" sz="1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Cpias</a:t>
                      </a: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NAQ, mission SPARES)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To </a:t>
                      </a:r>
                      <a:r>
                        <a:rPr lang="fr-FR" sz="1400" dirty="0" err="1"/>
                        <a:t>be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determined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01273"/>
                  </a:ext>
                </a:extLst>
              </a:tr>
              <a:tr h="323903">
                <a:tc>
                  <a:txBody>
                    <a:bodyPr/>
                    <a:lstStyle/>
                    <a:p>
                      <a:r>
                        <a:rPr lang="fr-FR" sz="1400" dirty="0" err="1"/>
                        <a:t>Contributors</a:t>
                      </a:r>
                      <a:r>
                        <a:rPr lang="fr-FR" sz="1400" dirty="0"/>
                        <a:t> DWH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Sandra Fournier / Flavie </a:t>
                      </a:r>
                      <a:r>
                        <a:rPr lang="fr-FR" sz="1400" dirty="0" err="1">
                          <a:solidFill>
                            <a:schemeClr val="tx1"/>
                          </a:solidFill>
                        </a:rPr>
                        <a:t>Lecuyer</a:t>
                      </a:r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 / Jérôme Bidault (AP-HP)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Names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to </a:t>
                      </a: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be</a:t>
                      </a:r>
                      <a:r>
                        <a:rPr kumimoji="0" lang="fr-F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F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4D4D4F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completed</a:t>
                      </a:r>
                      <a:endParaRPr kumimoji="0" lang="fr-F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D4D4F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84592"/>
                  </a:ext>
                </a:extLst>
              </a:tr>
              <a:tr h="323903">
                <a:tc>
                  <a:txBody>
                    <a:bodyPr/>
                    <a:lstStyle/>
                    <a:p>
                      <a:r>
                        <a:rPr lang="fr-FR" sz="1400" dirty="0"/>
                        <a:t>Experts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To </a:t>
                      </a:r>
                      <a:r>
                        <a:rPr lang="fr-FR" sz="1400" dirty="0" err="1"/>
                        <a:t>be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determined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896674"/>
                  </a:ext>
                </a:extLst>
              </a:tr>
            </a:tbl>
          </a:graphicData>
        </a:graphic>
      </p:graphicFrame>
      <p:sp>
        <p:nvSpPr>
          <p:cNvPr id="14" name="Titre 4">
            <a:extLst>
              <a:ext uri="{FF2B5EF4-FFF2-40B4-BE49-F238E27FC236}">
                <a16:creationId xmlns:a16="http://schemas.microsoft.com/office/drawing/2014/main" id="{2EC7BC91-032B-1662-EFC0-BFD1A1899BF4}"/>
              </a:ext>
            </a:extLst>
          </p:cNvPr>
          <p:cNvSpPr txBox="1">
            <a:spLocks/>
          </p:cNvSpPr>
          <p:nvPr/>
        </p:nvSpPr>
        <p:spPr>
          <a:xfrm>
            <a:off x="89721" y="545491"/>
            <a:ext cx="511256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000" cap="none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sz="1800" b="0" cap="none" dirty="0" smtClean="0">
                <a:solidFill>
                  <a:prstClr val="white"/>
                </a:solidFill>
                <a:latin typeface="Arial"/>
              </a:rPr>
              <a:t>COMPOSITION OF WORKING GROUP</a:t>
            </a:r>
            <a:r>
              <a:rPr lang="fr-FR" sz="1800" b="0" cap="none" dirty="0">
                <a:solidFill>
                  <a:prstClr val="white"/>
                </a:solidFill>
                <a:latin typeface="Arial"/>
              </a:rPr>
              <a:t/>
            </a:r>
            <a:br>
              <a:rPr lang="fr-FR" sz="1800" b="0" cap="none" dirty="0">
                <a:solidFill>
                  <a:prstClr val="white"/>
                </a:solidFill>
                <a:latin typeface="Arial"/>
              </a:rPr>
            </a:br>
            <a:endParaRPr lang="fr-FR" sz="1800" b="0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342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6F377E7-8CA1-45CE-A038-72B4E06B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373" y="1551430"/>
            <a:ext cx="9934618" cy="149482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F575AB1-9A0F-475C-9940-06E038938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373" y="2973441"/>
            <a:ext cx="9802338" cy="8466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AF92D5D-A14D-4A26-AB1A-D6BAB2443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593" y="3978808"/>
            <a:ext cx="9881708" cy="489456"/>
          </a:xfrm>
          <a:prstGeom prst="rect">
            <a:avLst/>
          </a:prstGeom>
        </p:spPr>
      </p:pic>
      <p:sp>
        <p:nvSpPr>
          <p:cNvPr id="8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69891"/>
            <a:ext cx="8828116" cy="727388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prstClr val="white"/>
                </a:solidFill>
                <a:latin typeface="Arial"/>
              </a:rPr>
              <a:t>INDICATOR ID TEMPLATE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26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23EB461-86B3-4307-B3A7-F79F95E4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392" y="1047359"/>
            <a:ext cx="5210213" cy="5581691"/>
          </a:xfrm>
          <a:prstGeom prst="rect">
            <a:avLst/>
          </a:prstGeom>
        </p:spPr>
      </p:pic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70139"/>
            <a:ext cx="8828116" cy="727388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prstClr val="white"/>
                </a:solidFill>
                <a:latin typeface="Arial"/>
              </a:rPr>
              <a:t>INDICATOR ID TEMPLATE : GENERAL DEFINITION</a:t>
            </a:r>
            <a:endParaRPr lang="fr-FR" dirty="0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765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Connecteur droit 28"/>
          <p:cNvCxnSpPr/>
          <p:nvPr/>
        </p:nvCxnSpPr>
        <p:spPr>
          <a:xfrm>
            <a:off x="3602019" y="4208344"/>
            <a:ext cx="5906735" cy="12282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re 1"/>
          <p:cNvSpPr txBox="1">
            <a:spLocks/>
          </p:cNvSpPr>
          <p:nvPr/>
        </p:nvSpPr>
        <p:spPr>
          <a:xfrm>
            <a:off x="5423287" y="1206470"/>
            <a:ext cx="2266434" cy="383830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1800" u="sng" cap="none" dirty="0">
                <a:solidFill>
                  <a:schemeClr val="tx1"/>
                </a:solidFill>
              </a:rPr>
              <a:t> </a:t>
            </a:r>
            <a:br>
              <a:rPr lang="fr-FR" sz="1800" u="sng" cap="none" dirty="0">
                <a:solidFill>
                  <a:schemeClr val="tx1"/>
                </a:solidFill>
              </a:rPr>
            </a:br>
            <a:r>
              <a:rPr lang="fr-FR" sz="1800" u="sng" cap="none" dirty="0" err="1">
                <a:solidFill>
                  <a:schemeClr val="tx1"/>
                </a:solidFill>
              </a:rPr>
              <a:t>Years</a:t>
            </a:r>
            <a:r>
              <a:rPr lang="fr-FR" sz="1800" u="sng" cap="none" dirty="0">
                <a:solidFill>
                  <a:schemeClr val="tx1"/>
                </a:solidFill>
              </a:rPr>
              <a:t> </a:t>
            </a:r>
            <a:r>
              <a:rPr lang="fr-FR" sz="1800" u="sng" cap="none" dirty="0" smtClean="0">
                <a:solidFill>
                  <a:schemeClr val="tx1"/>
                </a:solidFill>
              </a:rPr>
              <a:t>2024 </a:t>
            </a:r>
            <a:r>
              <a:rPr lang="fr-FR" sz="1800" u="sng" cap="none" dirty="0">
                <a:solidFill>
                  <a:schemeClr val="tx1"/>
                </a:solidFill>
              </a:rPr>
              <a:t>- 2028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684261" y="4223894"/>
            <a:ext cx="863501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rme libre 8"/>
          <p:cNvSpPr/>
          <p:nvPr/>
        </p:nvSpPr>
        <p:spPr>
          <a:xfrm>
            <a:off x="3534481" y="2875990"/>
            <a:ext cx="421363" cy="1125550"/>
          </a:xfrm>
          <a:custGeom>
            <a:avLst/>
            <a:gdLst>
              <a:gd name="connsiteX0" fmla="*/ 39703 w 490371"/>
              <a:gd name="connsiteY0" fmla="*/ 1626376 h 1626376"/>
              <a:gd name="connsiteX1" fmla="*/ 32723 w 490371"/>
              <a:gd name="connsiteY1" fmla="*/ 691035 h 1626376"/>
              <a:gd name="connsiteX2" fmla="*/ 395691 w 490371"/>
              <a:gd name="connsiteY2" fmla="*/ 684055 h 1626376"/>
              <a:gd name="connsiteX3" fmla="*/ 486433 w 490371"/>
              <a:gd name="connsiteY3" fmla="*/ 160544 h 1626376"/>
              <a:gd name="connsiteX4" fmla="*/ 465492 w 490371"/>
              <a:gd name="connsiteY4" fmla="*/ 0 h 162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371" h="1626376">
                <a:moveTo>
                  <a:pt x="39703" y="1626376"/>
                </a:moveTo>
                <a:cubicBezTo>
                  <a:pt x="6547" y="1237232"/>
                  <a:pt x="-26608" y="848088"/>
                  <a:pt x="32723" y="691035"/>
                </a:cubicBezTo>
                <a:cubicBezTo>
                  <a:pt x="92054" y="533982"/>
                  <a:pt x="320073" y="772470"/>
                  <a:pt x="395691" y="684055"/>
                </a:cubicBezTo>
                <a:cubicBezTo>
                  <a:pt x="471309" y="595640"/>
                  <a:pt x="474800" y="274553"/>
                  <a:pt x="486433" y="160544"/>
                </a:cubicBezTo>
                <a:cubicBezTo>
                  <a:pt x="498066" y="46535"/>
                  <a:pt x="481779" y="23267"/>
                  <a:pt x="465492" y="0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2919620" y="4638282"/>
            <a:ext cx="1256283" cy="368922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cap="none" dirty="0" smtClean="0">
                <a:solidFill>
                  <a:schemeClr val="tx1"/>
                </a:solidFill>
              </a:rPr>
              <a:t>2024/2025</a:t>
            </a:r>
            <a:endParaRPr lang="fr-FR" sz="1400" cap="none" dirty="0">
              <a:solidFill>
                <a:schemeClr val="tx1"/>
              </a:solidFill>
            </a:endParaRPr>
          </a:p>
        </p:txBody>
      </p:sp>
      <p:sp>
        <p:nvSpPr>
          <p:cNvPr id="28" name="Titre 1"/>
          <p:cNvSpPr txBox="1">
            <a:spLocks/>
          </p:cNvSpPr>
          <p:nvPr/>
        </p:nvSpPr>
        <p:spPr>
          <a:xfrm>
            <a:off x="7950939" y="4588722"/>
            <a:ext cx="1256283" cy="368922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cap="none" dirty="0" smtClean="0">
                <a:solidFill>
                  <a:schemeClr val="tx1"/>
                </a:solidFill>
              </a:rPr>
              <a:t>2025/2028</a:t>
            </a:r>
            <a:endParaRPr lang="fr-FR" sz="1400" cap="none" dirty="0">
              <a:solidFill>
                <a:schemeClr val="tx1"/>
              </a:solidFill>
            </a:endParaRPr>
          </a:p>
        </p:txBody>
      </p:sp>
      <p:sp>
        <p:nvSpPr>
          <p:cNvPr id="33" name="Forme libre 32"/>
          <p:cNvSpPr/>
          <p:nvPr/>
        </p:nvSpPr>
        <p:spPr>
          <a:xfrm rot="10436088">
            <a:off x="5852739" y="4457065"/>
            <a:ext cx="421363" cy="1125550"/>
          </a:xfrm>
          <a:custGeom>
            <a:avLst/>
            <a:gdLst>
              <a:gd name="connsiteX0" fmla="*/ 39703 w 490371"/>
              <a:gd name="connsiteY0" fmla="*/ 1626376 h 1626376"/>
              <a:gd name="connsiteX1" fmla="*/ 32723 w 490371"/>
              <a:gd name="connsiteY1" fmla="*/ 691035 h 1626376"/>
              <a:gd name="connsiteX2" fmla="*/ 395691 w 490371"/>
              <a:gd name="connsiteY2" fmla="*/ 684055 h 1626376"/>
              <a:gd name="connsiteX3" fmla="*/ 486433 w 490371"/>
              <a:gd name="connsiteY3" fmla="*/ 160544 h 1626376"/>
              <a:gd name="connsiteX4" fmla="*/ 465492 w 490371"/>
              <a:gd name="connsiteY4" fmla="*/ 0 h 162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371" h="1626376">
                <a:moveTo>
                  <a:pt x="39703" y="1626376"/>
                </a:moveTo>
                <a:cubicBezTo>
                  <a:pt x="6547" y="1237232"/>
                  <a:pt x="-26608" y="848088"/>
                  <a:pt x="32723" y="691035"/>
                </a:cubicBezTo>
                <a:cubicBezTo>
                  <a:pt x="92054" y="533982"/>
                  <a:pt x="320073" y="772470"/>
                  <a:pt x="395691" y="684055"/>
                </a:cubicBezTo>
                <a:cubicBezTo>
                  <a:pt x="471309" y="595640"/>
                  <a:pt x="474800" y="274553"/>
                  <a:pt x="486433" y="160544"/>
                </a:cubicBezTo>
                <a:cubicBezTo>
                  <a:pt x="498066" y="46535"/>
                  <a:pt x="481779" y="23267"/>
                  <a:pt x="465492" y="0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orme libre 34"/>
          <p:cNvSpPr/>
          <p:nvPr/>
        </p:nvSpPr>
        <p:spPr>
          <a:xfrm>
            <a:off x="8540203" y="3279224"/>
            <a:ext cx="421363" cy="718268"/>
          </a:xfrm>
          <a:custGeom>
            <a:avLst/>
            <a:gdLst>
              <a:gd name="connsiteX0" fmla="*/ 39703 w 490371"/>
              <a:gd name="connsiteY0" fmla="*/ 1626376 h 1626376"/>
              <a:gd name="connsiteX1" fmla="*/ 32723 w 490371"/>
              <a:gd name="connsiteY1" fmla="*/ 691035 h 1626376"/>
              <a:gd name="connsiteX2" fmla="*/ 395691 w 490371"/>
              <a:gd name="connsiteY2" fmla="*/ 684055 h 1626376"/>
              <a:gd name="connsiteX3" fmla="*/ 486433 w 490371"/>
              <a:gd name="connsiteY3" fmla="*/ 160544 h 1626376"/>
              <a:gd name="connsiteX4" fmla="*/ 465492 w 490371"/>
              <a:gd name="connsiteY4" fmla="*/ 0 h 162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371" h="1626376">
                <a:moveTo>
                  <a:pt x="39703" y="1626376"/>
                </a:moveTo>
                <a:cubicBezTo>
                  <a:pt x="6547" y="1237232"/>
                  <a:pt x="-26608" y="848088"/>
                  <a:pt x="32723" y="691035"/>
                </a:cubicBezTo>
                <a:cubicBezTo>
                  <a:pt x="92054" y="533982"/>
                  <a:pt x="320073" y="772470"/>
                  <a:pt x="395691" y="684055"/>
                </a:cubicBezTo>
                <a:cubicBezTo>
                  <a:pt x="471309" y="595640"/>
                  <a:pt x="474800" y="274553"/>
                  <a:pt x="486433" y="160544"/>
                </a:cubicBezTo>
                <a:cubicBezTo>
                  <a:pt x="498066" y="46535"/>
                  <a:pt x="481779" y="23267"/>
                  <a:pt x="465492" y="0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itre 1"/>
          <p:cNvSpPr txBox="1">
            <a:spLocks/>
          </p:cNvSpPr>
          <p:nvPr/>
        </p:nvSpPr>
        <p:spPr>
          <a:xfrm>
            <a:off x="2919619" y="1975812"/>
            <a:ext cx="2086184" cy="78478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cap="none" dirty="0" smtClean="0">
                <a:solidFill>
                  <a:srgbClr val="DC246A"/>
                </a:solidFill>
              </a:rPr>
              <a:t>CONSUMPTION (based on delivery)</a:t>
            </a:r>
            <a:endParaRPr lang="fr-FR" sz="1800" cap="none" dirty="0">
              <a:solidFill>
                <a:srgbClr val="DC246A"/>
              </a:solidFill>
            </a:endParaRPr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885864" y="5432094"/>
            <a:ext cx="2271842" cy="894261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cap="none" dirty="0" smtClean="0">
                <a:solidFill>
                  <a:srgbClr val="DC246A"/>
                </a:solidFill>
              </a:rPr>
              <a:t>STOP EXTRAPOLATING</a:t>
            </a:r>
            <a:endParaRPr lang="fr-FR" sz="1800" cap="none" dirty="0">
              <a:solidFill>
                <a:srgbClr val="DC246A"/>
              </a:solidFill>
            </a:endParaRPr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7752185" y="1484784"/>
            <a:ext cx="2807819" cy="1659855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800" cap="none" dirty="0">
                <a:solidFill>
                  <a:srgbClr val="DC246A"/>
                </a:solidFill>
              </a:rPr>
              <a:t>DISPENSING (</a:t>
            </a:r>
            <a:r>
              <a:rPr lang="fr-FR" sz="1800" cap="none" dirty="0" err="1">
                <a:solidFill>
                  <a:srgbClr val="DC246A"/>
                </a:solidFill>
              </a:rPr>
              <a:t>based</a:t>
            </a:r>
            <a:r>
              <a:rPr lang="fr-FR" sz="1800" cap="none" dirty="0">
                <a:solidFill>
                  <a:srgbClr val="DC246A"/>
                </a:solidFill>
              </a:rPr>
              <a:t> on real-life </a:t>
            </a:r>
            <a:r>
              <a:rPr lang="fr-FR" sz="1800" cap="none" dirty="0" smtClean="0">
                <a:solidFill>
                  <a:srgbClr val="DC246A"/>
                </a:solidFill>
              </a:rPr>
              <a:t>data)</a:t>
            </a:r>
            <a:endParaRPr lang="fr-FR" sz="1800" cap="none" dirty="0">
              <a:solidFill>
                <a:srgbClr val="DC24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433010" y="4038681"/>
            <a:ext cx="370131" cy="349662"/>
          </a:xfrm>
          <a:prstGeom prst="rect">
            <a:avLst/>
          </a:prstGeom>
          <a:solidFill>
            <a:srgbClr val="AB7D87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8477889" y="4098414"/>
            <a:ext cx="260904" cy="219861"/>
          </a:xfrm>
          <a:prstGeom prst="rect">
            <a:avLst/>
          </a:prstGeom>
          <a:solidFill>
            <a:srgbClr val="DC2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5983833" y="3999934"/>
            <a:ext cx="370131" cy="349662"/>
          </a:xfrm>
          <a:prstGeom prst="rect">
            <a:avLst/>
          </a:prstGeom>
          <a:solidFill>
            <a:srgbClr val="AB7D87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6028712" y="4059667"/>
            <a:ext cx="260904" cy="219861"/>
          </a:xfrm>
          <a:prstGeom prst="rect">
            <a:avLst/>
          </a:prstGeom>
          <a:solidFill>
            <a:srgbClr val="DC2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3387956" y="4038681"/>
            <a:ext cx="370131" cy="349662"/>
          </a:xfrm>
          <a:prstGeom prst="rect">
            <a:avLst/>
          </a:prstGeom>
          <a:solidFill>
            <a:srgbClr val="AB7D87">
              <a:alpha val="4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3432835" y="4098414"/>
            <a:ext cx="260904" cy="219861"/>
          </a:xfrm>
          <a:prstGeom prst="rect">
            <a:avLst/>
          </a:prstGeom>
          <a:solidFill>
            <a:srgbClr val="DC2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DC246A"/>
              </a:solidFill>
            </a:endParaRPr>
          </a:p>
        </p:txBody>
      </p:sp>
      <p:sp>
        <p:nvSpPr>
          <p:cNvPr id="47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70138"/>
            <a:ext cx="836260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itre 4"/>
          <p:cNvSpPr txBox="1">
            <a:spLocks/>
          </p:cNvSpPr>
          <p:nvPr/>
        </p:nvSpPr>
        <p:spPr>
          <a:xfrm>
            <a:off x="58189" y="399630"/>
            <a:ext cx="849560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0" cap="none" dirty="0" smtClean="0">
                <a:solidFill>
                  <a:schemeClr val="bg1"/>
                </a:solidFill>
              </a:rPr>
              <a:t>MONITORING</a:t>
            </a:r>
            <a:r>
              <a:rPr lang="en-US" sz="2000" cap="none" dirty="0" smtClean="0">
                <a:solidFill>
                  <a:schemeClr val="bg1"/>
                </a:solidFill>
              </a:rPr>
              <a:t> ANTIBIOTIC RESISTANCE : CURRENT SITUATION AND OUTLOOK</a:t>
            </a:r>
            <a:endParaRPr lang="en-US" sz="20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15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11949"/>
            <a:ext cx="989214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/>
              <a:t>NATIONAL STRATEGY 2022-2025 </a:t>
            </a:r>
            <a:r>
              <a:rPr lang="fr-FR" dirty="0" err="1" smtClean="0"/>
              <a:t>foR</a:t>
            </a:r>
            <a:r>
              <a:rPr lang="fr-FR" dirty="0" smtClean="0"/>
              <a:t> THE PREVENTION OF INFECTIONS AND ANTIBIOTIC RESISTANCE </a:t>
            </a:r>
            <a:endParaRPr lang="fr-FR" dirty="0"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65017" y="1695796"/>
            <a:ext cx="8711739" cy="2452457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78613" y="4131425"/>
            <a:ext cx="8598392" cy="2502131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670878" y="1014153"/>
            <a:ext cx="8589501" cy="64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559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293</Words>
  <Application>Microsoft Office PowerPoint</Application>
  <PresentationFormat>Grand écran</PresentationFormat>
  <Paragraphs>46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Thème Office</vt:lpstr>
      <vt:lpstr>1_SPF_PPT_Test-v3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CATHERINE, Solenn</cp:lastModifiedBy>
  <cp:revision>14</cp:revision>
  <dcterms:created xsi:type="dcterms:W3CDTF">2024-12-09T16:07:46Z</dcterms:created>
  <dcterms:modified xsi:type="dcterms:W3CDTF">2024-12-10T13:51:04Z</dcterms:modified>
</cp:coreProperties>
</file>