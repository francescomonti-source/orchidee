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sldIdLst>
    <p:sldId id="257" r:id="rId3"/>
    <p:sldId id="259" r:id="rId4"/>
    <p:sldId id="274" r:id="rId5"/>
    <p:sldId id="275" r:id="rId6"/>
    <p:sldId id="258" r:id="rId7"/>
    <p:sldId id="268" r:id="rId8"/>
    <p:sldId id="278" r:id="rId9"/>
    <p:sldId id="264" r:id="rId10"/>
    <p:sldId id="271" r:id="rId11"/>
    <p:sldId id="283" r:id="rId12"/>
    <p:sldId id="281" r:id="rId13"/>
    <p:sldId id="295" r:id="rId14"/>
    <p:sldId id="284" r:id="rId15"/>
    <p:sldId id="285" r:id="rId16"/>
    <p:sldId id="286" r:id="rId17"/>
    <p:sldId id="287" r:id="rId18"/>
    <p:sldId id="292" r:id="rId19"/>
    <p:sldId id="293" r:id="rId20"/>
    <p:sldId id="294" r:id="rId21"/>
    <p:sldId id="296" r:id="rId22"/>
    <p:sldId id="288" r:id="rId23"/>
    <p:sldId id="280" r:id="rId24"/>
    <p:sldId id="282" r:id="rId25"/>
    <p:sldId id="273" r:id="rId26"/>
    <p:sldId id="272" r:id="rId27"/>
    <p:sldId id="297" r:id="rId28"/>
    <p:sldId id="289" r:id="rId2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006093@adm.chu-rouen.lan" initials="P" lastIdx="1" clrIdx="0">
    <p:extLst>
      <p:ext uri="{19B8F6BF-5375-455C-9EA6-DF929625EA0E}">
        <p15:presenceInfo xmlns:p15="http://schemas.microsoft.com/office/powerpoint/2012/main" userId="S-1-5-21-1321665950-11692542-1221738049-5191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2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6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commentAuthors" Target="commentAuthors.xml"/><Relationship Id="rId8" Type="http://schemas.openxmlformats.org/officeDocument/2006/relationships/slide" Target="slides/slide6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view3D>
      <c:rotX val="30"/>
      <c:rotY val="0"/>
      <c:rAngAx val="0"/>
    </c:view3D>
    <c:floor>
      <c:thickness val="0"/>
    </c:floor>
    <c:sideWall>
      <c:thickness val="0"/>
    </c:sideWall>
    <c:backWall>
      <c:thickness val="0"/>
    </c:backWall>
    <c:plotArea>
      <c:layout/>
      <c:pie3D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Ventes</c:v>
                </c:pt>
              </c:strCache>
            </c:strRef>
          </c:tx>
          <c:cat>
            <c:strRef>
              <c:f>Feuil1!$A$2:$A$5</c:f>
              <c:strCache>
                <c:ptCount val="4"/>
                <c:pt idx="0">
                  <c:v>1er trim.</c:v>
                </c:pt>
                <c:pt idx="1">
                  <c:v>2e trim.</c:v>
                </c:pt>
                <c:pt idx="2">
                  <c:v>3e trim.</c:v>
                </c:pt>
                <c:pt idx="3">
                  <c:v>4e trim.</c:v>
                </c:pt>
              </c:strCache>
            </c:strRef>
          </c:cat>
          <c:val>
            <c:numRef>
              <c:f>Feuil1!$B$2:$B$5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10-49B8-A3E0-DE08BC7C47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5F0C7F-DC96-4FFB-A968-514013D5FDBE}" type="doc">
      <dgm:prSet loTypeId="urn:microsoft.com/office/officeart/2009/layout/CircleArrow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4474345C-BAE1-4E5A-AB0F-56BDEF280EC1}">
      <dgm:prSet phldrT="[Texte]"/>
      <dgm:spPr/>
      <dgm:t>
        <a:bodyPr/>
        <a:lstStyle/>
        <a:p>
          <a:r>
            <a:rPr lang="fr-FR" b="1" dirty="0" smtClean="0"/>
            <a:t>Expression de besoins </a:t>
          </a:r>
          <a:r>
            <a:rPr lang="fr-FR" b="1" dirty="0" err="1" smtClean="0"/>
            <a:t>SpF</a:t>
          </a:r>
          <a:r>
            <a:rPr lang="fr-FR" b="1" dirty="0" smtClean="0"/>
            <a:t> et élaboration d’une 1</a:t>
          </a:r>
          <a:r>
            <a:rPr lang="fr-FR" b="1" baseline="30000" dirty="0" smtClean="0"/>
            <a:t>ère</a:t>
          </a:r>
          <a:r>
            <a:rPr lang="fr-FR" b="1" dirty="0" smtClean="0"/>
            <a:t> série d’indicateurs (Rouen/</a:t>
          </a:r>
          <a:r>
            <a:rPr lang="fr-FR" b="1" dirty="0" err="1" smtClean="0"/>
            <a:t>SpF</a:t>
          </a:r>
          <a:r>
            <a:rPr lang="fr-FR" b="1" dirty="0" smtClean="0"/>
            <a:t>)</a:t>
          </a:r>
          <a:endParaRPr lang="fr-FR" b="1" dirty="0"/>
        </a:p>
      </dgm:t>
    </dgm:pt>
    <dgm:pt modelId="{0529C8A3-2C57-48C4-990E-7D0498687F37}" type="parTrans" cxnId="{41922808-66DD-499F-B904-22EE07F06C77}">
      <dgm:prSet/>
      <dgm:spPr/>
      <dgm:t>
        <a:bodyPr/>
        <a:lstStyle/>
        <a:p>
          <a:endParaRPr lang="fr-FR"/>
        </a:p>
      </dgm:t>
    </dgm:pt>
    <dgm:pt modelId="{127543F3-D7DD-47B9-973E-856E91D2BEB2}" type="sibTrans" cxnId="{41922808-66DD-499F-B904-22EE07F06C77}">
      <dgm:prSet/>
      <dgm:spPr/>
      <dgm:t>
        <a:bodyPr/>
        <a:lstStyle/>
        <a:p>
          <a:endParaRPr lang="fr-FR"/>
        </a:p>
      </dgm:t>
    </dgm:pt>
    <dgm:pt modelId="{64592C92-76DD-47FB-8C04-8205843BE1AD}">
      <dgm:prSet phldrT="[Texte]"/>
      <dgm:spPr/>
      <dgm:t>
        <a:bodyPr/>
        <a:lstStyle/>
        <a:p>
          <a:r>
            <a:rPr lang="fr-FR" b="1" dirty="0" smtClean="0">
              <a:solidFill>
                <a:schemeClr val="tx1"/>
              </a:solidFill>
            </a:rPr>
            <a:t>Choix et priorisation des indicateurs en GT</a:t>
          </a:r>
          <a:endParaRPr lang="fr-FR" b="1" dirty="0">
            <a:solidFill>
              <a:schemeClr val="tx1"/>
            </a:solidFill>
          </a:endParaRPr>
        </a:p>
      </dgm:t>
    </dgm:pt>
    <dgm:pt modelId="{BDCB47D6-F7E4-4B16-832B-D748CE01969A}" type="parTrans" cxnId="{AD2C778B-56E4-4AE1-BCD4-CFBDD431BE4B}">
      <dgm:prSet/>
      <dgm:spPr/>
      <dgm:t>
        <a:bodyPr/>
        <a:lstStyle/>
        <a:p>
          <a:endParaRPr lang="fr-FR"/>
        </a:p>
      </dgm:t>
    </dgm:pt>
    <dgm:pt modelId="{9EF3ABF9-2E49-405F-9DD9-D85CBF653E1F}" type="sibTrans" cxnId="{AD2C778B-56E4-4AE1-BCD4-CFBDD431BE4B}">
      <dgm:prSet/>
      <dgm:spPr/>
      <dgm:t>
        <a:bodyPr/>
        <a:lstStyle/>
        <a:p>
          <a:endParaRPr lang="fr-FR"/>
        </a:p>
      </dgm:t>
    </dgm:pt>
    <dgm:pt modelId="{29EE08AF-E3A3-45F5-8A18-C454438F0F55}">
      <dgm:prSet phldrT="[Texte]"/>
      <dgm:spPr/>
      <dgm:t>
        <a:bodyPr/>
        <a:lstStyle/>
        <a:p>
          <a:r>
            <a:rPr lang="fr-FR" dirty="0" smtClean="0"/>
            <a:t>Deuxième vague d’indicateurs</a:t>
          </a:r>
          <a:endParaRPr lang="fr-FR" b="1" dirty="0"/>
        </a:p>
      </dgm:t>
    </dgm:pt>
    <dgm:pt modelId="{F48775B0-3072-499F-8820-0AAFEE2688AF}" type="parTrans" cxnId="{B3A32BD3-3B64-473B-AEA1-3F3BEC553797}">
      <dgm:prSet/>
      <dgm:spPr/>
      <dgm:t>
        <a:bodyPr/>
        <a:lstStyle/>
        <a:p>
          <a:endParaRPr lang="fr-FR"/>
        </a:p>
      </dgm:t>
    </dgm:pt>
    <dgm:pt modelId="{80993896-228D-4006-A509-3922575DCF0D}" type="sibTrans" cxnId="{B3A32BD3-3B64-473B-AEA1-3F3BEC553797}">
      <dgm:prSet/>
      <dgm:spPr/>
      <dgm:t>
        <a:bodyPr/>
        <a:lstStyle/>
        <a:p>
          <a:endParaRPr lang="fr-FR"/>
        </a:p>
      </dgm:t>
    </dgm:pt>
    <dgm:pt modelId="{773EBA70-9196-4B8B-80FA-E43CAAEC0932}">
      <dgm:prSet/>
      <dgm:spPr/>
      <dgm:t>
        <a:bodyPr/>
        <a:lstStyle/>
        <a:p>
          <a:endParaRPr lang="fr-FR"/>
        </a:p>
      </dgm:t>
    </dgm:pt>
    <dgm:pt modelId="{06BC2A55-08DA-433A-B511-96BF8A8C87DA}" type="parTrans" cxnId="{8A609271-79BB-46D4-8C57-595714EB2AE8}">
      <dgm:prSet/>
      <dgm:spPr/>
      <dgm:t>
        <a:bodyPr/>
        <a:lstStyle/>
        <a:p>
          <a:endParaRPr lang="fr-FR"/>
        </a:p>
      </dgm:t>
    </dgm:pt>
    <dgm:pt modelId="{D38BFD6B-B62C-4949-8EBA-5DCF45094F15}" type="sibTrans" cxnId="{8A609271-79BB-46D4-8C57-595714EB2AE8}">
      <dgm:prSet/>
      <dgm:spPr/>
      <dgm:t>
        <a:bodyPr/>
        <a:lstStyle/>
        <a:p>
          <a:endParaRPr lang="fr-FR"/>
        </a:p>
      </dgm:t>
    </dgm:pt>
    <dgm:pt modelId="{B69850AC-D5B8-443A-BEA8-994A4819D970}">
      <dgm:prSet custT="1"/>
      <dgm:spPr/>
      <dgm:t>
        <a:bodyPr/>
        <a:lstStyle/>
        <a:p>
          <a:r>
            <a:rPr lang="fr-FR" sz="800" b="1" dirty="0" smtClean="0">
              <a:solidFill>
                <a:schemeClr val="tx1"/>
              </a:solidFill>
              <a:latin typeface="+mn-lt"/>
            </a:rPr>
            <a:t>Production et livraison au HDH d’un algorithme qui tourne en local pour adaptation et diffusion aux autres EDSH</a:t>
          </a:r>
          <a:endParaRPr lang="fr-FR" sz="800" b="1" dirty="0">
            <a:solidFill>
              <a:schemeClr val="tx1"/>
            </a:solidFill>
            <a:latin typeface="+mn-lt"/>
          </a:endParaRPr>
        </a:p>
      </dgm:t>
    </dgm:pt>
    <dgm:pt modelId="{6E9CDB3E-92E8-4F59-8D8C-279F69CF2D69}" type="parTrans" cxnId="{EFAE9AF4-406A-4A0C-978F-C0C89FF99192}">
      <dgm:prSet/>
      <dgm:spPr/>
      <dgm:t>
        <a:bodyPr/>
        <a:lstStyle/>
        <a:p>
          <a:endParaRPr lang="fr-FR"/>
        </a:p>
      </dgm:t>
    </dgm:pt>
    <dgm:pt modelId="{02E9E308-A1EF-484B-985E-BCDC5F70A5E3}" type="sibTrans" cxnId="{EFAE9AF4-406A-4A0C-978F-C0C89FF99192}">
      <dgm:prSet/>
      <dgm:spPr/>
      <dgm:t>
        <a:bodyPr/>
        <a:lstStyle/>
        <a:p>
          <a:endParaRPr lang="fr-FR"/>
        </a:p>
      </dgm:t>
    </dgm:pt>
    <dgm:pt modelId="{F844C7CC-5F2C-4E4F-A9E9-F0B1DCAA1405}" type="pres">
      <dgm:prSet presAssocID="{1A5F0C7F-DC96-4FFB-A968-514013D5FDBE}" presName="Name0" presStyleCnt="0">
        <dgm:presLayoutVars>
          <dgm:chMax val="7"/>
          <dgm:chPref val="7"/>
          <dgm:dir/>
          <dgm:animLvl val="lvl"/>
        </dgm:presLayoutVars>
      </dgm:prSet>
      <dgm:spPr/>
      <dgm:t>
        <a:bodyPr/>
        <a:lstStyle/>
        <a:p>
          <a:endParaRPr lang="fr-FR"/>
        </a:p>
      </dgm:t>
    </dgm:pt>
    <dgm:pt modelId="{93E8806C-0280-40A6-924A-4461C0B7B52F}" type="pres">
      <dgm:prSet presAssocID="{4474345C-BAE1-4E5A-AB0F-56BDEF280EC1}" presName="Accent1" presStyleCnt="0"/>
      <dgm:spPr/>
    </dgm:pt>
    <dgm:pt modelId="{0A208843-B964-4E76-9695-8D102F234F2A}" type="pres">
      <dgm:prSet presAssocID="{4474345C-BAE1-4E5A-AB0F-56BDEF280EC1}" presName="Accent" presStyleLbl="node1" presStyleIdx="0" presStyleCnt="4"/>
      <dgm:spPr>
        <a:solidFill>
          <a:srgbClr val="DC246A"/>
        </a:solidFill>
      </dgm:spPr>
    </dgm:pt>
    <dgm:pt modelId="{8AB6A3B8-E9F4-4473-A93D-2B74716CC5E6}" type="pres">
      <dgm:prSet presAssocID="{4474345C-BAE1-4E5A-AB0F-56BDEF280EC1}" presName="Parent1" presStyleLbl="revTx" presStyleIdx="0" presStyleCnt="5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65BE5CA-4EFE-4302-9954-0B51A81472C5}" type="pres">
      <dgm:prSet presAssocID="{64592C92-76DD-47FB-8C04-8205843BE1AD}" presName="Accent2" presStyleCnt="0"/>
      <dgm:spPr/>
    </dgm:pt>
    <dgm:pt modelId="{36C801B7-4739-47D8-867A-BF955171B5EB}" type="pres">
      <dgm:prSet presAssocID="{64592C92-76DD-47FB-8C04-8205843BE1AD}" presName="Accent" presStyleLbl="node1" presStyleIdx="1" presStyleCnt="4"/>
      <dgm:spPr/>
    </dgm:pt>
    <dgm:pt modelId="{C6337679-CD93-465B-A3EE-AAA34106E068}" type="pres">
      <dgm:prSet presAssocID="{64592C92-76DD-47FB-8C04-8205843BE1AD}" presName="Child2" presStyleLbl="revTx" presStyleIdx="1" presStyleCnt="5" custLinFactY="37644" custLinFactNeighborX="-89908" custLinFactNeighborY="1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A031835-DC8F-4795-BDEC-345842B4FA16}" type="pres">
      <dgm:prSet presAssocID="{64592C92-76DD-47FB-8C04-8205843BE1AD}" presName="Parent2" presStyleLbl="revTx" presStyleIdx="2" presStyleCnt="5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5783D75-E7D1-4571-B9CD-E9C8DB01742E}" type="pres">
      <dgm:prSet presAssocID="{773EBA70-9196-4B8B-80FA-E43CAAEC0932}" presName="Accent3" presStyleCnt="0"/>
      <dgm:spPr/>
    </dgm:pt>
    <dgm:pt modelId="{15B29E3C-7D35-4113-9990-0327221446AA}" type="pres">
      <dgm:prSet presAssocID="{773EBA70-9196-4B8B-80FA-E43CAAEC0932}" presName="Accent" presStyleLbl="node1" presStyleIdx="2" presStyleCnt="4"/>
      <dgm:spPr/>
    </dgm:pt>
    <dgm:pt modelId="{6807C035-87E4-4001-A917-D373A95B6B4D}" type="pres">
      <dgm:prSet presAssocID="{773EBA70-9196-4B8B-80FA-E43CAAEC0932}" presName="Parent3" presStyleLbl="revTx" presStyleIdx="3" presStyleCnt="5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5730D6F-11DD-4C6D-9894-4A5EE3FF7ADB}" type="pres">
      <dgm:prSet presAssocID="{29EE08AF-E3A3-45F5-8A18-C454438F0F55}" presName="Accent4" presStyleCnt="0"/>
      <dgm:spPr/>
    </dgm:pt>
    <dgm:pt modelId="{61834052-4434-4B30-874A-3E70E5A183AA}" type="pres">
      <dgm:prSet presAssocID="{29EE08AF-E3A3-45F5-8A18-C454438F0F55}" presName="Accent" presStyleLbl="node1" presStyleIdx="3" presStyleCnt="4"/>
      <dgm:spPr>
        <a:solidFill>
          <a:srgbClr val="002060"/>
        </a:solidFill>
      </dgm:spPr>
    </dgm:pt>
    <dgm:pt modelId="{B5C38C14-858F-475B-A82C-DDE7F3821496}" type="pres">
      <dgm:prSet presAssocID="{29EE08AF-E3A3-45F5-8A18-C454438F0F55}" presName="Parent4" presStyleLbl="revTx" presStyleIdx="4" presStyleCnt="5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B6CC9603-52B9-480B-8830-ADDA5875677A}" type="presOf" srcId="{773EBA70-9196-4B8B-80FA-E43CAAEC0932}" destId="{6807C035-87E4-4001-A917-D373A95B6B4D}" srcOrd="0" destOrd="0" presId="urn:microsoft.com/office/officeart/2009/layout/CircleArrowProcess"/>
    <dgm:cxn modelId="{EFAE9AF4-406A-4A0C-978F-C0C89FF99192}" srcId="{64592C92-76DD-47FB-8C04-8205843BE1AD}" destId="{B69850AC-D5B8-443A-BEA8-994A4819D970}" srcOrd="0" destOrd="0" parTransId="{6E9CDB3E-92E8-4F59-8D8C-279F69CF2D69}" sibTransId="{02E9E308-A1EF-484B-985E-BCDC5F70A5E3}"/>
    <dgm:cxn modelId="{AD2C778B-56E4-4AE1-BCD4-CFBDD431BE4B}" srcId="{1A5F0C7F-DC96-4FFB-A968-514013D5FDBE}" destId="{64592C92-76DD-47FB-8C04-8205843BE1AD}" srcOrd="1" destOrd="0" parTransId="{BDCB47D6-F7E4-4B16-832B-D748CE01969A}" sibTransId="{9EF3ABF9-2E49-405F-9DD9-D85CBF653E1F}"/>
    <dgm:cxn modelId="{E35EF7FB-1E01-4AC6-BDF7-7AFEA17D1C6C}" type="presOf" srcId="{4474345C-BAE1-4E5A-AB0F-56BDEF280EC1}" destId="{8AB6A3B8-E9F4-4473-A93D-2B74716CC5E6}" srcOrd="0" destOrd="0" presId="urn:microsoft.com/office/officeart/2009/layout/CircleArrowProcess"/>
    <dgm:cxn modelId="{41922808-66DD-499F-B904-22EE07F06C77}" srcId="{1A5F0C7F-DC96-4FFB-A968-514013D5FDBE}" destId="{4474345C-BAE1-4E5A-AB0F-56BDEF280EC1}" srcOrd="0" destOrd="0" parTransId="{0529C8A3-2C57-48C4-990E-7D0498687F37}" sibTransId="{127543F3-D7DD-47B9-973E-856E91D2BEB2}"/>
    <dgm:cxn modelId="{3D15C1E4-16C1-48D5-B12B-492343128CD1}" type="presOf" srcId="{1A5F0C7F-DC96-4FFB-A968-514013D5FDBE}" destId="{F844C7CC-5F2C-4E4F-A9E9-F0B1DCAA1405}" srcOrd="0" destOrd="0" presId="urn:microsoft.com/office/officeart/2009/layout/CircleArrowProcess"/>
    <dgm:cxn modelId="{C46AF541-4730-4EA0-A1BC-1E197277B025}" type="presOf" srcId="{B69850AC-D5B8-443A-BEA8-994A4819D970}" destId="{C6337679-CD93-465B-A3EE-AAA34106E068}" srcOrd="0" destOrd="0" presId="urn:microsoft.com/office/officeart/2009/layout/CircleArrowProcess"/>
    <dgm:cxn modelId="{B3A32BD3-3B64-473B-AEA1-3F3BEC553797}" srcId="{1A5F0C7F-DC96-4FFB-A968-514013D5FDBE}" destId="{29EE08AF-E3A3-45F5-8A18-C454438F0F55}" srcOrd="3" destOrd="0" parTransId="{F48775B0-3072-499F-8820-0AAFEE2688AF}" sibTransId="{80993896-228D-4006-A509-3922575DCF0D}"/>
    <dgm:cxn modelId="{21822C87-0D0F-4AC8-8414-E32A4E6E6440}" type="presOf" srcId="{64592C92-76DD-47FB-8C04-8205843BE1AD}" destId="{6A031835-DC8F-4795-BDEC-345842B4FA16}" srcOrd="0" destOrd="0" presId="urn:microsoft.com/office/officeart/2009/layout/CircleArrowProcess"/>
    <dgm:cxn modelId="{8EE95440-A279-4F59-96F6-C5A0475C84BD}" type="presOf" srcId="{29EE08AF-E3A3-45F5-8A18-C454438F0F55}" destId="{B5C38C14-858F-475B-A82C-DDE7F3821496}" srcOrd="0" destOrd="0" presId="urn:microsoft.com/office/officeart/2009/layout/CircleArrowProcess"/>
    <dgm:cxn modelId="{8A609271-79BB-46D4-8C57-595714EB2AE8}" srcId="{1A5F0C7F-DC96-4FFB-A968-514013D5FDBE}" destId="{773EBA70-9196-4B8B-80FA-E43CAAEC0932}" srcOrd="2" destOrd="0" parTransId="{06BC2A55-08DA-433A-B511-96BF8A8C87DA}" sibTransId="{D38BFD6B-B62C-4949-8EBA-5DCF45094F15}"/>
    <dgm:cxn modelId="{78C63CA4-1543-4D22-B2DC-404182CCF201}" type="presParOf" srcId="{F844C7CC-5F2C-4E4F-A9E9-F0B1DCAA1405}" destId="{93E8806C-0280-40A6-924A-4461C0B7B52F}" srcOrd="0" destOrd="0" presId="urn:microsoft.com/office/officeart/2009/layout/CircleArrowProcess"/>
    <dgm:cxn modelId="{FF77BE0B-81F5-4B53-B448-87F6F0FE8257}" type="presParOf" srcId="{93E8806C-0280-40A6-924A-4461C0B7B52F}" destId="{0A208843-B964-4E76-9695-8D102F234F2A}" srcOrd="0" destOrd="0" presId="urn:microsoft.com/office/officeart/2009/layout/CircleArrowProcess"/>
    <dgm:cxn modelId="{AC66EF94-7ED5-4822-82AB-CAF6C7C791BB}" type="presParOf" srcId="{F844C7CC-5F2C-4E4F-A9E9-F0B1DCAA1405}" destId="{8AB6A3B8-E9F4-4473-A93D-2B74716CC5E6}" srcOrd="1" destOrd="0" presId="urn:microsoft.com/office/officeart/2009/layout/CircleArrowProcess"/>
    <dgm:cxn modelId="{83946FEB-6680-4B09-97C5-FDB323BABDF2}" type="presParOf" srcId="{F844C7CC-5F2C-4E4F-A9E9-F0B1DCAA1405}" destId="{B65BE5CA-4EFE-4302-9954-0B51A81472C5}" srcOrd="2" destOrd="0" presId="urn:microsoft.com/office/officeart/2009/layout/CircleArrowProcess"/>
    <dgm:cxn modelId="{FCCD3015-2541-4285-82A2-7BFCD880E7B8}" type="presParOf" srcId="{B65BE5CA-4EFE-4302-9954-0B51A81472C5}" destId="{36C801B7-4739-47D8-867A-BF955171B5EB}" srcOrd="0" destOrd="0" presId="urn:microsoft.com/office/officeart/2009/layout/CircleArrowProcess"/>
    <dgm:cxn modelId="{72EC7D84-1368-431A-9ED6-64EB12429A23}" type="presParOf" srcId="{F844C7CC-5F2C-4E4F-A9E9-F0B1DCAA1405}" destId="{C6337679-CD93-465B-A3EE-AAA34106E068}" srcOrd="3" destOrd="0" presId="urn:microsoft.com/office/officeart/2009/layout/CircleArrowProcess"/>
    <dgm:cxn modelId="{11A41396-0E96-4C9D-B6C1-4B54C629DFBE}" type="presParOf" srcId="{F844C7CC-5F2C-4E4F-A9E9-F0B1DCAA1405}" destId="{6A031835-DC8F-4795-BDEC-345842B4FA16}" srcOrd="4" destOrd="0" presId="urn:microsoft.com/office/officeart/2009/layout/CircleArrowProcess"/>
    <dgm:cxn modelId="{05D18F57-F247-4837-982A-D388FBDFFC0C}" type="presParOf" srcId="{F844C7CC-5F2C-4E4F-A9E9-F0B1DCAA1405}" destId="{15783D75-E7D1-4571-B9CD-E9C8DB01742E}" srcOrd="5" destOrd="0" presId="urn:microsoft.com/office/officeart/2009/layout/CircleArrowProcess"/>
    <dgm:cxn modelId="{C8682CA5-5D7D-4083-BC13-88B58CC9C607}" type="presParOf" srcId="{15783D75-E7D1-4571-B9CD-E9C8DB01742E}" destId="{15B29E3C-7D35-4113-9990-0327221446AA}" srcOrd="0" destOrd="0" presId="urn:microsoft.com/office/officeart/2009/layout/CircleArrowProcess"/>
    <dgm:cxn modelId="{EF16EE19-33D5-4172-AE22-29BC153958DC}" type="presParOf" srcId="{F844C7CC-5F2C-4E4F-A9E9-F0B1DCAA1405}" destId="{6807C035-87E4-4001-A917-D373A95B6B4D}" srcOrd="6" destOrd="0" presId="urn:microsoft.com/office/officeart/2009/layout/CircleArrowProcess"/>
    <dgm:cxn modelId="{DEE2D71C-ED73-4A58-9524-CB5B57BCD8B2}" type="presParOf" srcId="{F844C7CC-5F2C-4E4F-A9E9-F0B1DCAA1405}" destId="{25730D6F-11DD-4C6D-9894-4A5EE3FF7ADB}" srcOrd="7" destOrd="0" presId="urn:microsoft.com/office/officeart/2009/layout/CircleArrowProcess"/>
    <dgm:cxn modelId="{CA79BE65-8D12-4ADB-A835-C4DABC8D401F}" type="presParOf" srcId="{25730D6F-11DD-4C6D-9894-4A5EE3FF7ADB}" destId="{61834052-4434-4B30-874A-3E70E5A183AA}" srcOrd="0" destOrd="0" presId="urn:microsoft.com/office/officeart/2009/layout/CircleArrowProcess"/>
    <dgm:cxn modelId="{A4F40B47-D96C-4D3B-A680-AA52159279C0}" type="presParOf" srcId="{F844C7CC-5F2C-4E4F-A9E9-F0B1DCAA1405}" destId="{B5C38C14-858F-475B-A82C-DDE7F3821496}" srcOrd="8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208843-B964-4E76-9695-8D102F234F2A}">
      <dsp:nvSpPr>
        <dsp:cNvPr id="0" name=""/>
        <dsp:cNvSpPr/>
      </dsp:nvSpPr>
      <dsp:spPr>
        <a:xfrm>
          <a:off x="996895" y="0"/>
          <a:ext cx="2105370" cy="2105584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rgbClr val="DC246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B6A3B8-E9F4-4473-A93D-2B74716CC5E6}">
      <dsp:nvSpPr>
        <dsp:cNvPr id="0" name=""/>
        <dsp:cNvSpPr/>
      </dsp:nvSpPr>
      <dsp:spPr>
        <a:xfrm>
          <a:off x="1461727" y="762164"/>
          <a:ext cx="1174916" cy="5873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800" b="1" kern="1200" dirty="0" smtClean="0"/>
            <a:t>Expression de besoins </a:t>
          </a:r>
          <a:r>
            <a:rPr lang="fr-FR" sz="800" b="1" kern="1200" dirty="0" err="1" smtClean="0"/>
            <a:t>SpF</a:t>
          </a:r>
          <a:r>
            <a:rPr lang="fr-FR" sz="800" b="1" kern="1200" dirty="0" smtClean="0"/>
            <a:t> et élaboration d’une 1</a:t>
          </a:r>
          <a:r>
            <a:rPr lang="fr-FR" sz="800" b="1" kern="1200" baseline="30000" dirty="0" smtClean="0"/>
            <a:t>ère</a:t>
          </a:r>
          <a:r>
            <a:rPr lang="fr-FR" sz="800" b="1" kern="1200" dirty="0" smtClean="0"/>
            <a:t> série d’indicateurs (Rouen/</a:t>
          </a:r>
          <a:r>
            <a:rPr lang="fr-FR" sz="800" b="1" kern="1200" dirty="0" err="1" smtClean="0"/>
            <a:t>SpF</a:t>
          </a:r>
          <a:r>
            <a:rPr lang="fr-FR" sz="800" b="1" kern="1200" dirty="0" smtClean="0"/>
            <a:t>)</a:t>
          </a:r>
          <a:endParaRPr lang="fr-FR" sz="800" b="1" kern="1200" dirty="0"/>
        </a:p>
      </dsp:txBody>
      <dsp:txXfrm>
        <a:off x="1461727" y="762164"/>
        <a:ext cx="1174916" cy="587397"/>
      </dsp:txXfrm>
    </dsp:sp>
    <dsp:sp modelId="{36C801B7-4739-47D8-867A-BF955171B5EB}">
      <dsp:nvSpPr>
        <dsp:cNvPr id="0" name=""/>
        <dsp:cNvSpPr/>
      </dsp:nvSpPr>
      <dsp:spPr>
        <a:xfrm>
          <a:off x="412004" y="1209971"/>
          <a:ext cx="2105370" cy="2105584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337679-CD93-465B-A3EE-AAA34106E068}">
      <dsp:nvSpPr>
        <dsp:cNvPr id="0" name=""/>
        <dsp:cNvSpPr/>
      </dsp:nvSpPr>
      <dsp:spPr>
        <a:xfrm>
          <a:off x="1389274" y="3002125"/>
          <a:ext cx="1262195" cy="837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800" b="1" kern="1200" dirty="0" smtClean="0">
              <a:solidFill>
                <a:schemeClr val="tx1"/>
              </a:solidFill>
              <a:latin typeface="+mn-lt"/>
            </a:rPr>
            <a:t>Production et livraison au HDH d’un algorithme qui tourne en local pour adaptation et diffusion aux autres EDSH</a:t>
          </a:r>
          <a:endParaRPr lang="fr-FR" sz="800" b="1" kern="1200" dirty="0">
            <a:solidFill>
              <a:schemeClr val="tx1"/>
            </a:solidFill>
            <a:latin typeface="+mn-lt"/>
          </a:endParaRPr>
        </a:p>
      </dsp:txBody>
      <dsp:txXfrm>
        <a:off x="1389274" y="3002125"/>
        <a:ext cx="1262195" cy="837543"/>
      </dsp:txXfrm>
    </dsp:sp>
    <dsp:sp modelId="{6A031835-DC8F-4795-BDEC-345842B4FA16}">
      <dsp:nvSpPr>
        <dsp:cNvPr id="0" name=""/>
        <dsp:cNvSpPr/>
      </dsp:nvSpPr>
      <dsp:spPr>
        <a:xfrm>
          <a:off x="874467" y="1974369"/>
          <a:ext cx="1174916" cy="5873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800" b="1" kern="1200" dirty="0" smtClean="0">
              <a:solidFill>
                <a:schemeClr val="tx1"/>
              </a:solidFill>
            </a:rPr>
            <a:t>Choix et priorisation des indicateurs en GT</a:t>
          </a:r>
          <a:endParaRPr lang="fr-FR" sz="800" b="1" kern="1200" dirty="0">
            <a:solidFill>
              <a:schemeClr val="tx1"/>
            </a:solidFill>
          </a:endParaRPr>
        </a:p>
      </dsp:txBody>
      <dsp:txXfrm>
        <a:off x="874467" y="1974369"/>
        <a:ext cx="1174916" cy="587397"/>
      </dsp:txXfrm>
    </dsp:sp>
    <dsp:sp modelId="{15B29E3C-7D35-4113-9990-0327221446AA}">
      <dsp:nvSpPr>
        <dsp:cNvPr id="0" name=""/>
        <dsp:cNvSpPr/>
      </dsp:nvSpPr>
      <dsp:spPr>
        <a:xfrm>
          <a:off x="996895" y="2424409"/>
          <a:ext cx="2105370" cy="2105584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07C035-87E4-4001-A917-D373A95B6B4D}">
      <dsp:nvSpPr>
        <dsp:cNvPr id="0" name=""/>
        <dsp:cNvSpPr/>
      </dsp:nvSpPr>
      <dsp:spPr>
        <a:xfrm>
          <a:off x="1461727" y="3186574"/>
          <a:ext cx="1174916" cy="5873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800" kern="1200"/>
        </a:p>
      </dsp:txBody>
      <dsp:txXfrm>
        <a:off x="1461727" y="3186574"/>
        <a:ext cx="1174916" cy="587397"/>
      </dsp:txXfrm>
    </dsp:sp>
    <dsp:sp modelId="{61834052-4434-4B30-874A-3E70E5A183AA}">
      <dsp:nvSpPr>
        <dsp:cNvPr id="0" name=""/>
        <dsp:cNvSpPr/>
      </dsp:nvSpPr>
      <dsp:spPr>
        <a:xfrm>
          <a:off x="562077" y="3773972"/>
          <a:ext cx="1808778" cy="1809652"/>
        </a:xfrm>
        <a:prstGeom prst="blockArc">
          <a:avLst>
            <a:gd name="adj1" fmla="val 0"/>
            <a:gd name="adj2" fmla="val 18900000"/>
            <a:gd name="adj3" fmla="val 12740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C38C14-858F-475B-A82C-DDE7F3821496}">
      <dsp:nvSpPr>
        <dsp:cNvPr id="0" name=""/>
        <dsp:cNvSpPr/>
      </dsp:nvSpPr>
      <dsp:spPr>
        <a:xfrm>
          <a:off x="874467" y="4398779"/>
          <a:ext cx="1174916" cy="5873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800" kern="1200" dirty="0" smtClean="0"/>
            <a:t>Deuxième vague d’indicateurs</a:t>
          </a:r>
          <a:endParaRPr lang="fr-FR" sz="800" b="1" kern="1200" dirty="0"/>
        </a:p>
      </dsp:txBody>
      <dsp:txXfrm>
        <a:off x="874467" y="4398779"/>
        <a:ext cx="1174916" cy="5873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9937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209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3273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6761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9556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8328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2658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2483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0141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4367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72515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ar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75521" y="3428999"/>
            <a:ext cx="9696812" cy="1296145"/>
          </a:xfrm>
        </p:spPr>
        <p:txBody>
          <a:bodyPr anchor="b"/>
          <a:lstStyle>
            <a:lvl1pPr algn="r">
              <a:lnSpc>
                <a:spcPct val="100000"/>
              </a:lnSpc>
              <a:spcBef>
                <a:spcPts val="0"/>
              </a:spcBef>
              <a:defRPr sz="2600" b="1" cap="all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775521" y="4869160"/>
            <a:ext cx="9696812" cy="1368128"/>
          </a:xfrm>
        </p:spPr>
        <p:txBody>
          <a:bodyPr anchor="t"/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600" b="0" cap="none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Modifiez les styles du texte du masque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1774686" y="2798506"/>
            <a:ext cx="9697649" cy="486478"/>
          </a:xfrm>
        </p:spPr>
        <p:txBody>
          <a:bodyPr anchor="b"/>
          <a:lstStyle>
            <a:lvl1pPr marL="0" algn="r">
              <a:lnSpc>
                <a:spcPct val="100000"/>
              </a:lnSpc>
              <a:spcBef>
                <a:spcPts val="0"/>
              </a:spcBef>
              <a:buFontTx/>
              <a:buNone/>
              <a:defRPr sz="3000" u="sng">
                <a:solidFill>
                  <a:schemeClr val="accent4"/>
                </a:solidFill>
              </a:defRPr>
            </a:lvl1pPr>
            <a:lvl2pPr marL="0">
              <a:lnSpc>
                <a:spcPct val="100000"/>
              </a:lnSpc>
              <a:spcBef>
                <a:spcPts val="0"/>
              </a:spcBef>
              <a:buFontTx/>
              <a:buNone/>
              <a:defRPr>
                <a:solidFill>
                  <a:schemeClr val="accent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>
                <a:solidFill>
                  <a:schemeClr val="accent2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Tx/>
              <a:buNone/>
              <a:defRPr>
                <a:solidFill>
                  <a:schemeClr val="accent2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fr-FR" dirty="0"/>
              <a:t>Partie #</a:t>
            </a:r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4459" y="404665"/>
            <a:ext cx="1440157" cy="609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00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775521" y="2195742"/>
            <a:ext cx="9696812" cy="1881331"/>
          </a:xfrm>
        </p:spPr>
        <p:txBody>
          <a:bodyPr anchor="b"/>
          <a:lstStyle>
            <a:lvl1pPr algn="r">
              <a:defRPr sz="3000" u="sng" baseline="0">
                <a:solidFill>
                  <a:schemeClr val="accent4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774855" y="4897624"/>
            <a:ext cx="9663115" cy="936104"/>
          </a:xfrm>
        </p:spPr>
        <p:txBody>
          <a:bodyPr/>
          <a:lstStyle>
            <a:lvl1pPr marL="0" indent="0" algn="r">
              <a:buNone/>
              <a:defRPr sz="1800" b="0" cap="none">
                <a:solidFill>
                  <a:schemeClr val="accent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Modifiez le style des sous-titres du masque</a:t>
            </a:r>
          </a:p>
        </p:txBody>
      </p:sp>
      <p:pic>
        <p:nvPicPr>
          <p:cNvPr id="9" name="Imag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3524" y="512846"/>
            <a:ext cx="2296293" cy="971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7714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illustr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indent="0">
              <a:defRPr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2"/>
          </p:nvPr>
        </p:nvSpPr>
        <p:spPr>
          <a:xfrm>
            <a:off x="719403" y="1340768"/>
            <a:ext cx="9217024" cy="4824512"/>
          </a:xfrm>
        </p:spPr>
        <p:txBody>
          <a:bodyPr/>
          <a:lstStyle>
            <a:lvl1pPr>
              <a:defRPr b="1" u="none"/>
            </a:lvl1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0429145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3437" y="2276873"/>
            <a:ext cx="10066867" cy="381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88971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16780" y="404665"/>
            <a:ext cx="5298409" cy="5956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4459" y="404665"/>
            <a:ext cx="1440157" cy="60956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12323829" y="604701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fr-FR" sz="1800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11896262" y="599145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fr-FR" sz="1800" dirty="0"/>
          </a:p>
        </p:txBody>
      </p:sp>
      <p:sp>
        <p:nvSpPr>
          <p:cNvPr id="42" name="ZoneTexte 41"/>
          <p:cNvSpPr txBox="1"/>
          <p:nvPr userDrawn="1"/>
        </p:nvSpPr>
        <p:spPr>
          <a:xfrm>
            <a:off x="11228373" y="6448546"/>
            <a:ext cx="244225" cy="115416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algn="r"/>
            <a:fld id="{19A54D9F-65F7-4BCB-82BD-1E3BBE6FBFA8}" type="slidenum">
              <a:rPr lang="fr-FR" sz="750" b="1" smtClean="0">
                <a:solidFill>
                  <a:schemeClr val="tx1"/>
                </a:solidFill>
              </a:rPr>
              <a:pPr algn="r"/>
              <a:t>‹N°›</a:t>
            </a:fld>
            <a:endParaRPr lang="fr-FR" sz="7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64948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graphicFrame>
        <p:nvGraphicFramePr>
          <p:cNvPr id="4" name="Graphique 3"/>
          <p:cNvGraphicFramePr/>
          <p:nvPr userDrawn="1">
            <p:extLst/>
          </p:nvPr>
        </p:nvGraphicFramePr>
        <p:xfrm>
          <a:off x="2063552" y="1844824"/>
          <a:ext cx="8128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82843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0DEC69-96B3-4BFA-99CA-EAE663A78335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9740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189236"/>
            <a:ext cx="11856640" cy="93550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solidFill>
                <a:prstClr val="white"/>
              </a:solidFill>
            </a:endParaRPr>
          </a:p>
        </p:txBody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719667" y="188640"/>
            <a:ext cx="9120749" cy="936104"/>
          </a:xfrm>
          <a:prstGeom prst="rect">
            <a:avLst/>
          </a:prstGeom>
        </p:spPr>
        <p:txBody>
          <a:bodyPr vert="horz" lIns="36000" tIns="0" rIns="36000" bIns="0" rtlCol="0" anchor="ctr">
            <a:noAutofit/>
          </a:bodyPr>
          <a:lstStyle/>
          <a:p>
            <a:r>
              <a:rPr lang="fr-FR" dirty="0"/>
              <a:t>Titre de la </a:t>
            </a:r>
            <a:r>
              <a:rPr lang="fr-FR" dirty="0" err="1"/>
              <a:t>Slide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19403" y="1340769"/>
            <a:ext cx="9889100" cy="4896543"/>
          </a:xfrm>
          <a:prstGeom prst="rect">
            <a:avLst/>
          </a:prstGeom>
        </p:spPr>
        <p:txBody>
          <a:bodyPr vert="horz" lIns="36000" tIns="0" rIns="36000" bIns="0" rtlCol="0">
            <a:noAutofit/>
          </a:bodyPr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11228373" y="6448546"/>
            <a:ext cx="244225" cy="115416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algn="r"/>
            <a:fld id="{19A54D9F-65F7-4BCB-82BD-1E3BBE6FBFA8}" type="slidenum">
              <a:rPr lang="fr-FR" sz="750" b="1" smtClean="0">
                <a:solidFill>
                  <a:srgbClr val="4D4D4F"/>
                </a:solidFill>
              </a:rPr>
              <a:pPr algn="r"/>
              <a:t>‹N°›</a:t>
            </a:fld>
            <a:endParaRPr lang="fr-FR" sz="750" b="1" dirty="0">
              <a:solidFill>
                <a:srgbClr val="4D4D4F"/>
              </a:solidFill>
            </a:endParaRP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7739" y="404728"/>
            <a:ext cx="1360869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897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6" r:id="rId2"/>
    <p:sldLayoutId id="2147483677" r:id="rId3"/>
    <p:sldLayoutId id="2147483678" r:id="rId4"/>
    <p:sldLayoutId id="2147483679" r:id="rId5"/>
  </p:sldLayoutIdLst>
  <p:hf hdr="0" ftr="0" dt="0"/>
  <p:txStyles>
    <p:titleStyle>
      <a:lvl1pPr marL="0" indent="0" algn="l" defTabSz="914400" rtl="0" eaLnBrk="1" latinLnBrk="0" hangingPunct="1">
        <a:spcBef>
          <a:spcPct val="0"/>
        </a:spcBef>
        <a:buNone/>
        <a:defRPr sz="2000" b="1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200"/>
        </a:spcBef>
        <a:buFontTx/>
        <a:buNone/>
        <a:defRPr sz="1800" b="1" kern="1200" cap="all" baseline="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600"/>
        </a:spcBef>
        <a:buFontTx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44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tx2"/>
        </a:buClr>
        <a:buFont typeface="Symbol" panose="05050102010706020507" pitchFamily="18" charset="2"/>
        <a:buChar char="·"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44000" indent="-144000" algn="l" defTabSz="914400" rtl="0" eaLnBrk="1" latinLnBrk="0" hangingPunct="1">
        <a:lnSpc>
          <a:spcPct val="110000"/>
        </a:lnSpc>
        <a:spcBef>
          <a:spcPts val="0"/>
        </a:spcBef>
        <a:buFont typeface="Symbol" panose="05050102010706020507" pitchFamily="18" charset="2"/>
        <a:buChar char="·"/>
        <a:tabLst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88000" indent="-144000" algn="l" defTabSz="914400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jpe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6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5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8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25" y="2020796"/>
            <a:ext cx="12003175" cy="2495898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8567" y="38870837"/>
            <a:ext cx="3402153" cy="713755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0391" y="236269"/>
            <a:ext cx="2892414" cy="607095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847" y="5544590"/>
            <a:ext cx="1526343" cy="861014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2254" y="5802837"/>
            <a:ext cx="2621513" cy="560050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2499" y="5665996"/>
            <a:ext cx="1496447" cy="745687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02704" y="5587980"/>
            <a:ext cx="1657180" cy="848377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62740" y="5616169"/>
            <a:ext cx="918374" cy="765312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6322" y="1187777"/>
            <a:ext cx="6495068" cy="1730377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2554664" y="4336329"/>
            <a:ext cx="7126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rgbClr val="002060"/>
                </a:solidFill>
              </a:rPr>
              <a:t>Groupe de Travail Résistance Bactérienne aux Antibiotiques – 16 juin 2025</a:t>
            </a:r>
            <a:endParaRPr lang="fr-FR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1125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0" y="311702"/>
            <a:ext cx="8828116" cy="727388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ORCHIDEE – </a:t>
            </a:r>
            <a:r>
              <a:rPr lang="fr-FR" dirty="0" smtClean="0">
                <a:solidFill>
                  <a:prstClr val="white"/>
                </a:solidFill>
                <a:latin typeface="Arial"/>
              </a:rPr>
              <a:t>ORDRE DU JOUR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363509" y="1474044"/>
            <a:ext cx="11560629" cy="1969770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dirty="0" smtClean="0">
                <a:cs typeface="Arial" panose="020B0604020202020204" pitchFamily="34" charset="0"/>
              </a:rPr>
              <a:t>Indicateur CONSOMMATION ANTIBIOTIQUES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 smtClean="0">
                <a:cs typeface="Arial" panose="020B0604020202020204" pitchFamily="34" charset="0"/>
              </a:rPr>
              <a:t>Tour de table et composition du GT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noProof="0" dirty="0" smtClean="0">
                <a:cs typeface="Arial" panose="020B0604020202020204" pitchFamily="34" charset="0"/>
              </a:rPr>
              <a:t>Le projet ORCHIDEE : organisation, objectifs et méthodologie de travail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 smtClean="0">
                <a:cs typeface="Arial" panose="020B0604020202020204" pitchFamily="34" charset="0"/>
              </a:rPr>
              <a:t>Le cadre de surveillance épidémiologique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noProof="0" dirty="0" smtClean="0">
                <a:cs typeface="Arial" panose="020B0604020202020204" pitchFamily="34" charset="0"/>
              </a:rPr>
              <a:t>Les besoins côté Santé Publique France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noProof="0" dirty="0" smtClean="0">
                <a:cs typeface="Arial" panose="020B0604020202020204" pitchFamily="34" charset="0"/>
              </a:rPr>
              <a:t>Discussion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 smtClean="0">
                <a:cs typeface="Arial" panose="020B0604020202020204" pitchFamily="34" charset="0"/>
              </a:rPr>
              <a:t>Travaux préliminaires </a:t>
            </a:r>
            <a:r>
              <a:rPr lang="fr-FR" sz="1600" dirty="0" err="1" smtClean="0">
                <a:cs typeface="Arial" panose="020B0604020202020204" pitchFamily="34" charset="0"/>
              </a:rPr>
              <a:t>EDSaN</a:t>
            </a:r>
            <a:r>
              <a:rPr lang="fr-FR" sz="1600" dirty="0" smtClean="0">
                <a:cs typeface="Arial" panose="020B0604020202020204" pitchFamily="34" charset="0"/>
              </a:rPr>
              <a:t> CHU de Rouen, automatisation des indicateurs du réseau SPARES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 smtClean="0">
                <a:cs typeface="Arial" panose="020B0604020202020204" pitchFamily="34" charset="0"/>
              </a:rPr>
              <a:t>Prochaines étapes et perspectives </a:t>
            </a:r>
            <a:endParaRPr lang="fr-FR" sz="1600" noProof="0" dirty="0" smtClean="0">
              <a:cs typeface="Arial" panose="020B0604020202020204" pitchFamily="34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402788" y="4152827"/>
            <a:ext cx="11560629" cy="1969770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dirty="0" smtClean="0">
                <a:cs typeface="Arial" panose="020B0604020202020204" pitchFamily="34" charset="0"/>
              </a:rPr>
              <a:t>Indicateur RESISTANCE BACTERIENNE AUX ANTIBIOTIQUES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 smtClean="0">
                <a:cs typeface="Arial" panose="020B0604020202020204" pitchFamily="34" charset="0"/>
              </a:rPr>
              <a:t>Tour de table et composition du GT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>
                <a:cs typeface="Arial" panose="020B0604020202020204" pitchFamily="34" charset="0"/>
              </a:rPr>
              <a:t>Le projet ORCHIDEE : organisation, objectifs et méthodologie de travail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>
                <a:cs typeface="Arial" panose="020B0604020202020204" pitchFamily="34" charset="0"/>
              </a:rPr>
              <a:t>Le </a:t>
            </a:r>
            <a:r>
              <a:rPr lang="fr-FR" sz="1600" dirty="0" smtClean="0">
                <a:cs typeface="Arial" panose="020B0604020202020204" pitchFamily="34" charset="0"/>
              </a:rPr>
              <a:t>cadre </a:t>
            </a:r>
            <a:r>
              <a:rPr lang="fr-FR" sz="1600" dirty="0">
                <a:cs typeface="Arial" panose="020B0604020202020204" pitchFamily="34" charset="0"/>
              </a:rPr>
              <a:t>de surveillance épidémiologique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>
                <a:cs typeface="Arial" panose="020B0604020202020204" pitchFamily="34" charset="0"/>
              </a:rPr>
              <a:t>Les besoins côté Santé Publique </a:t>
            </a:r>
            <a:r>
              <a:rPr lang="fr-FR" sz="1600" dirty="0" smtClean="0">
                <a:cs typeface="Arial" panose="020B0604020202020204" pitchFamily="34" charset="0"/>
              </a:rPr>
              <a:t>France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 smtClean="0">
                <a:cs typeface="Arial" panose="020B0604020202020204" pitchFamily="34" charset="0"/>
              </a:rPr>
              <a:t>Discussion</a:t>
            </a:r>
            <a:endParaRPr lang="fr-FR" sz="1600" dirty="0">
              <a:cs typeface="Arial" panose="020B0604020202020204" pitchFamily="34" charset="0"/>
            </a:endParaRP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>
                <a:cs typeface="Arial" panose="020B0604020202020204" pitchFamily="34" charset="0"/>
              </a:rPr>
              <a:t>Travaux préliminaires </a:t>
            </a:r>
            <a:r>
              <a:rPr lang="fr-FR" sz="1600" dirty="0" err="1">
                <a:cs typeface="Arial" panose="020B0604020202020204" pitchFamily="34" charset="0"/>
              </a:rPr>
              <a:t>EDSaN</a:t>
            </a:r>
            <a:r>
              <a:rPr lang="fr-FR" sz="1600" dirty="0">
                <a:cs typeface="Arial" panose="020B0604020202020204" pitchFamily="34" charset="0"/>
              </a:rPr>
              <a:t> CHU de Rouen, </a:t>
            </a:r>
            <a:r>
              <a:rPr lang="fr-FR" sz="1600" dirty="0" smtClean="0">
                <a:cs typeface="Arial" panose="020B0604020202020204" pitchFamily="34" charset="0"/>
              </a:rPr>
              <a:t>intégration des résultats de bactériologie dans </a:t>
            </a:r>
            <a:r>
              <a:rPr lang="fr-FR" sz="1600" dirty="0" err="1" smtClean="0">
                <a:cs typeface="Arial" panose="020B0604020202020204" pitchFamily="34" charset="0"/>
              </a:rPr>
              <a:t>EDSaN</a:t>
            </a:r>
            <a:endParaRPr lang="fr-FR" sz="1600" dirty="0" smtClean="0">
              <a:cs typeface="Arial" panose="020B0604020202020204" pitchFamily="34" charset="0"/>
            </a:endParaRP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dirty="0" smtClean="0">
                <a:cs typeface="Arial" panose="020B0604020202020204" pitchFamily="34" charset="0"/>
              </a:rPr>
              <a:t>Prochaines étapes et perspectives</a:t>
            </a:r>
            <a:endParaRPr lang="fr-FR" sz="16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058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6156" y="3315877"/>
            <a:ext cx="9696812" cy="1296145"/>
          </a:xfrm>
        </p:spPr>
        <p:txBody>
          <a:bodyPr>
            <a:noAutofit/>
          </a:bodyPr>
          <a:lstStyle/>
          <a:p>
            <a:pPr algn="ctr"/>
            <a:r>
              <a:rPr lang="fr-FR" sz="4800" dirty="0" smtClean="0">
                <a:solidFill>
                  <a:schemeClr val="accent5">
                    <a:lumMod val="75000"/>
                  </a:schemeClr>
                </a:solidFill>
              </a:rPr>
              <a:t>INDICATEURS CONSOMMATION ANTIBIOTIQUES</a:t>
            </a:r>
            <a:endParaRPr lang="fr-FR" sz="48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1605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fr-FR" dirty="0">
                <a:solidFill>
                  <a:prstClr val="white"/>
                </a:solidFill>
                <a:latin typeface="Arial"/>
              </a:rPr>
              <a:t>TOUR DE TABLE COMPOSITION GT</a:t>
            </a:r>
          </a:p>
        </p:txBody>
      </p:sp>
      <p:graphicFrame>
        <p:nvGraphicFramePr>
          <p:cNvPr id="7" name="Obje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597028"/>
              </p:ext>
            </p:extLst>
          </p:nvPr>
        </p:nvGraphicFramePr>
        <p:xfrm>
          <a:off x="0" y="1668545"/>
          <a:ext cx="6513922" cy="44490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2" name="Feuille de calcul" r:id="rId3" imgW="11268075" imgH="7696200" progId="Excel.Sheet.12">
                  <p:embed/>
                </p:oleObj>
              </mc:Choice>
              <mc:Fallback>
                <p:oleObj name="Feuille de calcul" r:id="rId3" imgW="11268075" imgH="7696200" progId="Excel.Sheet.12">
                  <p:embed/>
                  <p:pic>
                    <p:nvPicPr>
                      <p:cNvPr id="7" name="Obje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1668545"/>
                        <a:ext cx="6513922" cy="44490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2892503"/>
              </p:ext>
            </p:extLst>
          </p:nvPr>
        </p:nvGraphicFramePr>
        <p:xfrm>
          <a:off x="6337282" y="1668544"/>
          <a:ext cx="5854718" cy="44593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3" name="Feuille de calcul" r:id="rId5" imgW="11268075" imgH="8582025" progId="Excel.Sheet.12">
                  <p:embed/>
                </p:oleObj>
              </mc:Choice>
              <mc:Fallback>
                <p:oleObj name="Feuille de calcul" r:id="rId5" imgW="11268075" imgH="8582025" progId="Excel.Sheet.12">
                  <p:embed/>
                  <p:pic>
                    <p:nvPicPr>
                      <p:cNvPr id="11" name="Objet 1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37282" y="1668544"/>
                        <a:ext cx="5854718" cy="44593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84361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23" y="1305100"/>
            <a:ext cx="10534439" cy="5164358"/>
          </a:xfrm>
          <a:prstGeom prst="rect">
            <a:avLst/>
          </a:prstGeom>
        </p:spPr>
      </p:pic>
      <p:sp>
        <p:nvSpPr>
          <p:cNvPr id="7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0" y="278451"/>
            <a:ext cx="8828116" cy="727388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CONSORTIUM DE 29 PARTENAIRES DONT 25 CHU (EDSH)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6170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0" y="311702"/>
            <a:ext cx="8828116" cy="727388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ORCHIDEE – OBJECTIFS DU</a:t>
            </a:r>
            <a:r>
              <a:rPr kumimoji="0" lang="fr-FR" sz="1800" b="0" i="0" u="none" strike="noStrike" kern="1200" cap="none" spc="0" normalizeH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RESEAU DE SURVEILLANCE VIA LES EDSH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401216" y="1492898"/>
            <a:ext cx="11560629" cy="4093428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Elaboration d’</a:t>
            </a: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C246A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indicateurs épidémiologiques </a:t>
            </a: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par les hôpitaux </a:t>
            </a: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C246A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à partir des données des EDSH </a:t>
            </a: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pour transmission à </a:t>
            </a:r>
            <a:r>
              <a:rPr kumimoji="0" lang="fr-FR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SpF</a:t>
            </a:r>
            <a:endParaRPr kumimoji="0" lang="fr-FR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Sur des </a:t>
            </a: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C246A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thématiques prioritaires d’intérêt 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Infections respiratoires aigues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Infections bactériennes sévères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Antibiorésistance</a:t>
            </a:r>
            <a:endParaRPr kumimoji="0" lang="fr-FR" sz="1600" b="1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Arboviroses et maladies vectorielles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Infections liées aux soins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C246A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Dans une temporalité réactive</a:t>
            </a:r>
            <a:r>
              <a:rPr kumimoji="0" lang="fr-FR" sz="1600" b="0" i="0" u="none" strike="noStrike" kern="1200" cap="none" spc="0" normalizeH="0" noProof="0" dirty="0" smtClean="0">
                <a:ln>
                  <a:noFill/>
                </a:ln>
                <a:solidFill>
                  <a:srgbClr val="DC246A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 et adaptée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C246A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Avec une granularité, d’indicateurs simples et disponibles partout à des indicateurs plus complexes</a:t>
            </a: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 (+ grande diversité de données), plus réactifs ou plus spécifiques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C246A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Robustes et de qualité</a:t>
            </a: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, avec un objectif d’amélioration de la précision et du rappel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 smtClean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2379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lèche : pentagone 10">
            <a:extLst>
              <a:ext uri="{FF2B5EF4-FFF2-40B4-BE49-F238E27FC236}">
                <a16:creationId xmlns:a16="http://schemas.microsoft.com/office/drawing/2014/main" id="{B75554AD-CF96-0BDA-4532-8537C83D9DFA}"/>
              </a:ext>
            </a:extLst>
          </p:cNvPr>
          <p:cNvSpPr/>
          <p:nvPr/>
        </p:nvSpPr>
        <p:spPr>
          <a:xfrm>
            <a:off x="0" y="270138"/>
            <a:ext cx="8362605" cy="726001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itre 4"/>
          <p:cNvSpPr txBox="1">
            <a:spLocks/>
          </p:cNvSpPr>
          <p:nvPr/>
        </p:nvSpPr>
        <p:spPr>
          <a:xfrm>
            <a:off x="58189" y="399630"/>
            <a:ext cx="8495608" cy="432047"/>
          </a:xfrm>
          <a:prstGeom prst="rect">
            <a:avLst/>
          </a:prstGeom>
        </p:spPr>
        <p:txBody>
          <a:bodyPr vert="horz" lIns="36000" tIns="0" rIns="36000" bIns="0" rtlCol="0" anchor="b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sz="2600" b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IMPLEMENTATION DES INDICATEURS ORCHIDEE - METHODOLOGIE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347328" y="2356584"/>
            <a:ext cx="61806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fr-FR" dirty="0">
                <a:solidFill>
                  <a:prstClr val="black"/>
                </a:solidFill>
                <a:cs typeface="Arial" panose="020B0604020202020204" pitchFamily="34" charset="0"/>
              </a:rPr>
              <a:t>Objectif = </a:t>
            </a:r>
            <a:r>
              <a:rPr lang="fr-FR" dirty="0" smtClean="0">
                <a:solidFill>
                  <a:prstClr val="black"/>
                </a:solidFill>
                <a:cs typeface="Arial" panose="020B0604020202020204" pitchFamily="34" charset="0"/>
              </a:rPr>
              <a:t>développer d’ici septembre 2028, un algorithme </a:t>
            </a:r>
            <a:r>
              <a:rPr lang="fr-FR" b="1" dirty="0" smtClean="0">
                <a:solidFill>
                  <a:prstClr val="black"/>
                </a:solidFill>
                <a:cs typeface="Arial" panose="020B0604020202020204" pitchFamily="34" charset="0"/>
              </a:rPr>
              <a:t>pour extraire </a:t>
            </a:r>
            <a:r>
              <a:rPr lang="fr-FR" b="1" dirty="0">
                <a:solidFill>
                  <a:prstClr val="black"/>
                </a:solidFill>
                <a:cs typeface="Arial" panose="020B0604020202020204" pitchFamily="34" charset="0"/>
              </a:rPr>
              <a:t>des indicateurs de suivi à partir des réseaux existants</a:t>
            </a:r>
            <a:r>
              <a:rPr lang="fr-FR" dirty="0">
                <a:solidFill>
                  <a:prstClr val="black"/>
                </a:solidFill>
                <a:cs typeface="Arial" panose="020B0604020202020204" pitchFamily="34" charset="0"/>
              </a:rPr>
              <a:t>, en utilisant les </a:t>
            </a:r>
            <a:r>
              <a:rPr lang="fr-FR" b="1" dirty="0">
                <a:solidFill>
                  <a:prstClr val="black"/>
                </a:solidFill>
                <a:cs typeface="Arial" panose="020B0604020202020204" pitchFamily="34" charset="0"/>
              </a:rPr>
              <a:t>données </a:t>
            </a:r>
            <a:r>
              <a:rPr lang="fr-FR" b="1" dirty="0" smtClean="0">
                <a:solidFill>
                  <a:prstClr val="black"/>
                </a:solidFill>
                <a:cs typeface="Arial" panose="020B0604020202020204" pitchFamily="34" charset="0"/>
              </a:rPr>
              <a:t>des EDSH</a:t>
            </a:r>
            <a:r>
              <a:rPr lang="fr-FR" dirty="0" smtClean="0">
                <a:solidFill>
                  <a:prstClr val="black"/>
                </a:solidFill>
                <a:cs typeface="Arial" panose="020B0604020202020204" pitchFamily="34" charset="0"/>
              </a:rPr>
              <a:t> pour </a:t>
            </a:r>
            <a:r>
              <a:rPr lang="fr-FR" dirty="0">
                <a:solidFill>
                  <a:prstClr val="black"/>
                </a:solidFill>
                <a:cs typeface="Arial" panose="020B0604020202020204" pitchFamily="34" charset="0"/>
              </a:rPr>
              <a:t>mettre en place un </a:t>
            </a:r>
            <a:r>
              <a:rPr lang="fr-FR" b="1" dirty="0">
                <a:solidFill>
                  <a:prstClr val="black"/>
                </a:solidFill>
                <a:cs typeface="Arial" panose="020B0604020202020204" pitchFamily="34" charset="0"/>
              </a:rPr>
              <a:t>suivi </a:t>
            </a:r>
            <a:r>
              <a:rPr lang="fr-FR" b="1" dirty="0" smtClean="0">
                <a:solidFill>
                  <a:prstClr val="black"/>
                </a:solidFill>
                <a:cs typeface="Arial" panose="020B0604020202020204" pitchFamily="34" charset="0"/>
              </a:rPr>
              <a:t>automatisé</a:t>
            </a:r>
            <a:r>
              <a:rPr lang="fr-FR" dirty="0" smtClean="0">
                <a:solidFill>
                  <a:prstClr val="black"/>
                </a:solidFill>
                <a:cs typeface="Arial" panose="020B0604020202020204" pitchFamily="34" charset="0"/>
              </a:rPr>
              <a:t> </a:t>
            </a:r>
            <a:r>
              <a:rPr lang="fr-FR" dirty="0">
                <a:solidFill>
                  <a:prstClr val="black"/>
                </a:solidFill>
                <a:cs typeface="Arial" panose="020B0604020202020204" pitchFamily="34" charset="0"/>
              </a:rPr>
              <a:t>avec une réactivité aiguë et adaptable aux </a:t>
            </a:r>
            <a:r>
              <a:rPr lang="fr-FR" dirty="0" smtClean="0">
                <a:solidFill>
                  <a:prstClr val="black"/>
                </a:solidFill>
                <a:cs typeface="Arial" panose="020B0604020202020204" pitchFamily="34" charset="0"/>
              </a:rPr>
              <a:t>émergences.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DC246A"/>
              </a:solidFill>
              <a:effectLst/>
              <a:uLnTx/>
              <a:uFillTx/>
            </a:endParaRPr>
          </a:p>
        </p:txBody>
      </p:sp>
      <p:graphicFrame>
        <p:nvGraphicFramePr>
          <p:cNvPr id="2" name="Diagramme 1"/>
          <p:cNvGraphicFramePr/>
          <p:nvPr>
            <p:extLst>
              <p:ext uri="{D42A27DB-BD31-4B8C-83A1-F6EECF244321}">
                <p14:modId xmlns:p14="http://schemas.microsoft.com/office/powerpoint/2010/main" val="3725101924"/>
              </p:ext>
            </p:extLst>
          </p:nvPr>
        </p:nvGraphicFramePr>
        <p:xfrm>
          <a:off x="6734753" y="1129085"/>
          <a:ext cx="4198289" cy="558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ZoneTexte 4"/>
          <p:cNvSpPr txBox="1"/>
          <p:nvPr/>
        </p:nvSpPr>
        <p:spPr>
          <a:xfrm>
            <a:off x="8625719" y="15960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ZoneTexte 25"/>
          <p:cNvSpPr txBox="1"/>
          <p:nvPr/>
        </p:nvSpPr>
        <p:spPr>
          <a:xfrm>
            <a:off x="8025275" y="287608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ZoneTexte 36"/>
          <p:cNvSpPr txBox="1"/>
          <p:nvPr/>
        </p:nvSpPr>
        <p:spPr>
          <a:xfrm>
            <a:off x="8533797" y="39719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8034190" y="51977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103" y="3911108"/>
            <a:ext cx="2043696" cy="2800736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68737" y="4062953"/>
            <a:ext cx="1855641" cy="253557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7694" y="3964780"/>
            <a:ext cx="1907057" cy="2600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477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10">
            <a:extLst>
              <a:ext uri="{FF2B5EF4-FFF2-40B4-BE49-F238E27FC236}">
                <a16:creationId xmlns:a16="http://schemas.microsoft.com/office/drawing/2014/main" id="{B75554AD-CF96-0BDA-4532-8537C83D9DFA}"/>
              </a:ext>
            </a:extLst>
          </p:cNvPr>
          <p:cNvSpPr/>
          <p:nvPr/>
        </p:nvSpPr>
        <p:spPr>
          <a:xfrm>
            <a:off x="0" y="211949"/>
            <a:ext cx="9892145" cy="726001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CADRE DE SURVEILLANCE EPIDEMIOLOGIQUE NATIONAL &amp; EUROPEEN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496" y="1366345"/>
            <a:ext cx="3785085" cy="535283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537" y="1395167"/>
            <a:ext cx="3507812" cy="500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802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SpF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0568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SpF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5972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LA PAROLE AU GT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438923" y="1879397"/>
            <a:ext cx="11560629" cy="2862322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noProof="0" dirty="0" smtClean="0">
                <a:solidFill>
                  <a:prstClr val="black"/>
                </a:solidFill>
                <a:cs typeface="Arial" panose="020B0604020202020204" pitchFamily="34" charset="0"/>
              </a:rPr>
              <a:t>Discussion autour de l’EB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lang="fr-FR" sz="1600" noProof="0" dirty="0" smtClean="0">
              <a:solidFill>
                <a:prstClr val="black"/>
              </a:solidFill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1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rPr>
              <a:t>Autres besoins non-couverts</a:t>
            </a:r>
            <a:r>
              <a:rPr kumimoji="0" lang="fr-FR" sz="16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rPr>
              <a:t>, sujets d’intérêt pour les CNR</a:t>
            </a:r>
            <a:r>
              <a:rPr lang="fr-FR" sz="1600" dirty="0" smtClean="0">
                <a:solidFill>
                  <a:prstClr val="black"/>
                </a:solidFill>
                <a:cs typeface="Arial" panose="020B0604020202020204" pitchFamily="34" charset="0"/>
              </a:rPr>
              <a:t>, cliniciens, biologistes, pharmaciens ?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tabLst/>
              <a:defRPr/>
            </a:pPr>
            <a:endParaRPr kumimoji="0" lang="fr-FR" sz="1600" b="0" i="0" u="none" strike="noStrike" kern="1200" cap="none" spc="0" normalizeH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noProof="0" dirty="0" smtClean="0">
                <a:solidFill>
                  <a:prstClr val="black"/>
                </a:solidFill>
                <a:cs typeface="Arial" panose="020B0604020202020204" pitchFamily="34" charset="0"/>
              </a:rPr>
              <a:t>Application des </a:t>
            </a:r>
            <a:r>
              <a:rPr lang="fr-FR" sz="1600" b="1" noProof="0" dirty="0" smtClean="0">
                <a:solidFill>
                  <a:prstClr val="black"/>
                </a:solidFill>
                <a:cs typeface="Arial" panose="020B0604020202020204" pitchFamily="34" charset="0"/>
              </a:rPr>
              <a:t>filtres activité SPARES ou consommation totale </a:t>
            </a:r>
            <a:r>
              <a:rPr lang="fr-FR" sz="1600" noProof="0" dirty="0" smtClean="0">
                <a:solidFill>
                  <a:prstClr val="black"/>
                </a:solidFill>
                <a:cs typeface="Arial" panose="020B0604020202020204" pitchFamily="34" charset="0"/>
              </a:rPr>
              <a:t>des ESH ? </a:t>
            </a:r>
            <a:r>
              <a:rPr lang="fr-FR" sz="1600" b="1" dirty="0" smtClean="0">
                <a:solidFill>
                  <a:prstClr val="black"/>
                </a:solidFill>
                <a:cs typeface="Arial" panose="020B0604020202020204" pitchFamily="34" charset="0"/>
              </a:rPr>
              <a:t>Consommation totale par spécialité</a:t>
            </a:r>
            <a:r>
              <a:rPr lang="fr-FR" sz="1600" dirty="0" smtClean="0">
                <a:solidFill>
                  <a:prstClr val="black"/>
                </a:solidFill>
                <a:cs typeface="Arial" panose="020B0604020202020204" pitchFamily="34" charset="0"/>
              </a:rPr>
              <a:t> ? </a:t>
            </a:r>
            <a:r>
              <a:rPr lang="fr-FR" sz="1600" b="1" dirty="0" smtClean="0">
                <a:solidFill>
                  <a:prstClr val="black"/>
                </a:solidFill>
                <a:cs typeface="Arial" panose="020B0604020202020204" pitchFamily="34" charset="0"/>
              </a:rPr>
              <a:t>Exhaustivité de la liste des spécialités </a:t>
            </a:r>
            <a:r>
              <a:rPr lang="fr-FR" sz="1600" dirty="0" smtClean="0">
                <a:solidFill>
                  <a:prstClr val="black"/>
                </a:solidFill>
                <a:cs typeface="Arial" panose="020B0604020202020204" pitchFamily="34" charset="0"/>
              </a:rPr>
              <a:t>?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lang="fr-FR" sz="1600" dirty="0">
              <a:solidFill>
                <a:prstClr val="black"/>
              </a:solidFill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dirty="0" smtClean="0">
                <a:solidFill>
                  <a:prstClr val="black"/>
                </a:solidFill>
                <a:cs typeface="Arial" panose="020B0604020202020204" pitchFamily="34" charset="0"/>
              </a:rPr>
              <a:t>Possibilité de rendre une </a:t>
            </a:r>
            <a:r>
              <a:rPr lang="fr-FR" sz="1600" b="1" dirty="0" smtClean="0">
                <a:solidFill>
                  <a:prstClr val="black"/>
                </a:solidFill>
                <a:cs typeface="Arial" panose="020B0604020202020204" pitchFamily="34" charset="0"/>
              </a:rPr>
              <a:t>activité à l’échelle de la consommation </a:t>
            </a:r>
            <a:r>
              <a:rPr lang="fr-FR" sz="1600" dirty="0" smtClean="0">
                <a:solidFill>
                  <a:prstClr val="black"/>
                </a:solidFill>
                <a:cs typeface="Arial" panose="020B0604020202020204" pitchFamily="34" charset="0"/>
              </a:rPr>
              <a:t>plutôt que la délivrance au niveau de la PUI par les EDS ?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dirty="0" smtClean="0">
                <a:solidFill>
                  <a:prstClr val="black"/>
                </a:solidFill>
                <a:cs typeface="Arial" panose="020B0604020202020204" pitchFamily="34" charset="0"/>
              </a:rPr>
              <a:t>…</a:t>
            </a:r>
            <a:endParaRPr kumimoji="0" lang="fr-FR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 smtClean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9618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75313" y="1354611"/>
            <a:ext cx="11560629" cy="3447098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r>
              <a:rPr lang="fr-FR" b="1" dirty="0"/>
              <a:t>E</a:t>
            </a:r>
            <a:r>
              <a:rPr lang="fr-FR" b="1" dirty="0" smtClean="0"/>
              <a:t>xtraction </a:t>
            </a:r>
            <a:r>
              <a:rPr lang="fr-FR" b="1" dirty="0" err="1"/>
              <a:t>HeTOP</a:t>
            </a:r>
            <a:r>
              <a:rPr lang="fr-FR" b="1" dirty="0"/>
              <a:t> avec tous les codes ATC des spécialités</a:t>
            </a:r>
            <a:r>
              <a:rPr lang="fr-FR" dirty="0"/>
              <a:t> contenant un ATB pour voie systémique (avec AMM) </a:t>
            </a:r>
            <a:endParaRPr lang="fr-FR" dirty="0" smtClean="0"/>
          </a:p>
          <a:p>
            <a:endParaRPr lang="fr-FR" dirty="0"/>
          </a:p>
          <a:p>
            <a:r>
              <a:rPr lang="fr-FR" dirty="0" smtClean="0"/>
              <a:t>A02BD08</a:t>
            </a:r>
            <a:r>
              <a:rPr lang="fr-FR" dirty="0"/>
              <a:t>    sous-citrate de bismuth, tétracycline et métronidazole</a:t>
            </a:r>
            <a:br>
              <a:rPr lang="fr-FR" dirty="0"/>
            </a:br>
            <a:r>
              <a:rPr lang="fr-FR" dirty="0"/>
              <a:t>A07AA11    </a:t>
            </a:r>
            <a:r>
              <a:rPr lang="fr-FR" dirty="0" err="1"/>
              <a:t>rifaximine</a:t>
            </a:r>
            <a:r>
              <a:rPr lang="fr-FR" dirty="0"/>
              <a:t/>
            </a:r>
            <a:br>
              <a:rPr lang="fr-FR" dirty="0"/>
            </a:br>
            <a:r>
              <a:rPr lang="fr-FR" dirty="0"/>
              <a:t>J01AA05    </a:t>
            </a:r>
            <a:r>
              <a:rPr lang="fr-FR" dirty="0" err="1"/>
              <a:t>métacycline</a:t>
            </a:r>
            <a:r>
              <a:rPr lang="fr-FR" dirty="0"/>
              <a:t/>
            </a:r>
            <a:br>
              <a:rPr lang="fr-FR" dirty="0"/>
            </a:br>
            <a:r>
              <a:rPr lang="fr-FR" dirty="0"/>
              <a:t>J01CE08    </a:t>
            </a:r>
            <a:r>
              <a:rPr lang="fr-FR" dirty="0" err="1"/>
              <a:t>benzathine</a:t>
            </a:r>
            <a:r>
              <a:rPr lang="fr-FR" dirty="0"/>
              <a:t> </a:t>
            </a:r>
            <a:r>
              <a:rPr lang="fr-FR" dirty="0" err="1"/>
              <a:t>benzylpénicilline</a:t>
            </a:r>
            <a:r>
              <a:rPr lang="fr-FR" dirty="0"/>
              <a:t/>
            </a:r>
            <a:br>
              <a:rPr lang="fr-FR" dirty="0"/>
            </a:br>
            <a:r>
              <a:rPr lang="fr-FR" dirty="0"/>
              <a:t>J01CF05    </a:t>
            </a:r>
            <a:r>
              <a:rPr lang="fr-FR" dirty="0" err="1"/>
              <a:t>flucloxacilline</a:t>
            </a:r>
            <a:r>
              <a:rPr lang="fr-FR" dirty="0"/>
              <a:t/>
            </a:r>
            <a:br>
              <a:rPr lang="fr-FR" dirty="0"/>
            </a:br>
            <a:r>
              <a:rPr lang="fr-FR" dirty="0"/>
              <a:t>J01RA04    </a:t>
            </a:r>
            <a:r>
              <a:rPr lang="fr-FR" dirty="0" err="1"/>
              <a:t>spiramycine</a:t>
            </a:r>
            <a:r>
              <a:rPr lang="fr-FR" dirty="0"/>
              <a:t> et métronidazole</a:t>
            </a:r>
            <a:br>
              <a:rPr lang="fr-FR" dirty="0"/>
            </a:br>
            <a:r>
              <a:rPr lang="fr-FR" dirty="0"/>
              <a:t>J04AM02    rifampicine et isoniazide</a:t>
            </a:r>
            <a:br>
              <a:rPr lang="fr-FR" dirty="0"/>
            </a:br>
            <a:r>
              <a:rPr lang="fr-FR" dirty="0"/>
              <a:t>J04AM05    rifampicine, </a:t>
            </a:r>
            <a:r>
              <a:rPr lang="fr-FR" dirty="0" err="1"/>
              <a:t>pyrazinamide</a:t>
            </a:r>
            <a:r>
              <a:rPr lang="fr-FR" dirty="0"/>
              <a:t> et isoniazide</a:t>
            </a:r>
            <a:br>
              <a:rPr lang="fr-FR" dirty="0"/>
            </a:br>
            <a:r>
              <a:rPr lang="fr-FR" dirty="0"/>
              <a:t>J06BC03    </a:t>
            </a:r>
            <a:r>
              <a:rPr lang="fr-FR" dirty="0" err="1"/>
              <a:t>bezlotoxumab</a:t>
            </a: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 smtClean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5288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TRAVAUX PRELIMINAIRES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EDSaN</a:t>
            </a:r>
            <a:r>
              <a:rPr lang="fr-FR" dirty="0">
                <a:solidFill>
                  <a:prstClr val="white"/>
                </a:solidFill>
                <a:latin typeface="Arial"/>
              </a:rPr>
              <a:t> </a:t>
            </a:r>
            <a:r>
              <a:rPr lang="fr-FR" dirty="0" smtClean="0">
                <a:solidFill>
                  <a:prstClr val="white"/>
                </a:solidFill>
                <a:latin typeface="Arial"/>
              </a:rPr>
              <a:t>– REPRODUCTION DES INDICATEURS SPARES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CONTEXTE &amp; OBJECTIFS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322" y="3608317"/>
            <a:ext cx="8541236" cy="2694666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768543" y="2068423"/>
            <a:ext cx="9758984" cy="13585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kern="1200" cap="none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dirty="0" smtClean="0">
                <a:solidFill>
                  <a:schemeClr val="tx1"/>
                </a:solidFill>
              </a:rPr>
              <a:t>Garantir la fiabilité des indicateurs de consommation</a:t>
            </a:r>
          </a:p>
          <a:p>
            <a:pPr marL="342900" indent="-342900" algn="l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dirty="0" smtClean="0">
                <a:solidFill>
                  <a:schemeClr val="tx1"/>
                </a:solidFill>
              </a:rPr>
              <a:t>Préparer le jeu de données annuel </a:t>
            </a:r>
          </a:p>
          <a:p>
            <a:pPr marL="342900" indent="-342900" algn="l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dirty="0" smtClean="0">
                <a:solidFill>
                  <a:schemeClr val="tx1"/>
                </a:solidFill>
              </a:rPr>
              <a:t>Exclure les services hors du champ de l’étude </a:t>
            </a:r>
            <a:endParaRPr lang="fr-FR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8680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TRAVAUX PRELIMINAIRES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EDSaN</a:t>
            </a:r>
            <a:r>
              <a:rPr lang="fr-FR" dirty="0">
                <a:solidFill>
                  <a:prstClr val="white"/>
                </a:solidFill>
                <a:latin typeface="Arial"/>
              </a:rPr>
              <a:t> </a:t>
            </a:r>
            <a:r>
              <a:rPr lang="fr-FR" dirty="0" smtClean="0">
                <a:solidFill>
                  <a:prstClr val="white"/>
                </a:solidFill>
                <a:latin typeface="Arial"/>
              </a:rPr>
              <a:t>– REPRODUCTION DES INDICATEURS SPARES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smtClean="0">
                <a:solidFill>
                  <a:prstClr val="white"/>
                </a:solidFill>
                <a:latin typeface="Arial"/>
              </a:rPr>
              <a:t>SOURCES DE DONNEES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613044" y="2075291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kern="1200" cap="none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Clr>
                <a:srgbClr val="FF0066"/>
              </a:buClr>
              <a:buFont typeface="Wingdings" panose="05000000000000000000" pitchFamily="2" charset="2"/>
              <a:buChar char="v"/>
            </a:pPr>
            <a:endParaRPr lang="fr-FR" dirty="0" smtClean="0">
              <a:solidFill>
                <a:schemeClr val="tx1"/>
              </a:solidFill>
            </a:endParaRPr>
          </a:p>
          <a:p>
            <a:pPr marL="342900" indent="-342900" algn="l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dirty="0" smtClean="0">
                <a:solidFill>
                  <a:schemeClr val="tx1"/>
                </a:solidFill>
              </a:rPr>
              <a:t>Extraction brute réalisée depuis CPAGE PUI (export Excel) permet de suivre les commandes, la dispensation et les mouvements de médicaments</a:t>
            </a:r>
          </a:p>
          <a:p>
            <a:pPr marL="1257300" lvl="2" indent="-342900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dirty="0" smtClean="0">
                <a:solidFill>
                  <a:schemeClr val="tx1"/>
                </a:solidFill>
              </a:rPr>
              <a:t>Fichier « Activités administratives par UF </a:t>
            </a:r>
            <a:r>
              <a:rPr lang="fr-FR" sz="2000" dirty="0" smtClean="0">
                <a:solidFill>
                  <a:schemeClr val="tx1"/>
                </a:solidFill>
              </a:rPr>
              <a:t>» (Fichier Structure) </a:t>
            </a:r>
            <a:r>
              <a:rPr lang="fr-FR" sz="2000" dirty="0" smtClean="0">
                <a:solidFill>
                  <a:schemeClr val="tx1"/>
                </a:solidFill>
              </a:rPr>
              <a:t>– Par année (~206 lignes)</a:t>
            </a:r>
          </a:p>
          <a:p>
            <a:pPr marL="1257300" lvl="2" indent="-342900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dirty="0" smtClean="0">
                <a:solidFill>
                  <a:schemeClr val="tx1"/>
                </a:solidFill>
              </a:rPr>
              <a:t>Fichier « Consommation d'antibiotiques » – Par année (~11 024 lignes)</a:t>
            </a:r>
            <a:endParaRPr lang="fr-FR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43849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TRAVAUX PRELIMINAIRES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EDSaN</a:t>
            </a:r>
            <a:r>
              <a:rPr lang="fr-FR" dirty="0">
                <a:solidFill>
                  <a:prstClr val="white"/>
                </a:solidFill>
                <a:latin typeface="Arial"/>
              </a:rPr>
              <a:t> </a:t>
            </a:r>
            <a:r>
              <a:rPr lang="fr-FR" dirty="0" smtClean="0">
                <a:solidFill>
                  <a:prstClr val="white"/>
                </a:solidFill>
                <a:latin typeface="Arial"/>
              </a:rPr>
              <a:t>– REPRODUCTION DES INDICATEURS SPARES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PROCESSUS D’EXCLUSION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045" y="2732174"/>
            <a:ext cx="8693649" cy="3651821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416169" y="1534601"/>
            <a:ext cx="11184784" cy="12404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kern="1200" cap="none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 smtClean="0"/>
          </a:p>
          <a:p>
            <a:pPr marL="342900" indent="-342900" algn="l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dirty="0" smtClean="0">
                <a:solidFill>
                  <a:schemeClr val="tx1"/>
                </a:solidFill>
              </a:rPr>
              <a:t>Extraction initiale des 2 fichiers (Excel) -&gt; Application de filtres sur UF et libellés</a:t>
            </a:r>
          </a:p>
          <a:p>
            <a:pPr marL="342900" indent="-342900" algn="l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dirty="0" smtClean="0">
                <a:solidFill>
                  <a:schemeClr val="tx1"/>
                </a:solidFill>
              </a:rPr>
              <a:t>Relecture manuelle de tous les intitulés de service -&gt; Validation finale de la liste des services inclus</a:t>
            </a:r>
            <a:endParaRPr lang="fr-FR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17801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TRAVAUX PRELIMINAIRES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EDSaN</a:t>
            </a:r>
            <a:r>
              <a:rPr lang="fr-FR" dirty="0">
                <a:solidFill>
                  <a:prstClr val="white"/>
                </a:solidFill>
                <a:latin typeface="Arial"/>
              </a:rPr>
              <a:t> </a:t>
            </a:r>
            <a:r>
              <a:rPr lang="fr-FR" dirty="0" smtClean="0">
                <a:solidFill>
                  <a:prstClr val="white"/>
                </a:solidFill>
                <a:latin typeface="Arial"/>
              </a:rPr>
              <a:t>– REPRODUCTION DES INDICATEURS SPARES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TRI DES SERVICES &amp; CALCUL DES JOURNEES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829" y="3146578"/>
            <a:ext cx="4194412" cy="3475021"/>
          </a:xfrm>
          <a:prstGeom prst="rect">
            <a:avLst/>
          </a:prstGeom>
        </p:spPr>
      </p:pic>
      <p:sp>
        <p:nvSpPr>
          <p:cNvPr id="4" name="Content Placeholder 2"/>
          <p:cNvSpPr txBox="1">
            <a:spLocks/>
          </p:cNvSpPr>
          <p:nvPr/>
        </p:nvSpPr>
        <p:spPr>
          <a:xfrm>
            <a:off x="676657" y="2011681"/>
            <a:ext cx="10001946" cy="826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kern="1200" cap="none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000" dirty="0" smtClean="0">
                <a:solidFill>
                  <a:schemeClr val="tx1"/>
                </a:solidFill>
              </a:rPr>
              <a:t>Somme des journées d'hospitalisation calculée après tri</a:t>
            </a:r>
          </a:p>
          <a:p>
            <a:pPr algn="l"/>
            <a:r>
              <a:rPr lang="fr-FR" sz="2000" dirty="0" smtClean="0">
                <a:solidFill>
                  <a:schemeClr val="tx1"/>
                </a:solidFill>
              </a:rPr>
              <a:t>Résultat : </a:t>
            </a:r>
            <a:endParaRPr lang="fr-FR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7939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TRAVAUX PRELIMINAIRES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EDSaN</a:t>
            </a:r>
            <a:r>
              <a:rPr lang="fr-FR" dirty="0">
                <a:solidFill>
                  <a:prstClr val="white"/>
                </a:solidFill>
                <a:latin typeface="Arial"/>
              </a:rPr>
              <a:t> </a:t>
            </a:r>
            <a:r>
              <a:rPr lang="fr-FR" dirty="0" smtClean="0">
                <a:solidFill>
                  <a:prstClr val="white"/>
                </a:solidFill>
                <a:latin typeface="Arial"/>
              </a:rPr>
              <a:t>– REPRODUCTION DES INDICATEURS SPARES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SELECTION DES UCD &amp;</a:t>
            </a:r>
            <a:r>
              <a:rPr kumimoji="0" lang="fr-FR" sz="1800" b="0" i="0" u="none" strike="noStrike" kern="1200" cap="none" spc="0" normalizeH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AGREGATION (1)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175" y="1899099"/>
            <a:ext cx="5066775" cy="4468661"/>
          </a:xfrm>
          <a:prstGeom prst="rect">
            <a:avLst/>
          </a:prstGeom>
        </p:spPr>
      </p:pic>
      <p:sp>
        <p:nvSpPr>
          <p:cNvPr id="4" name="Content Placeholder 2"/>
          <p:cNvSpPr txBox="1">
            <a:spLocks/>
          </p:cNvSpPr>
          <p:nvPr/>
        </p:nvSpPr>
        <p:spPr>
          <a:xfrm>
            <a:off x="657224" y="2367261"/>
            <a:ext cx="4664456" cy="40004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kern="1200" cap="none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000" dirty="0" smtClean="0">
                <a:solidFill>
                  <a:schemeClr val="tx1"/>
                </a:solidFill>
              </a:rPr>
              <a:t>Après avoir appliqué le même processus sur le fichier « Consommation d'antibiotiques ». (les UF a exclure ne sont pas strictement les mêmes).</a:t>
            </a:r>
          </a:p>
          <a:p>
            <a:pPr algn="l"/>
            <a:endParaRPr lang="fr-FR" sz="2000" dirty="0" smtClean="0">
              <a:solidFill>
                <a:schemeClr val="tx1"/>
              </a:solidFill>
            </a:endParaRPr>
          </a:p>
          <a:p>
            <a:pPr marL="342900" indent="-342900" algn="l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dirty="0" smtClean="0">
                <a:solidFill>
                  <a:schemeClr val="tx1"/>
                </a:solidFill>
              </a:rPr>
              <a:t>Filtre sur les UCD cibles</a:t>
            </a:r>
          </a:p>
          <a:p>
            <a:pPr marL="342900" indent="-342900" algn="l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000" dirty="0" smtClean="0">
                <a:solidFill>
                  <a:schemeClr val="tx1"/>
                </a:solidFill>
              </a:rPr>
              <a:t>Somme des consommations par UCD</a:t>
            </a:r>
            <a:endParaRPr lang="fr-FR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822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TRAVAUX PRELIMINAIRES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EDSaN</a:t>
            </a:r>
            <a:r>
              <a:rPr lang="fr-FR" dirty="0">
                <a:solidFill>
                  <a:prstClr val="white"/>
                </a:solidFill>
                <a:latin typeface="Arial"/>
              </a:rPr>
              <a:t> </a:t>
            </a:r>
            <a:r>
              <a:rPr lang="fr-FR" dirty="0" smtClean="0">
                <a:solidFill>
                  <a:prstClr val="white"/>
                </a:solidFill>
                <a:latin typeface="Arial"/>
              </a:rPr>
              <a:t>– REPRODUCTION DES INDICATEURS SPARES</a:t>
            </a:r>
          </a:p>
          <a:p>
            <a:pPr>
              <a:defRPr/>
            </a:pPr>
            <a:r>
              <a:rPr lang="fr-FR" dirty="0">
                <a:solidFill>
                  <a:prstClr val="white"/>
                </a:solidFill>
                <a:latin typeface="Arial"/>
              </a:rPr>
              <a:t>SELECTION DES UCD &amp; AGREGATION </a:t>
            </a:r>
            <a:r>
              <a:rPr lang="fr-FR" dirty="0" smtClean="0">
                <a:solidFill>
                  <a:prstClr val="white"/>
                </a:solidFill>
                <a:latin typeface="Arial"/>
              </a:rPr>
              <a:t>(2)</a:t>
            </a:r>
            <a:endParaRPr lang="fr-FR" dirty="0">
              <a:solidFill>
                <a:prstClr val="white"/>
              </a:solidFill>
              <a:latin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Espace réservé du contenu 2"/>
          <p:cNvSpPr txBox="1">
            <a:spLocks/>
          </p:cNvSpPr>
          <p:nvPr/>
        </p:nvSpPr>
        <p:spPr>
          <a:xfrm>
            <a:off x="247009" y="1636885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kern="1200" cap="none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1800" dirty="0" smtClean="0">
                <a:solidFill>
                  <a:schemeClr val="tx1"/>
                </a:solidFill>
              </a:rPr>
              <a:t>Remplissage du tableau DDJ/1 000 JH : sur les 200 UCD à traiter, 164 sont effectivement présentes au CHU ; pour chacune, nous devons additionner les consommations</a:t>
            </a:r>
            <a:endParaRPr lang="fr-FR" dirty="0">
              <a:solidFill>
                <a:schemeClr val="tx1"/>
              </a:solidFill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308" y="2288834"/>
            <a:ext cx="6346986" cy="456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599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TRAVAUX PRELIMINAIRES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EDSaN</a:t>
            </a:r>
            <a:r>
              <a:rPr lang="fr-FR" dirty="0">
                <a:solidFill>
                  <a:prstClr val="white"/>
                </a:solidFill>
                <a:latin typeface="Arial"/>
              </a:rPr>
              <a:t> </a:t>
            </a:r>
            <a:r>
              <a:rPr lang="fr-FR" dirty="0" smtClean="0">
                <a:solidFill>
                  <a:prstClr val="white"/>
                </a:solidFill>
                <a:latin typeface="Arial"/>
              </a:rPr>
              <a:t>– REPRODUCTION DES INDICATEURS SPARES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smtClean="0">
                <a:solidFill>
                  <a:prstClr val="white"/>
                </a:solidFill>
                <a:latin typeface="Arial"/>
              </a:rPr>
              <a:t>PERSPECTIVES : AUTOMATISATION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319016" y="1567045"/>
            <a:ext cx="653103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Solution en cours de déploiement</a:t>
            </a:r>
            <a:r>
              <a:rPr lang="fr-FR" dirty="0"/>
              <a:t/>
            </a:r>
            <a:br>
              <a:rPr lang="fr-FR" dirty="0"/>
            </a:br>
            <a:r>
              <a:rPr lang="fr-FR" dirty="0"/>
              <a:t>Un </a:t>
            </a:r>
            <a:r>
              <a:rPr lang="fr-FR" b="1" dirty="0"/>
              <a:t>script Python</a:t>
            </a:r>
            <a:r>
              <a:rPr lang="fr-FR" dirty="0"/>
              <a:t> ­— </a:t>
            </a:r>
            <a:r>
              <a:rPr lang="fr-FR" b="1" dirty="0"/>
              <a:t>actuellement en phase de test</a:t>
            </a:r>
            <a:r>
              <a:rPr lang="fr-FR" dirty="0"/>
              <a:t> — automatise :</a:t>
            </a:r>
          </a:p>
          <a:p>
            <a:endParaRPr lang="fr-FR" dirty="0" smtClean="0"/>
          </a:p>
          <a:p>
            <a:r>
              <a:rPr lang="fr-FR" dirty="0" smtClean="0"/>
              <a:t>lecture </a:t>
            </a:r>
            <a:r>
              <a:rPr lang="fr-FR" dirty="0"/>
              <a:t>et normalisation des fichiers CPAGE ;</a:t>
            </a:r>
          </a:p>
          <a:p>
            <a:r>
              <a:rPr lang="fr-FR" dirty="0" smtClean="0"/>
              <a:t>exclusion </a:t>
            </a:r>
            <a:r>
              <a:rPr lang="fr-FR" dirty="0"/>
              <a:t>des UF non pertinentes ;</a:t>
            </a:r>
          </a:p>
          <a:p>
            <a:r>
              <a:rPr lang="fr-FR" dirty="0" smtClean="0"/>
              <a:t>agrégation </a:t>
            </a:r>
            <a:r>
              <a:rPr lang="fr-FR" dirty="0"/>
              <a:t>des consommations par </a:t>
            </a:r>
            <a:r>
              <a:rPr lang="fr-FR" dirty="0" smtClean="0"/>
              <a:t>antibiotique.</a:t>
            </a:r>
          </a:p>
          <a:p>
            <a:endParaRPr lang="fr-FR" dirty="0"/>
          </a:p>
          <a:p>
            <a:endParaRPr lang="fr-FR" b="1" dirty="0" smtClean="0"/>
          </a:p>
          <a:p>
            <a:r>
              <a:rPr lang="fr-FR" b="1" dirty="0" smtClean="0"/>
              <a:t>Premiers </a:t>
            </a:r>
            <a:r>
              <a:rPr lang="fr-FR" b="1" dirty="0"/>
              <a:t>résultats (tests internes)</a:t>
            </a:r>
            <a:endParaRPr lang="fr-FR" dirty="0"/>
          </a:p>
          <a:p>
            <a:endParaRPr lang="fr-FR" b="1" dirty="0" smtClean="0"/>
          </a:p>
          <a:p>
            <a:r>
              <a:rPr lang="fr-FR" b="1" dirty="0" smtClean="0"/>
              <a:t>Durée </a:t>
            </a:r>
            <a:r>
              <a:rPr lang="fr-FR" b="1" dirty="0"/>
              <a:t>d’exécution : 20 h → </a:t>
            </a:r>
            <a:r>
              <a:rPr lang="fr-FR" b="1" dirty="0" smtClean="0"/>
              <a:t>2 </a:t>
            </a:r>
            <a:r>
              <a:rPr lang="fr-FR" b="1" dirty="0"/>
              <a:t>min</a:t>
            </a:r>
            <a:r>
              <a:rPr lang="fr-FR" dirty="0"/>
              <a:t> (facteur × </a:t>
            </a:r>
            <a:r>
              <a:rPr lang="fr-FR" dirty="0" smtClean="0"/>
              <a:t>600</a:t>
            </a:r>
            <a:r>
              <a:rPr lang="fr-FR" dirty="0"/>
              <a:t>).</a:t>
            </a:r>
          </a:p>
          <a:p>
            <a:r>
              <a:rPr lang="fr-FR" dirty="0"/>
              <a:t>Élimination des erreurs de </a:t>
            </a:r>
            <a:r>
              <a:rPr lang="fr-FR" dirty="0" smtClean="0"/>
              <a:t>manipulation.</a:t>
            </a:r>
            <a:endParaRPr lang="fr-FR" dirty="0"/>
          </a:p>
          <a:p>
            <a:r>
              <a:rPr lang="fr-FR" dirty="0"/>
              <a:t>Processus entièrement traçable et </a:t>
            </a:r>
            <a:r>
              <a:rPr lang="fr-FR" dirty="0" err="1"/>
              <a:t>rejouable</a:t>
            </a:r>
            <a:r>
              <a:rPr lang="fr-FR" dirty="0"/>
              <a:t>.</a:t>
            </a:r>
          </a:p>
          <a:p>
            <a:endParaRPr lang="fr-FR" b="1" dirty="0" smtClean="0"/>
          </a:p>
          <a:p>
            <a:r>
              <a:rPr lang="fr-FR" b="1" dirty="0" smtClean="0"/>
              <a:t>Prochaines </a:t>
            </a:r>
            <a:r>
              <a:rPr lang="fr-FR" b="1" dirty="0"/>
              <a:t>étapes</a:t>
            </a:r>
            <a:endParaRPr lang="fr-FR" dirty="0"/>
          </a:p>
          <a:p>
            <a:r>
              <a:rPr lang="fr-FR" dirty="0"/>
              <a:t>Finalisation des tests </a:t>
            </a:r>
            <a:r>
              <a:rPr lang="fr-FR" dirty="0" smtClean="0"/>
              <a:t>et </a:t>
            </a:r>
            <a:r>
              <a:rPr lang="fr-FR" dirty="0"/>
              <a:t>validation </a:t>
            </a:r>
            <a:r>
              <a:rPr lang="fr-FR" dirty="0" smtClean="0"/>
              <a:t>fonctionnelle</a:t>
            </a:r>
          </a:p>
          <a:p>
            <a:r>
              <a:rPr lang="fr-FR" dirty="0" smtClean="0"/>
              <a:t>Génération </a:t>
            </a:r>
            <a:r>
              <a:rPr lang="fr-FR" dirty="0"/>
              <a:t>immédiate des rapports annuels.</a:t>
            </a:r>
          </a:p>
          <a:p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129" y="1354405"/>
            <a:ext cx="5024141" cy="5503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727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PERSPECTIVES METHODOLOGIQUES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429370" y="2520562"/>
            <a:ext cx="106388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M</a:t>
            </a:r>
            <a:r>
              <a:rPr lang="fr-FR" b="1" dirty="0" err="1" smtClean="0"/>
              <a:t>éthodo</a:t>
            </a:r>
            <a:r>
              <a:rPr lang="fr-FR" b="1" dirty="0" smtClean="0"/>
              <a:t> </a:t>
            </a:r>
            <a:r>
              <a:rPr lang="fr-FR" b="1" dirty="0"/>
              <a:t>comparative de la conso ATB calculée sur les </a:t>
            </a:r>
            <a:r>
              <a:rPr lang="fr-FR" b="1" dirty="0">
                <a:solidFill>
                  <a:srgbClr val="FF0066"/>
                </a:solidFill>
              </a:rPr>
              <a:t>données de délivrance </a:t>
            </a:r>
            <a:r>
              <a:rPr lang="fr-FR" b="1" dirty="0"/>
              <a:t>par la mission SPARES </a:t>
            </a:r>
            <a:endParaRPr lang="fr-FR" b="1" dirty="0" smtClean="0"/>
          </a:p>
          <a:p>
            <a:r>
              <a:rPr lang="fr-FR" b="1" dirty="0" smtClean="0"/>
              <a:t>(</a:t>
            </a:r>
            <a:r>
              <a:rPr lang="fr-FR" b="1" dirty="0"/>
              <a:t>pilotée par </a:t>
            </a:r>
            <a:r>
              <a:rPr lang="fr-FR" b="1" dirty="0" err="1"/>
              <a:t>SpF</a:t>
            </a:r>
            <a:r>
              <a:rPr lang="fr-FR" b="1" dirty="0"/>
              <a:t> et les </a:t>
            </a:r>
            <a:r>
              <a:rPr lang="fr-FR" b="1" dirty="0" err="1"/>
              <a:t>CRAtb</a:t>
            </a:r>
            <a:r>
              <a:rPr lang="fr-FR" b="1" dirty="0"/>
              <a:t>) </a:t>
            </a:r>
            <a:endParaRPr lang="fr-FR" b="1" dirty="0" smtClean="0"/>
          </a:p>
          <a:p>
            <a:endParaRPr lang="fr-FR" b="1" dirty="0"/>
          </a:p>
          <a:p>
            <a:pPr algn="ctr"/>
            <a:r>
              <a:rPr lang="fr-FR" b="1" dirty="0" smtClean="0"/>
              <a:t>vs </a:t>
            </a:r>
          </a:p>
          <a:p>
            <a:endParaRPr lang="fr-FR" b="1" dirty="0"/>
          </a:p>
          <a:p>
            <a:r>
              <a:rPr lang="fr-FR" b="1" dirty="0" err="1" smtClean="0"/>
              <a:t>Méthodo</a:t>
            </a:r>
            <a:r>
              <a:rPr lang="fr-FR" b="1" dirty="0" smtClean="0"/>
              <a:t> </a:t>
            </a:r>
            <a:r>
              <a:rPr lang="fr-FR" b="1" dirty="0"/>
              <a:t>VADER (</a:t>
            </a:r>
            <a:r>
              <a:rPr lang="fr-FR" b="1" i="1" dirty="0"/>
              <a:t>Vigilance sur les Antibiotiques, Données d’Exposition et Résistance</a:t>
            </a:r>
            <a:r>
              <a:rPr lang="fr-FR" b="1" dirty="0" smtClean="0"/>
              <a:t>)</a:t>
            </a:r>
          </a:p>
          <a:p>
            <a:r>
              <a:rPr lang="fr-FR" b="1" dirty="0"/>
              <a:t>conso ATB calculée sur les </a:t>
            </a:r>
            <a:r>
              <a:rPr lang="fr-FR" b="1" dirty="0">
                <a:solidFill>
                  <a:srgbClr val="FF0066"/>
                </a:solidFill>
              </a:rPr>
              <a:t>données d’administration</a:t>
            </a:r>
            <a:r>
              <a:rPr lang="fr-FR" b="1" dirty="0"/>
              <a:t> à partir d’un </a:t>
            </a:r>
            <a:r>
              <a:rPr lang="fr-FR" b="1" dirty="0" smtClean="0"/>
              <a:t>EDS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937406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PROCHAINES ETAPES ET PERSPECTIVES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438923" y="1879397"/>
            <a:ext cx="11560629" cy="2616101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noProof="0" dirty="0" smtClean="0">
                <a:cs typeface="Arial" panose="020B0604020202020204" pitchFamily="34" charset="0"/>
              </a:rPr>
              <a:t>Implication des membres du GT sur consommation, résistance ou les 2 : envoi d’un sondage pour positionnement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lang="fr-FR" sz="1600" noProof="0" dirty="0" smtClean="0"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Rythme</a:t>
            </a:r>
            <a:r>
              <a:rPr kumimoji="0" lang="fr-FR" sz="1600" b="0" i="0" u="none" strike="noStrike" kern="1200" cap="none" spc="0" normalizeH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 et programmation du prochain GT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lang="fr-FR" sz="1600" baseline="0" noProof="0" dirty="0"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Rédaction des fiches indicateurs sur 1</a:t>
            </a:r>
            <a:r>
              <a:rPr kumimoji="0" lang="fr-FR" sz="1600" b="0" i="0" u="none" strike="noStrike" kern="1200" cap="none" spc="0" normalizeH="0" baseline="3000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ère</a:t>
            </a:r>
            <a:r>
              <a:rPr kumimoji="0" lang="fr-FR" sz="1600" b="0" i="0" u="none" strike="noStrike" kern="1200" cap="none" spc="0" normalizeH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 série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lang="fr-FR" sz="1600" dirty="0"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dirty="0" smtClean="0">
                <a:cs typeface="Arial" panose="020B0604020202020204" pitchFamily="34" charset="0"/>
              </a:rPr>
              <a:t>Réflexion sur l’évaluation métrologique des indicateurs</a:t>
            </a:r>
            <a:endParaRPr kumimoji="0" lang="fr-FR" sz="1600" b="0" i="0" u="none" strike="noStrike" kern="1200" cap="none" spc="0" normalizeH="0" dirty="0" smtClean="0">
              <a:ln>
                <a:noFill/>
              </a:ln>
              <a:effectLst/>
              <a:uLnTx/>
              <a:uFillTx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lang="fr-FR" sz="1600" dirty="0"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dirty="0">
                <a:cs typeface="Arial" panose="020B0604020202020204" pitchFamily="34" charset="0"/>
              </a:rPr>
              <a:t>L</a:t>
            </a:r>
            <a:r>
              <a:rPr kumimoji="0" lang="fr-FR" sz="1600" b="0" i="0" u="none" strike="noStrike" kern="1200" cap="none" spc="0" normalizeH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ien avec le WP3 pour capacités EDS et tests autres EDS</a:t>
            </a:r>
            <a:endParaRPr kumimoji="0" lang="fr-FR" sz="16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 smtClean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90098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6156" y="3315877"/>
            <a:ext cx="9696812" cy="1296145"/>
          </a:xfrm>
        </p:spPr>
        <p:txBody>
          <a:bodyPr>
            <a:noAutofit/>
          </a:bodyPr>
          <a:lstStyle/>
          <a:p>
            <a:pPr algn="ctr"/>
            <a:r>
              <a:rPr lang="fr-FR" sz="4800" dirty="0" smtClean="0">
                <a:solidFill>
                  <a:schemeClr val="accent5">
                    <a:lumMod val="75000"/>
                  </a:schemeClr>
                </a:solidFill>
              </a:rPr>
              <a:t>INDICATEURS résistance bactérienne aux antibiotiques</a:t>
            </a:r>
            <a:endParaRPr lang="fr-FR" sz="48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88604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SpF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90909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SpF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83413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LA PAROLE AU GT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438923" y="1879397"/>
            <a:ext cx="11560629" cy="2369880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noProof="0" dirty="0" smtClean="0">
                <a:solidFill>
                  <a:prstClr val="black"/>
                </a:solidFill>
                <a:cs typeface="Arial" panose="020B0604020202020204" pitchFamily="34" charset="0"/>
              </a:rPr>
              <a:t>Discussion autour de l’EB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lang="fr-FR" sz="1600" noProof="0" dirty="0" smtClean="0">
              <a:solidFill>
                <a:prstClr val="black"/>
              </a:solidFill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1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rPr>
              <a:t>Autres besoins non-couverts</a:t>
            </a:r>
            <a:r>
              <a:rPr kumimoji="0" lang="fr-FR" sz="16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rPr>
              <a:t>, sujets d’intérêt pour les CNR</a:t>
            </a:r>
            <a:r>
              <a:rPr lang="fr-FR" sz="1600" dirty="0" smtClean="0">
                <a:solidFill>
                  <a:prstClr val="black"/>
                </a:solidFill>
                <a:cs typeface="Arial" panose="020B0604020202020204" pitchFamily="34" charset="0"/>
              </a:rPr>
              <a:t>, cliniciens, biologistes ?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rPr>
              <a:t>Contraintes</a:t>
            </a:r>
            <a:r>
              <a:rPr kumimoji="0" lang="fr-FR" sz="16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rPr>
              <a:t> liées à la disponibilité/structuration de la données ? </a:t>
            </a:r>
            <a:r>
              <a:rPr lang="fr-FR" sz="1600" dirty="0">
                <a:solidFill>
                  <a:schemeClr val="tx1">
                    <a:lumMod val="50000"/>
                  </a:schemeClr>
                </a:solidFill>
              </a:rPr>
              <a:t>Des </a:t>
            </a:r>
            <a:r>
              <a:rPr lang="fr-FR" sz="1600" b="1" dirty="0">
                <a:solidFill>
                  <a:schemeClr val="tx1">
                    <a:lumMod val="50000"/>
                  </a:schemeClr>
                </a:solidFill>
              </a:rPr>
              <a:t>pratiques hétérogènes</a:t>
            </a:r>
            <a:r>
              <a:rPr lang="fr-FR" sz="1600" dirty="0">
                <a:solidFill>
                  <a:schemeClr val="tx1">
                    <a:lumMod val="50000"/>
                  </a:schemeClr>
                </a:solidFill>
              </a:rPr>
              <a:t> existent quant aux outils et à l'expression des résultats à étudier dans chaque hôpital. Il est important de </a:t>
            </a:r>
            <a:r>
              <a:rPr lang="fr-FR" sz="1600" b="1" dirty="0">
                <a:solidFill>
                  <a:schemeClr val="tx1">
                    <a:lumMod val="50000"/>
                  </a:schemeClr>
                </a:solidFill>
              </a:rPr>
              <a:t>qualifier la technique, l'automate, le </a:t>
            </a:r>
            <a:r>
              <a:rPr lang="fr-FR" sz="1600" b="1" dirty="0" smtClean="0">
                <a:solidFill>
                  <a:schemeClr val="tx1">
                    <a:lumMod val="50000"/>
                  </a:schemeClr>
                </a:solidFill>
              </a:rPr>
              <a:t>référentiel</a:t>
            </a:r>
            <a:r>
              <a:rPr lang="fr-FR" sz="1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fr-FR" sz="1600" dirty="0" smtClean="0">
                <a:solidFill>
                  <a:schemeClr val="tx1">
                    <a:lumMod val="50000"/>
                  </a:schemeClr>
                </a:solidFill>
              </a:rPr>
              <a:t>(CA-SFM)... </a:t>
            </a:r>
            <a:r>
              <a:rPr lang="fr-FR" sz="1600" dirty="0">
                <a:solidFill>
                  <a:schemeClr val="tx1">
                    <a:lumMod val="50000"/>
                  </a:schemeClr>
                </a:solidFill>
              </a:rPr>
              <a:t>	</a:t>
            </a:r>
          </a:p>
          <a:p>
            <a:pPr lvl="0"/>
            <a:r>
              <a:rPr lang="fr-FR" sz="1600" dirty="0" smtClean="0">
                <a:solidFill>
                  <a:schemeClr val="tx1">
                    <a:lumMod val="50000"/>
                  </a:schemeClr>
                </a:solidFill>
              </a:rPr>
              <a:t>      </a:t>
            </a:r>
            <a:endParaRPr kumimoji="0" lang="fr-FR" sz="1600" b="0" i="0" u="none" strike="noStrike" kern="1200" cap="none" spc="0" normalizeH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noProof="0" dirty="0" smtClean="0">
                <a:solidFill>
                  <a:prstClr val="black"/>
                </a:solidFill>
                <a:cs typeface="Arial" panose="020B0604020202020204" pitchFamily="34" charset="0"/>
              </a:rPr>
              <a:t>…</a:t>
            </a:r>
            <a:endParaRPr kumimoji="0" lang="fr-FR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 smtClean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88017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TRAVAUX PRELIMINAIRES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EDSaN</a:t>
            </a:r>
            <a:r>
              <a:rPr lang="fr-FR" dirty="0">
                <a:solidFill>
                  <a:prstClr val="white"/>
                </a:solidFill>
                <a:latin typeface="Arial"/>
              </a:rPr>
              <a:t> </a:t>
            </a:r>
            <a:r>
              <a:rPr lang="fr-FR" dirty="0" smtClean="0">
                <a:solidFill>
                  <a:prstClr val="white"/>
                </a:solidFill>
                <a:latin typeface="Arial"/>
              </a:rPr>
              <a:t>– INTEGRATION DES RESULTATS DE BACTERIOLOGIE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333956" y="2067339"/>
            <a:ext cx="1106821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Chaque entrée dans l’EDS correspond à un prélèvement (ID Patient ID séjour, date, nature, site…)</a:t>
            </a:r>
          </a:p>
          <a:p>
            <a:endParaRPr lang="fr-FR" dirty="0"/>
          </a:p>
          <a:p>
            <a:r>
              <a:rPr lang="fr-FR" dirty="0" smtClean="0"/>
              <a:t>Pour chaque germe identifié, réalisation d’un antibiogramme sous cette forme :</a:t>
            </a:r>
          </a:p>
          <a:p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Souche bactérienne - Antibiotique – CMI – </a:t>
            </a:r>
            <a:r>
              <a:rPr lang="fr-F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Antibiotype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(Sensible), SFP (sensible à forte posologie) ou </a:t>
            </a: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R (Résistant) 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ou ZIT (Zone d’Incertitude Technique) - Phénotype de résistance</a:t>
            </a:r>
            <a:r>
              <a:rPr lang="fr-FR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(BLSE et </a:t>
            </a:r>
            <a:r>
              <a:rPr lang="fr-F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carbapénèmase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u="sng" dirty="0" smtClean="0">
                <a:cs typeface="Courier New" panose="02070309020205020404" pitchFamily="49" charset="0"/>
              </a:rPr>
              <a:t>Exemple :</a:t>
            </a:r>
          </a:p>
          <a:p>
            <a:r>
              <a:rPr lang="fr-FR" dirty="0" smtClean="0">
                <a:cs typeface="Courier New" panose="02070309020205020404" pitchFamily="49" charset="0"/>
              </a:rPr>
              <a:t>Staphylococcus </a:t>
            </a:r>
            <a:r>
              <a:rPr lang="fr-FR" dirty="0" err="1" smtClean="0">
                <a:cs typeface="Courier New" panose="02070309020205020404" pitchFamily="49" charset="0"/>
              </a:rPr>
              <a:t>epidermidis</a:t>
            </a:r>
            <a:r>
              <a:rPr lang="fr-FR" dirty="0" smtClean="0">
                <a:cs typeface="Courier New" panose="02070309020205020404" pitchFamily="49" charset="0"/>
              </a:rPr>
              <a:t> - Oxacilline  - S – </a:t>
            </a:r>
          </a:p>
        </p:txBody>
      </p:sp>
    </p:spTree>
    <p:extLst>
      <p:ext uri="{BB962C8B-B14F-4D97-AF65-F5344CB8AC3E}">
        <p14:creationId xmlns:p14="http://schemas.microsoft.com/office/powerpoint/2010/main" val="39774220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PROCHAINES ETAPES ET PERSPECTIVES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325802" y="1954812"/>
            <a:ext cx="11560629" cy="2616101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noProof="0" dirty="0" smtClean="0">
                <a:cs typeface="Arial" panose="020B0604020202020204" pitchFamily="34" charset="0"/>
              </a:rPr>
              <a:t>Implication des membres du GT sur consommation, résistance ou les 2 : envoi d’un sondage pour positionnement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lang="fr-FR" sz="1600" noProof="0" dirty="0" smtClean="0"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Rythme</a:t>
            </a:r>
            <a:r>
              <a:rPr kumimoji="0" lang="fr-FR" sz="1600" b="0" i="0" u="none" strike="noStrike" kern="1200" cap="none" spc="0" normalizeH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 et programmation du prochain GT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lang="fr-FR" sz="1600" baseline="0" noProof="0" dirty="0"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Rédaction des fiches indicateurs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lang="fr-FR" sz="1600" dirty="0"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dirty="0" smtClean="0">
                <a:cs typeface="Arial" panose="020B0604020202020204" pitchFamily="34" charset="0"/>
              </a:rPr>
              <a:t>Réflexion sur l’évaluation métrologique des indicateurs</a:t>
            </a:r>
            <a:endParaRPr kumimoji="0" lang="fr-FR" sz="1600" b="0" i="0" u="none" strike="noStrike" kern="1200" cap="none" spc="0" normalizeH="0" dirty="0" smtClean="0">
              <a:ln>
                <a:noFill/>
              </a:ln>
              <a:effectLst/>
              <a:uLnTx/>
              <a:uFillTx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lang="fr-FR" sz="1600" dirty="0"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dirty="0">
                <a:cs typeface="Arial" panose="020B0604020202020204" pitchFamily="34" charset="0"/>
              </a:rPr>
              <a:t>L</a:t>
            </a:r>
            <a:r>
              <a:rPr kumimoji="0" lang="fr-FR" sz="1600" b="0" i="0" u="none" strike="noStrike" kern="1200" cap="none" spc="0" normalizeH="0" dirty="0" smtClean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ien avec le WP3 pour capacités EDS et tests autres EDS</a:t>
            </a:r>
            <a:endParaRPr kumimoji="0" lang="fr-FR" sz="16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 smtClean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5632763"/>
      </p:ext>
    </p:extLst>
  </p:cSld>
  <p:clrMapOvr>
    <a:masterClrMapping/>
  </p:clrMapOvr>
</p:sld>
</file>

<file path=ppt/theme/theme1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SPF_PPT_Test-v3">
  <a:themeElements>
    <a:clrScheme name="SPF PPT_Couleurs">
      <a:dk1>
        <a:srgbClr val="4D4D4F"/>
      </a:dk1>
      <a:lt1>
        <a:sysClr val="window" lastClr="FFFFFF"/>
      </a:lt1>
      <a:dk2>
        <a:srgbClr val="E30056"/>
      </a:dk2>
      <a:lt2>
        <a:srgbClr val="EEECE1"/>
      </a:lt2>
      <a:accent1>
        <a:srgbClr val="E30056"/>
      </a:accent1>
      <a:accent2>
        <a:srgbClr val="3C2782"/>
      </a:accent2>
      <a:accent3>
        <a:srgbClr val="00A5D5"/>
      </a:accent3>
      <a:accent4>
        <a:srgbClr val="004192"/>
      </a:accent4>
      <a:accent5>
        <a:srgbClr val="8D003A"/>
      </a:accent5>
      <a:accent6>
        <a:srgbClr val="4D4D4F"/>
      </a:accent6>
      <a:hlink>
        <a:srgbClr val="E30056"/>
      </a:hlink>
      <a:folHlink>
        <a:srgbClr val="E30056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lIns="36000" tIns="0" rIns="36000" bIns="0" rtlCol="0">
        <a:spAutoFit/>
      </a:bodyPr>
      <a:lstStyle>
        <a:defPPr>
          <a:defRPr sz="1300" smtClean="0">
            <a:solidFill>
              <a:schemeClr val="accent6"/>
            </a:solidFill>
          </a:defRPr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1455</TotalTime>
  <Words>1187</Words>
  <Application>Microsoft Office PowerPoint</Application>
  <PresentationFormat>Grand écran</PresentationFormat>
  <Paragraphs>156</Paragraphs>
  <Slides>27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2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6" baseType="lpstr">
      <vt:lpstr>Arial</vt:lpstr>
      <vt:lpstr>Calibri</vt:lpstr>
      <vt:lpstr>Calibri Light</vt:lpstr>
      <vt:lpstr>Courier New</vt:lpstr>
      <vt:lpstr>Symbol</vt:lpstr>
      <vt:lpstr>Wingdings</vt:lpstr>
      <vt:lpstr>1_Thème Office</vt:lpstr>
      <vt:lpstr>1_SPF_PPT_Test-v3</vt:lpstr>
      <vt:lpstr>Feuille de calcul</vt:lpstr>
      <vt:lpstr>Présentation PowerPoint</vt:lpstr>
      <vt:lpstr>Présentation PowerPoint</vt:lpstr>
      <vt:lpstr>INDICATEURS CONSOMMATION ANTIBIOTIQUES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INDICATEURS résistance bactérienne aux antibiotiques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CHU de Rouen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CATHERINE, Solenn</dc:creator>
  <cp:lastModifiedBy>DIAGOURAGA Djibril</cp:lastModifiedBy>
  <cp:revision>88</cp:revision>
  <dcterms:created xsi:type="dcterms:W3CDTF">2025-05-27T08:33:37Z</dcterms:created>
  <dcterms:modified xsi:type="dcterms:W3CDTF">2025-06-16T08:00:51Z</dcterms:modified>
</cp:coreProperties>
</file>